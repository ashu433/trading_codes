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3"/>
  </p:notesMasterIdLst>
  <p:sldIdLst>
    <p:sldId id="256" r:id="rId2"/>
    <p:sldId id="297" r:id="rId3"/>
    <p:sldId id="298" r:id="rId4"/>
    <p:sldId id="299" r:id="rId5"/>
    <p:sldId id="300" r:id="rId6"/>
    <p:sldId id="257" r:id="rId7"/>
    <p:sldId id="258" r:id="rId8"/>
    <p:sldId id="259" r:id="rId9"/>
    <p:sldId id="301" r:id="rId10"/>
    <p:sldId id="261" r:id="rId11"/>
    <p:sldId id="295" r:id="rId12"/>
    <p:sldId id="262" r:id="rId13"/>
    <p:sldId id="263" r:id="rId14"/>
    <p:sldId id="269" r:id="rId15"/>
    <p:sldId id="270" r:id="rId16"/>
    <p:sldId id="264" r:id="rId17"/>
    <p:sldId id="271" r:id="rId18"/>
    <p:sldId id="272" r:id="rId19"/>
    <p:sldId id="265" r:id="rId20"/>
    <p:sldId id="273" r:id="rId21"/>
    <p:sldId id="274" r:id="rId22"/>
    <p:sldId id="296" r:id="rId23"/>
    <p:sldId id="266"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1" r:id="rId40"/>
    <p:sldId id="290" r:id="rId41"/>
    <p:sldId id="292"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5360" autoAdjust="0"/>
  </p:normalViewPr>
  <p:slideViewPr>
    <p:cSldViewPr snapToGrid="0">
      <p:cViewPr varScale="1">
        <p:scale>
          <a:sx n="97" d="100"/>
          <a:sy n="97" d="100"/>
        </p:scale>
        <p:origin x="10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3FD56E-56DF-48FB-8DCA-B278570B0ABD}" type="datetimeFigureOut">
              <a:rPr lang="en-IN" smtClean="0"/>
              <a:t>06-07-2023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E6D869-3F49-45EE-8D03-CCCEA462AE8D}" type="slidenum">
              <a:rPr lang="en-IN" smtClean="0"/>
              <a:t>‹#›</a:t>
            </a:fld>
            <a:endParaRPr lang="en-IN"/>
          </a:p>
        </p:txBody>
      </p:sp>
    </p:spTree>
    <p:extLst>
      <p:ext uri="{BB962C8B-B14F-4D97-AF65-F5344CB8AC3E}">
        <p14:creationId xmlns:p14="http://schemas.microsoft.com/office/powerpoint/2010/main" val="16087982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45 mins: </a:t>
            </a:r>
          </a:p>
          <a:p>
            <a:r>
              <a:rPr lang="en-US" dirty="0"/>
              <a:t>18300: Shot covering</a:t>
            </a:r>
          </a:p>
          <a:p>
            <a:r>
              <a:rPr lang="en-US" dirty="0"/>
              <a:t>18400: Shot Covering</a:t>
            </a:r>
          </a:p>
          <a:p>
            <a:r>
              <a:rPr lang="en-US" dirty="0"/>
              <a:t>18500:Long Covering</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7</a:t>
            </a:fld>
            <a:endParaRPr lang="en-IN"/>
          </a:p>
        </p:txBody>
      </p:sp>
    </p:spTree>
    <p:extLst>
      <p:ext uri="{BB962C8B-B14F-4D97-AF65-F5344CB8AC3E}">
        <p14:creationId xmlns:p14="http://schemas.microsoft.com/office/powerpoint/2010/main" val="40877163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45 mins: </a:t>
            </a:r>
          </a:p>
          <a:p>
            <a:r>
              <a:rPr lang="en-US" dirty="0"/>
              <a:t>18000:Long Covering</a:t>
            </a:r>
          </a:p>
          <a:p>
            <a:r>
              <a:rPr lang="en-US" dirty="0"/>
              <a:t>18200:Long Covering</a:t>
            </a:r>
          </a:p>
          <a:p>
            <a:r>
              <a:rPr lang="en-US" dirty="0"/>
              <a:t>18300: Long Covering</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8</a:t>
            </a:fld>
            <a:endParaRPr lang="en-IN"/>
          </a:p>
        </p:txBody>
      </p:sp>
    </p:spTree>
    <p:extLst>
      <p:ext uri="{BB962C8B-B14F-4D97-AF65-F5344CB8AC3E}">
        <p14:creationId xmlns:p14="http://schemas.microsoft.com/office/powerpoint/2010/main" val="3107141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Shot covering on all the strike prices</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20</a:t>
            </a:fld>
            <a:endParaRPr lang="en-IN"/>
          </a:p>
        </p:txBody>
      </p:sp>
    </p:spTree>
    <p:extLst>
      <p:ext uri="{BB962C8B-B14F-4D97-AF65-F5344CB8AC3E}">
        <p14:creationId xmlns:p14="http://schemas.microsoft.com/office/powerpoint/2010/main" val="21670410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covering on all the strike prices</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21</a:t>
            </a:fld>
            <a:endParaRPr lang="en-IN"/>
          </a:p>
        </p:txBody>
      </p:sp>
    </p:spTree>
    <p:extLst>
      <p:ext uri="{BB962C8B-B14F-4D97-AF65-F5344CB8AC3E}">
        <p14:creationId xmlns:p14="http://schemas.microsoft.com/office/powerpoint/2010/main" val="3747282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Shot covering on the 18700 and the 18800 strike price indicating bullish view </a:t>
            </a:r>
          </a:p>
          <a:p>
            <a:pPr marL="171450" indent="-171450">
              <a:buFont typeface="Arial" panose="020B0604020202020204" pitchFamily="34" charset="0"/>
              <a:buChar char="•"/>
            </a:pPr>
            <a:r>
              <a:rPr lang="en-US" dirty="0"/>
              <a:t>Long build up on the 18900 strike price</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39</a:t>
            </a:fld>
            <a:endParaRPr lang="en-IN"/>
          </a:p>
        </p:txBody>
      </p:sp>
    </p:spTree>
    <p:extLst>
      <p:ext uri="{BB962C8B-B14F-4D97-AF65-F5344CB8AC3E}">
        <p14:creationId xmlns:p14="http://schemas.microsoft.com/office/powerpoint/2010/main" val="2220636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Long covering on all the strike price indicating bullish view</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40</a:t>
            </a:fld>
            <a:endParaRPr lang="en-IN"/>
          </a:p>
        </p:txBody>
      </p:sp>
    </p:spTree>
    <p:extLst>
      <p:ext uri="{BB962C8B-B14F-4D97-AF65-F5344CB8AC3E}">
        <p14:creationId xmlns:p14="http://schemas.microsoft.com/office/powerpoint/2010/main" val="32134383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Heavy Bullish Sign on all strike prices</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42</a:t>
            </a:fld>
            <a:endParaRPr lang="en-IN"/>
          </a:p>
        </p:txBody>
      </p:sp>
    </p:spTree>
    <p:extLst>
      <p:ext uri="{BB962C8B-B14F-4D97-AF65-F5344CB8AC3E}">
        <p14:creationId xmlns:p14="http://schemas.microsoft.com/office/powerpoint/2010/main" val="37505688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19100, 19200 Shot covering</a:t>
            </a:r>
          </a:p>
          <a:p>
            <a:pPr marL="171450" indent="-171450">
              <a:buFont typeface="Arial" panose="020B0604020202020204" pitchFamily="34" charset="0"/>
              <a:buChar char="•"/>
            </a:pPr>
            <a:r>
              <a:rPr lang="en-US" dirty="0"/>
              <a:t>19400, 19500 Long Build up</a:t>
            </a:r>
          </a:p>
          <a:p>
            <a:pPr marL="171450" indent="-171450">
              <a:buFont typeface="Arial" panose="020B0604020202020204" pitchFamily="34" charset="0"/>
              <a:buChar char="•"/>
            </a:pPr>
            <a:r>
              <a:rPr lang="en-US" dirty="0"/>
              <a:t>Bullish Sign on all strike price</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43</a:t>
            </a:fld>
            <a:endParaRPr lang="en-IN"/>
          </a:p>
        </p:txBody>
      </p:sp>
    </p:spTree>
    <p:extLst>
      <p:ext uri="{BB962C8B-B14F-4D97-AF65-F5344CB8AC3E}">
        <p14:creationId xmlns:p14="http://schemas.microsoft.com/office/powerpoint/2010/main" val="817309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Long covering on all the strike prices</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44</a:t>
            </a:fld>
            <a:endParaRPr lang="en-IN"/>
          </a:p>
        </p:txBody>
      </p:sp>
    </p:spTree>
    <p:extLst>
      <p:ext uri="{BB962C8B-B14F-4D97-AF65-F5344CB8AC3E}">
        <p14:creationId xmlns:p14="http://schemas.microsoft.com/office/powerpoint/2010/main" val="33645847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FF0000"/>
                </a:solidFill>
              </a:rPr>
              <a:t>Result: Market Opened gap UP next day and rallied up as expected.</a:t>
            </a:r>
            <a:endParaRPr lang="en-IN" b="1" dirty="0">
              <a:solidFill>
                <a:srgbClr val="FF0000"/>
              </a:solidFill>
            </a:endParaRPr>
          </a:p>
        </p:txBody>
      </p:sp>
      <p:sp>
        <p:nvSpPr>
          <p:cNvPr id="4" name="Slide Number Placeholder 3"/>
          <p:cNvSpPr>
            <a:spLocks noGrp="1"/>
          </p:cNvSpPr>
          <p:nvPr>
            <p:ph type="sldNum" sz="quarter" idx="5"/>
          </p:nvPr>
        </p:nvSpPr>
        <p:spPr/>
        <p:txBody>
          <a:bodyPr/>
          <a:lstStyle/>
          <a:p>
            <a:fld id="{15E6D869-3F49-45EE-8D03-CCCEA462AE8D}" type="slidenum">
              <a:rPr lang="en-IN" smtClean="0"/>
              <a:t>45</a:t>
            </a:fld>
            <a:endParaRPr lang="en-IN"/>
          </a:p>
        </p:txBody>
      </p:sp>
    </p:spTree>
    <p:extLst>
      <p:ext uri="{BB962C8B-B14F-4D97-AF65-F5344CB8AC3E}">
        <p14:creationId xmlns:p14="http://schemas.microsoft.com/office/powerpoint/2010/main" val="1961375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Heavy Bullish Sign on all strike prices</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46</a:t>
            </a:fld>
            <a:endParaRPr lang="en-IN"/>
          </a:p>
        </p:txBody>
      </p:sp>
    </p:spTree>
    <p:extLst>
      <p:ext uri="{BB962C8B-B14F-4D97-AF65-F5344CB8AC3E}">
        <p14:creationId xmlns:p14="http://schemas.microsoft.com/office/powerpoint/2010/main" val="3687847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Shot Covering on all the strike prices</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47</a:t>
            </a:fld>
            <a:endParaRPr lang="en-IN"/>
          </a:p>
        </p:txBody>
      </p:sp>
    </p:spTree>
    <p:extLst>
      <p:ext uri="{BB962C8B-B14F-4D97-AF65-F5344CB8AC3E}">
        <p14:creationId xmlns:p14="http://schemas.microsoft.com/office/powerpoint/2010/main" val="11210324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Shot covering on 19000 and 19200 </a:t>
            </a:r>
          </a:p>
          <a:p>
            <a:pPr marL="171450" indent="-171450">
              <a:buFont typeface="Arial" panose="020B0604020202020204" pitchFamily="34" charset="0"/>
              <a:buChar char="•"/>
            </a:pPr>
            <a:r>
              <a:rPr lang="en-US" dirty="0"/>
              <a:t>Long covering on 19300</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48</a:t>
            </a:fld>
            <a:endParaRPr lang="en-IN"/>
          </a:p>
        </p:txBody>
      </p:sp>
    </p:spTree>
    <p:extLst>
      <p:ext uri="{BB962C8B-B14F-4D97-AF65-F5344CB8AC3E}">
        <p14:creationId xmlns:p14="http://schemas.microsoft.com/office/powerpoint/2010/main" val="16637154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FF0000"/>
                </a:solidFill>
              </a:rPr>
              <a:t>Result: Market Opened gap UP next day but rallied down.</a:t>
            </a:r>
            <a:endParaRPr lang="en-IN" b="1" dirty="0">
              <a:solidFill>
                <a:srgbClr val="FF0000"/>
              </a:solidFill>
            </a:endParaRPr>
          </a:p>
        </p:txBody>
      </p:sp>
      <p:sp>
        <p:nvSpPr>
          <p:cNvPr id="4" name="Slide Number Placeholder 3"/>
          <p:cNvSpPr>
            <a:spLocks noGrp="1"/>
          </p:cNvSpPr>
          <p:nvPr>
            <p:ph type="sldNum" sz="quarter" idx="5"/>
          </p:nvPr>
        </p:nvSpPr>
        <p:spPr/>
        <p:txBody>
          <a:bodyPr/>
          <a:lstStyle/>
          <a:p>
            <a:fld id="{15E6D869-3F49-45EE-8D03-CCCEA462AE8D}" type="slidenum">
              <a:rPr lang="en-IN" smtClean="0"/>
              <a:t>49</a:t>
            </a:fld>
            <a:endParaRPr lang="en-IN"/>
          </a:p>
        </p:txBody>
      </p:sp>
    </p:spTree>
    <p:extLst>
      <p:ext uri="{BB962C8B-B14F-4D97-AF65-F5344CB8AC3E}">
        <p14:creationId xmlns:p14="http://schemas.microsoft.com/office/powerpoint/2010/main" val="33426010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On call side the sentiment is bearish and the relevant OI on the call side is high.</a:t>
            </a:r>
          </a:p>
          <a:p>
            <a:pPr marL="171450" indent="-171450">
              <a:buFont typeface="Arial" panose="020B0604020202020204" pitchFamily="34" charset="0"/>
              <a:buChar char="•"/>
            </a:pPr>
            <a:r>
              <a:rPr lang="en-US" dirty="0"/>
              <a:t>On Put side the sentiment is bullish but the relevant OI is small compared to the OI on call side</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50</a:t>
            </a:fld>
            <a:endParaRPr lang="en-IN"/>
          </a:p>
        </p:txBody>
      </p:sp>
    </p:spTree>
    <p:extLst>
      <p:ext uri="{BB962C8B-B14F-4D97-AF65-F5344CB8AC3E}">
        <p14:creationId xmlns:p14="http://schemas.microsoft.com/office/powerpoint/2010/main" val="1170880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Shot build up on 19400, 19500, 19550</a:t>
            </a:r>
          </a:p>
          <a:p>
            <a:pPr marL="171450" indent="-171450">
              <a:buFont typeface="Arial" panose="020B0604020202020204" pitchFamily="34" charset="0"/>
              <a:buChar char="•"/>
            </a:pPr>
            <a:r>
              <a:rPr lang="en-US" dirty="0"/>
              <a:t>Long Covering on 19450</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51</a:t>
            </a:fld>
            <a:endParaRPr lang="en-IN"/>
          </a:p>
        </p:txBody>
      </p:sp>
    </p:spTree>
    <p:extLst>
      <p:ext uri="{BB962C8B-B14F-4D97-AF65-F5344CB8AC3E}">
        <p14:creationId xmlns:p14="http://schemas.microsoft.com/office/powerpoint/2010/main" val="3435896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19100-&gt; Shot Build up</a:t>
            </a:r>
          </a:p>
          <a:p>
            <a:pPr marL="171450" indent="-171450">
              <a:buFont typeface="Arial" panose="020B0604020202020204" pitchFamily="34" charset="0"/>
              <a:buChar char="•"/>
            </a:pPr>
            <a:r>
              <a:rPr lang="en-US" dirty="0"/>
              <a:t>19200-&gt;Long Covering</a:t>
            </a:r>
          </a:p>
          <a:p>
            <a:pPr marL="171450" indent="-171450">
              <a:buFont typeface="Arial" panose="020B0604020202020204" pitchFamily="34" charset="0"/>
              <a:buChar char="•"/>
            </a:pPr>
            <a:r>
              <a:rPr lang="en-US" dirty="0"/>
              <a:t>19300, 19400 -&gt; Shot covering</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52</a:t>
            </a:fld>
            <a:endParaRPr lang="en-IN"/>
          </a:p>
        </p:txBody>
      </p:sp>
    </p:spTree>
    <p:extLst>
      <p:ext uri="{BB962C8B-B14F-4D97-AF65-F5344CB8AC3E}">
        <p14:creationId xmlns:p14="http://schemas.microsoft.com/office/powerpoint/2010/main" val="3629148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solidFill>
                  <a:srgbClr val="FF0000"/>
                </a:solidFill>
              </a:rPr>
              <a:t>Result: As expected market have not opened gap up and gap down.</a:t>
            </a:r>
          </a:p>
          <a:p>
            <a:r>
              <a:rPr lang="en-US" b="1" dirty="0">
                <a:solidFill>
                  <a:srgbClr val="FF0000"/>
                </a:solidFill>
              </a:rPr>
              <a:t>Advance to decline and the previous day analysis tells the market will open gap up or gap down.</a:t>
            </a:r>
            <a:endParaRPr lang="en-IN" b="1" dirty="0">
              <a:solidFill>
                <a:srgbClr val="FF0000"/>
              </a:solidFill>
            </a:endParaRPr>
          </a:p>
        </p:txBody>
      </p:sp>
      <p:sp>
        <p:nvSpPr>
          <p:cNvPr id="4" name="Slide Number Placeholder 3"/>
          <p:cNvSpPr>
            <a:spLocks noGrp="1"/>
          </p:cNvSpPr>
          <p:nvPr>
            <p:ph type="sldNum" sz="quarter" idx="5"/>
          </p:nvPr>
        </p:nvSpPr>
        <p:spPr/>
        <p:txBody>
          <a:bodyPr/>
          <a:lstStyle/>
          <a:p>
            <a:fld id="{15E6D869-3F49-45EE-8D03-CCCEA462AE8D}" type="slidenum">
              <a:rPr lang="en-IN" smtClean="0"/>
              <a:t>53</a:t>
            </a:fld>
            <a:endParaRPr lang="en-IN"/>
          </a:p>
        </p:txBody>
      </p:sp>
    </p:spTree>
    <p:extLst>
      <p:ext uri="{BB962C8B-B14F-4D97-AF65-F5344CB8AC3E}">
        <p14:creationId xmlns:p14="http://schemas.microsoft.com/office/powerpoint/2010/main" val="29776151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Closing price is 19398.5 </a:t>
            </a:r>
          </a:p>
          <a:p>
            <a:pPr marL="171450" indent="-171450">
              <a:buFont typeface="Arial" panose="020B0604020202020204" pitchFamily="34" charset="0"/>
              <a:buChar char="•"/>
            </a:pPr>
            <a:r>
              <a:rPr lang="en-US" dirty="0"/>
              <a:t>Both upside and downside is limited due to the shot build on both side market might not go below 19350 due to the heavy shot build up on the put side.</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54</a:t>
            </a:fld>
            <a:endParaRPr lang="en-IN"/>
          </a:p>
        </p:txBody>
      </p:sp>
    </p:spTree>
    <p:extLst>
      <p:ext uri="{BB962C8B-B14F-4D97-AF65-F5344CB8AC3E}">
        <p14:creationId xmlns:p14="http://schemas.microsoft.com/office/powerpoint/2010/main" val="16035174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19400 and 19500 -&gt; shot covering is going on</a:t>
            </a:r>
          </a:p>
          <a:p>
            <a:pPr marL="171450" indent="-171450">
              <a:buFont typeface="Arial" panose="020B0604020202020204" pitchFamily="34" charset="0"/>
              <a:buChar char="•"/>
            </a:pPr>
            <a:r>
              <a:rPr lang="en-US" dirty="0"/>
              <a:t>19550-&gt; Long Build up</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55</a:t>
            </a:fld>
            <a:endParaRPr lang="en-IN"/>
          </a:p>
        </p:txBody>
      </p:sp>
    </p:spTree>
    <p:extLst>
      <p:ext uri="{BB962C8B-B14F-4D97-AF65-F5344CB8AC3E}">
        <p14:creationId xmlns:p14="http://schemas.microsoft.com/office/powerpoint/2010/main" val="333307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19200, 19300, 19350 -&gt; Long covering</a:t>
            </a:r>
          </a:p>
          <a:p>
            <a:pPr marL="171450" indent="-171450">
              <a:buFont typeface="Arial" panose="020B0604020202020204" pitchFamily="34" charset="0"/>
              <a:buChar char="•"/>
            </a:pPr>
            <a:r>
              <a:rPr lang="en-US" dirty="0"/>
              <a:t>19400-&gt; Shot build up</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56</a:t>
            </a:fld>
            <a:endParaRPr lang="en-IN"/>
          </a:p>
        </p:txBody>
      </p:sp>
    </p:spTree>
    <p:extLst>
      <p:ext uri="{BB962C8B-B14F-4D97-AF65-F5344CB8AC3E}">
        <p14:creationId xmlns:p14="http://schemas.microsoft.com/office/powerpoint/2010/main" val="10274292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solidFill>
                  <a:srgbClr val="FF0000"/>
                </a:solidFill>
              </a:rPr>
              <a:t>Result: Market opened gap down but not below 19350 as expected.</a:t>
            </a:r>
          </a:p>
          <a:p>
            <a:pPr marL="171450" indent="-171450">
              <a:buFont typeface="Arial" panose="020B0604020202020204" pitchFamily="34" charset="0"/>
              <a:buChar char="•"/>
            </a:pPr>
            <a:r>
              <a:rPr lang="en-US" b="1" dirty="0">
                <a:solidFill>
                  <a:srgbClr val="FF0000"/>
                </a:solidFill>
              </a:rPr>
              <a:t>Advance is 19 and decline is 20-&gt; Market will open gap down.</a:t>
            </a:r>
            <a:endParaRPr lang="en-IN" b="1" dirty="0">
              <a:solidFill>
                <a:srgbClr val="FF0000"/>
              </a:solidFill>
            </a:endParaRPr>
          </a:p>
        </p:txBody>
      </p:sp>
      <p:sp>
        <p:nvSpPr>
          <p:cNvPr id="4" name="Slide Number Placeholder 3"/>
          <p:cNvSpPr>
            <a:spLocks noGrp="1"/>
          </p:cNvSpPr>
          <p:nvPr>
            <p:ph type="sldNum" sz="quarter" idx="5"/>
          </p:nvPr>
        </p:nvSpPr>
        <p:spPr/>
        <p:txBody>
          <a:bodyPr/>
          <a:lstStyle/>
          <a:p>
            <a:fld id="{15E6D869-3F49-45EE-8D03-CCCEA462AE8D}" type="slidenum">
              <a:rPr lang="en-IN" smtClean="0"/>
              <a:t>57</a:t>
            </a:fld>
            <a:endParaRPr lang="en-IN"/>
          </a:p>
        </p:txBody>
      </p:sp>
    </p:spTree>
    <p:extLst>
      <p:ext uri="{BB962C8B-B14F-4D97-AF65-F5344CB8AC3E}">
        <p14:creationId xmlns:p14="http://schemas.microsoft.com/office/powerpoint/2010/main" val="42511497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Closing price is 19398.5 </a:t>
            </a:r>
          </a:p>
          <a:p>
            <a:pPr marL="171450" indent="-171450">
              <a:buFont typeface="Arial" panose="020B0604020202020204" pitchFamily="34" charset="0"/>
              <a:buChar char="•"/>
            </a:pPr>
            <a:r>
              <a:rPr lang="en-US" dirty="0"/>
              <a:t>Both upside and downside is limited due to the shot build on both side market might not go below 19350 due to the heavy shot build up on the put side.</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58</a:t>
            </a:fld>
            <a:endParaRPr lang="en-IN"/>
          </a:p>
        </p:txBody>
      </p:sp>
    </p:spTree>
    <p:extLst>
      <p:ext uri="{BB962C8B-B14F-4D97-AF65-F5344CB8AC3E}">
        <p14:creationId xmlns:p14="http://schemas.microsoft.com/office/powerpoint/2010/main" val="24649547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19400 and 19500 -&gt; shot covering is going on</a:t>
            </a:r>
          </a:p>
          <a:p>
            <a:pPr marL="171450" indent="-171450">
              <a:buFont typeface="Arial" panose="020B0604020202020204" pitchFamily="34" charset="0"/>
              <a:buChar char="•"/>
            </a:pPr>
            <a:r>
              <a:rPr lang="en-US" dirty="0"/>
              <a:t>19550-&gt; Long Build up</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59</a:t>
            </a:fld>
            <a:endParaRPr lang="en-IN"/>
          </a:p>
        </p:txBody>
      </p:sp>
    </p:spTree>
    <p:extLst>
      <p:ext uri="{BB962C8B-B14F-4D97-AF65-F5344CB8AC3E}">
        <p14:creationId xmlns:p14="http://schemas.microsoft.com/office/powerpoint/2010/main" val="31609242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19200, 19300, 19350 -&gt; Long covering</a:t>
            </a:r>
          </a:p>
          <a:p>
            <a:pPr marL="171450" indent="-171450">
              <a:buFont typeface="Arial" panose="020B0604020202020204" pitchFamily="34" charset="0"/>
              <a:buChar char="•"/>
            </a:pPr>
            <a:r>
              <a:rPr lang="en-US" dirty="0"/>
              <a:t>19400-&gt; Shot build up</a:t>
            </a:r>
            <a:endParaRPr lang="en-IN" dirty="0"/>
          </a:p>
        </p:txBody>
      </p:sp>
      <p:sp>
        <p:nvSpPr>
          <p:cNvPr id="4" name="Slide Number Placeholder 3"/>
          <p:cNvSpPr>
            <a:spLocks noGrp="1"/>
          </p:cNvSpPr>
          <p:nvPr>
            <p:ph type="sldNum" sz="quarter" idx="5"/>
          </p:nvPr>
        </p:nvSpPr>
        <p:spPr/>
        <p:txBody>
          <a:bodyPr/>
          <a:lstStyle/>
          <a:p>
            <a:fld id="{15E6D869-3F49-45EE-8D03-CCCEA462AE8D}" type="slidenum">
              <a:rPr lang="en-IN" smtClean="0"/>
              <a:t>60</a:t>
            </a:fld>
            <a:endParaRPr lang="en-IN"/>
          </a:p>
        </p:txBody>
      </p:sp>
    </p:spTree>
    <p:extLst>
      <p:ext uri="{BB962C8B-B14F-4D97-AF65-F5344CB8AC3E}">
        <p14:creationId xmlns:p14="http://schemas.microsoft.com/office/powerpoint/2010/main" val="41544892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1" dirty="0">
                <a:solidFill>
                  <a:srgbClr val="FF0000"/>
                </a:solidFill>
              </a:rPr>
              <a:t>Result: Market opened gap down but not below 19350 as expected.</a:t>
            </a:r>
          </a:p>
          <a:p>
            <a:pPr marL="171450" indent="-171450">
              <a:buFont typeface="Arial" panose="020B0604020202020204" pitchFamily="34" charset="0"/>
              <a:buChar char="•"/>
            </a:pPr>
            <a:r>
              <a:rPr lang="en-US" b="1" dirty="0">
                <a:solidFill>
                  <a:srgbClr val="FF0000"/>
                </a:solidFill>
              </a:rPr>
              <a:t>Advance is 19 and decline is 20-&gt; Market will open gap down.</a:t>
            </a:r>
            <a:endParaRPr lang="en-IN" b="1" dirty="0">
              <a:solidFill>
                <a:srgbClr val="FF0000"/>
              </a:solidFill>
            </a:endParaRPr>
          </a:p>
        </p:txBody>
      </p:sp>
      <p:sp>
        <p:nvSpPr>
          <p:cNvPr id="4" name="Slide Number Placeholder 3"/>
          <p:cNvSpPr>
            <a:spLocks noGrp="1"/>
          </p:cNvSpPr>
          <p:nvPr>
            <p:ph type="sldNum" sz="quarter" idx="5"/>
          </p:nvPr>
        </p:nvSpPr>
        <p:spPr/>
        <p:txBody>
          <a:bodyPr/>
          <a:lstStyle/>
          <a:p>
            <a:fld id="{15E6D869-3F49-45EE-8D03-CCCEA462AE8D}" type="slidenum">
              <a:rPr lang="en-IN" smtClean="0"/>
              <a:t>61</a:t>
            </a:fld>
            <a:endParaRPr lang="en-IN"/>
          </a:p>
        </p:txBody>
      </p:sp>
    </p:spTree>
    <p:extLst>
      <p:ext uri="{BB962C8B-B14F-4D97-AF65-F5344CB8AC3E}">
        <p14:creationId xmlns:p14="http://schemas.microsoft.com/office/powerpoint/2010/main" val="800746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2C40-A058-0292-71EF-087AEB325E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C2BFEF5-D99D-80F9-D07F-D15820FCC9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015055-014D-7957-5EA1-F24A0F2F0FE7}"/>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5" name="Footer Placeholder 4">
            <a:extLst>
              <a:ext uri="{FF2B5EF4-FFF2-40B4-BE49-F238E27FC236}">
                <a16:creationId xmlns:a16="http://schemas.microsoft.com/office/drawing/2014/main" id="{06E81223-E704-23B1-509C-E65B50590C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BD6991-20E8-6C52-9790-F8EA62458203}"/>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2624800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BD150-A382-8365-018B-69230BAA5AA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E813D3-5217-060E-4603-5B1C093CC8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86CE5C3-4075-C525-3EE0-BBCC585AB49B}"/>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5" name="Footer Placeholder 4">
            <a:extLst>
              <a:ext uri="{FF2B5EF4-FFF2-40B4-BE49-F238E27FC236}">
                <a16:creationId xmlns:a16="http://schemas.microsoft.com/office/drawing/2014/main" id="{16F807F6-7670-8B34-3AAB-0940DE1319D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1F7891-144D-54D0-7B32-0F4EDE32EC59}"/>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1701471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73F75-05B9-EDFE-0D06-32D5957502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1DA7804-E941-33C9-F3C5-F6F34E133D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006E3D-A118-ED5F-A7A3-09E2E1D0BBAD}"/>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5" name="Footer Placeholder 4">
            <a:extLst>
              <a:ext uri="{FF2B5EF4-FFF2-40B4-BE49-F238E27FC236}">
                <a16:creationId xmlns:a16="http://schemas.microsoft.com/office/drawing/2014/main" id="{1421491F-AC0D-ECB9-4E96-D070BEC13A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3184ADC-F7B1-EA8E-5417-94CB244650E3}"/>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1099578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50EFF-8FF0-AEF3-CD84-83D480EE7F9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D58353-36BA-E8E0-5A4D-9AC2C0D1A59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2038F7-3272-5980-4651-5F0F8054107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62108A5-0571-6247-365C-99A9A37BE4AC}"/>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6" name="Footer Placeholder 5">
            <a:extLst>
              <a:ext uri="{FF2B5EF4-FFF2-40B4-BE49-F238E27FC236}">
                <a16:creationId xmlns:a16="http://schemas.microsoft.com/office/drawing/2014/main" id="{243A631B-6CBD-2CA3-91F2-4F26C43813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B0B1146-8E56-45BF-44A2-3361C0C70340}"/>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1575818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988CAD-FE35-94B5-233C-755DEF90E9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55E06B-16B9-C95C-394D-89E57BC9F8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B6E9FD-87A0-44B7-B209-74F3E9BB60E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70AB0F7-75A7-CCF7-6FFD-38D8BCC6CB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8CB936-B381-5FB2-6F1F-A42E5C8931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873197-0617-3453-EC9C-1A57A2F35427}"/>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8" name="Footer Placeholder 7">
            <a:extLst>
              <a:ext uri="{FF2B5EF4-FFF2-40B4-BE49-F238E27FC236}">
                <a16:creationId xmlns:a16="http://schemas.microsoft.com/office/drawing/2014/main" id="{A1D40953-6FAE-B67A-83FA-F56AAF3193A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DE0D1DD-5F58-6439-E9B7-3DD2DEB5F0C3}"/>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3870805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E80AB-DC5A-2517-466A-2A552351AF4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81E7DBF-C1DC-E56E-1D13-1B95766042F8}"/>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4" name="Footer Placeholder 3">
            <a:extLst>
              <a:ext uri="{FF2B5EF4-FFF2-40B4-BE49-F238E27FC236}">
                <a16:creationId xmlns:a16="http://schemas.microsoft.com/office/drawing/2014/main" id="{0F0C57F8-9D64-1FEF-2A6B-B3255E35AF1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F2692F2-D2D4-6CA3-D2D2-2B612A0F1379}"/>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3476870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2B61C5-D72D-5496-AFDC-F62E7A0C8167}"/>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3" name="Footer Placeholder 2">
            <a:extLst>
              <a:ext uri="{FF2B5EF4-FFF2-40B4-BE49-F238E27FC236}">
                <a16:creationId xmlns:a16="http://schemas.microsoft.com/office/drawing/2014/main" id="{18A82A5D-CD0E-F00F-97CD-3F69E91D40C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030A5D2-AAF5-7C17-4C9C-AB33C1992E3C}"/>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7681913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BE59-CB2C-9B8A-EDEE-8AE0EFD384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74680A5-303C-76BF-F515-26F756CD7E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6A9A87A-AE76-75C7-A7DE-8488C9C6F7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F9AB705-3724-59CF-5414-BA9D394EF07A}"/>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6" name="Footer Placeholder 5">
            <a:extLst>
              <a:ext uri="{FF2B5EF4-FFF2-40B4-BE49-F238E27FC236}">
                <a16:creationId xmlns:a16="http://schemas.microsoft.com/office/drawing/2014/main" id="{2973D535-A917-081E-3EA7-EC07163848D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74BB170-1E63-651B-11AF-2C3097609FF1}"/>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8098547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9762E-5ABE-3ABB-C010-99043DA7D5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F77366-28D9-7114-3F91-1605A9A42C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A78136-95D6-042E-3247-DFE4311E00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71B804-633F-0F61-487B-1F05F872B48D}"/>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6" name="Footer Placeholder 5">
            <a:extLst>
              <a:ext uri="{FF2B5EF4-FFF2-40B4-BE49-F238E27FC236}">
                <a16:creationId xmlns:a16="http://schemas.microsoft.com/office/drawing/2014/main" id="{8B14A8D6-BD08-2F78-D62A-EB19CC0CD69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34FA61-D8EE-F82B-7A90-2FBE13FC8AF8}"/>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2263804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B98E5-59C2-09FD-B3BC-D15549FAF5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56A7944-8674-1240-D6C0-B44711D3B7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940B38-FB29-FA00-9AB8-1BC6534301F1}"/>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5" name="Footer Placeholder 4">
            <a:extLst>
              <a:ext uri="{FF2B5EF4-FFF2-40B4-BE49-F238E27FC236}">
                <a16:creationId xmlns:a16="http://schemas.microsoft.com/office/drawing/2014/main" id="{9104C173-511A-3727-FDB1-537CA4B8D0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A4F415-4D62-86F7-A961-DC64456C297E}"/>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3124920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116B30-7DC5-9BA1-9C81-8EC8F08F5A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B0525E-83AF-8BFC-E1A5-88B621CA5A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795315-AC3C-F7D6-F452-FFAAFE73233A}"/>
              </a:ext>
            </a:extLst>
          </p:cNvPr>
          <p:cNvSpPr>
            <a:spLocks noGrp="1"/>
          </p:cNvSpPr>
          <p:nvPr>
            <p:ph type="dt" sz="half" idx="10"/>
          </p:nvPr>
        </p:nvSpPr>
        <p:spPr/>
        <p:txBody>
          <a:bodyPr/>
          <a:lstStyle/>
          <a:p>
            <a:fld id="{E3A55A57-BE11-4E7E-93CB-E03973AA826D}" type="datetimeFigureOut">
              <a:rPr lang="en-IN" smtClean="0"/>
              <a:t>06-07-2023</a:t>
            </a:fld>
            <a:endParaRPr lang="en-IN"/>
          </a:p>
        </p:txBody>
      </p:sp>
      <p:sp>
        <p:nvSpPr>
          <p:cNvPr id="5" name="Footer Placeholder 4">
            <a:extLst>
              <a:ext uri="{FF2B5EF4-FFF2-40B4-BE49-F238E27FC236}">
                <a16:creationId xmlns:a16="http://schemas.microsoft.com/office/drawing/2014/main" id="{A99252D7-543D-E300-8611-7AD82DFB1C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EE0055-FCA6-029C-B391-0EA19735CCA7}"/>
              </a:ext>
            </a:extLst>
          </p:cNvPr>
          <p:cNvSpPr>
            <a:spLocks noGrp="1"/>
          </p:cNvSpPr>
          <p:nvPr>
            <p:ph type="sldNum" sz="quarter" idx="12"/>
          </p:nvPr>
        </p:nvSpPr>
        <p:spPr/>
        <p:txBody>
          <a:bodyPr/>
          <a:lstStyle/>
          <a:p>
            <a:fld id="{C175C5F1-1D84-4DD3-B218-8CF7C2935FC4}" type="slidenum">
              <a:rPr lang="en-IN" smtClean="0"/>
              <a:t>‹#›</a:t>
            </a:fld>
            <a:endParaRPr lang="en-IN"/>
          </a:p>
        </p:txBody>
      </p:sp>
    </p:spTree>
    <p:extLst>
      <p:ext uri="{BB962C8B-B14F-4D97-AF65-F5344CB8AC3E}">
        <p14:creationId xmlns:p14="http://schemas.microsoft.com/office/powerpoint/2010/main" val="37894606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4E3DBF-4579-CF55-F1A7-3F8FC221D9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53B766B-5FBA-0981-D76A-8DA65AB77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9F195A-95F8-3706-0497-A5FA2A5E93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A55A57-BE11-4E7E-93CB-E03973AA826D}" type="datetimeFigureOut">
              <a:rPr lang="en-IN" smtClean="0"/>
              <a:t>06-07-2023</a:t>
            </a:fld>
            <a:endParaRPr lang="en-IN"/>
          </a:p>
        </p:txBody>
      </p:sp>
      <p:sp>
        <p:nvSpPr>
          <p:cNvPr id="5" name="Footer Placeholder 4">
            <a:extLst>
              <a:ext uri="{FF2B5EF4-FFF2-40B4-BE49-F238E27FC236}">
                <a16:creationId xmlns:a16="http://schemas.microsoft.com/office/drawing/2014/main" id="{512DCCE5-D1AC-6840-A7BC-832123D599A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CF00C44-E16E-002B-C84B-35ADD322A7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75C5F1-1D84-4DD3-B218-8CF7C2935FC4}" type="slidenum">
              <a:rPr lang="en-IN" smtClean="0"/>
              <a:t>‹#›</a:t>
            </a:fld>
            <a:endParaRPr lang="en-IN"/>
          </a:p>
        </p:txBody>
      </p:sp>
    </p:spTree>
    <p:extLst>
      <p:ext uri="{BB962C8B-B14F-4D97-AF65-F5344CB8AC3E}">
        <p14:creationId xmlns:p14="http://schemas.microsoft.com/office/powerpoint/2010/main" val="3983034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5C483-8F0C-B110-76DB-B95BD84AFBE0}"/>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8D42AE93-14F1-F05F-17C7-68E42E006A84}"/>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08968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2236-4238-8650-6A58-49465C4572CC}"/>
              </a:ext>
            </a:extLst>
          </p:cNvPr>
          <p:cNvSpPr>
            <a:spLocks noGrp="1"/>
          </p:cNvSpPr>
          <p:nvPr>
            <p:ph type="title"/>
          </p:nvPr>
        </p:nvSpPr>
        <p:spPr>
          <a:xfrm>
            <a:off x="838200" y="365126"/>
            <a:ext cx="10515600" cy="669348"/>
          </a:xfrm>
        </p:spPr>
        <p:txBody>
          <a:bodyPr>
            <a:normAutofit fontScale="90000"/>
          </a:bodyPr>
          <a:lstStyle/>
          <a:p>
            <a:r>
              <a:rPr lang="en-US" dirty="0"/>
              <a:t>23-05-2023</a:t>
            </a:r>
            <a:endParaRPr lang="en-IN" dirty="0"/>
          </a:p>
        </p:txBody>
      </p:sp>
      <p:graphicFrame>
        <p:nvGraphicFramePr>
          <p:cNvPr id="3" name="Table 2">
            <a:extLst>
              <a:ext uri="{FF2B5EF4-FFF2-40B4-BE49-F238E27FC236}">
                <a16:creationId xmlns:a16="http://schemas.microsoft.com/office/drawing/2014/main" id="{8732F15E-D2E1-1E8B-AA50-8805BA185A18}"/>
              </a:ext>
            </a:extLst>
          </p:cNvPr>
          <p:cNvGraphicFramePr>
            <a:graphicFrameLocks noGrp="1"/>
          </p:cNvGraphicFramePr>
          <p:nvPr>
            <p:extLst>
              <p:ext uri="{D42A27DB-BD31-4B8C-83A1-F6EECF244321}">
                <p14:modId xmlns:p14="http://schemas.microsoft.com/office/powerpoint/2010/main" val="1159608998"/>
              </p:ext>
            </p:extLst>
          </p:nvPr>
        </p:nvGraphicFramePr>
        <p:xfrm>
          <a:off x="1123252" y="1324772"/>
          <a:ext cx="7266952" cy="4669554"/>
        </p:xfrm>
        <a:graphic>
          <a:graphicData uri="http://schemas.openxmlformats.org/drawingml/2006/table">
            <a:tbl>
              <a:tblPr/>
              <a:tblGrid>
                <a:gridCol w="705629">
                  <a:extLst>
                    <a:ext uri="{9D8B030D-6E8A-4147-A177-3AD203B41FA5}">
                      <a16:colId xmlns:a16="http://schemas.microsoft.com/office/drawing/2014/main" val="1410570794"/>
                    </a:ext>
                  </a:extLst>
                </a:gridCol>
                <a:gridCol w="800663">
                  <a:extLst>
                    <a:ext uri="{9D8B030D-6E8A-4147-A177-3AD203B41FA5}">
                      <a16:colId xmlns:a16="http://schemas.microsoft.com/office/drawing/2014/main" val="2655600046"/>
                    </a:ext>
                  </a:extLst>
                </a:gridCol>
                <a:gridCol w="800663">
                  <a:extLst>
                    <a:ext uri="{9D8B030D-6E8A-4147-A177-3AD203B41FA5}">
                      <a16:colId xmlns:a16="http://schemas.microsoft.com/office/drawing/2014/main" val="3202059797"/>
                    </a:ext>
                  </a:extLst>
                </a:gridCol>
                <a:gridCol w="808583">
                  <a:extLst>
                    <a:ext uri="{9D8B030D-6E8A-4147-A177-3AD203B41FA5}">
                      <a16:colId xmlns:a16="http://schemas.microsoft.com/office/drawing/2014/main" val="2280740478"/>
                    </a:ext>
                  </a:extLst>
                </a:gridCol>
                <a:gridCol w="808583">
                  <a:extLst>
                    <a:ext uri="{9D8B030D-6E8A-4147-A177-3AD203B41FA5}">
                      <a16:colId xmlns:a16="http://schemas.microsoft.com/office/drawing/2014/main" val="2124478064"/>
                    </a:ext>
                  </a:extLst>
                </a:gridCol>
                <a:gridCol w="787993">
                  <a:extLst>
                    <a:ext uri="{9D8B030D-6E8A-4147-A177-3AD203B41FA5}">
                      <a16:colId xmlns:a16="http://schemas.microsoft.com/office/drawing/2014/main" val="1711536092"/>
                    </a:ext>
                  </a:extLst>
                </a:gridCol>
                <a:gridCol w="939255">
                  <a:extLst>
                    <a:ext uri="{9D8B030D-6E8A-4147-A177-3AD203B41FA5}">
                      <a16:colId xmlns:a16="http://schemas.microsoft.com/office/drawing/2014/main" val="3195259165"/>
                    </a:ext>
                  </a:extLst>
                </a:gridCol>
                <a:gridCol w="871148">
                  <a:extLst>
                    <a:ext uri="{9D8B030D-6E8A-4147-A177-3AD203B41FA5}">
                      <a16:colId xmlns:a16="http://schemas.microsoft.com/office/drawing/2014/main" val="598209724"/>
                    </a:ext>
                  </a:extLst>
                </a:gridCol>
                <a:gridCol w="744435">
                  <a:extLst>
                    <a:ext uri="{9D8B030D-6E8A-4147-A177-3AD203B41FA5}">
                      <a16:colId xmlns:a16="http://schemas.microsoft.com/office/drawing/2014/main" val="870639905"/>
                    </a:ext>
                  </a:extLst>
                </a:gridCol>
              </a:tblGrid>
              <a:tr h="189189">
                <a:tc>
                  <a:txBody>
                    <a:bodyPr/>
                    <a:lstStyle/>
                    <a:p>
                      <a:pPr marL="0" marR="0" fontAlgn="t">
                        <a:spcBef>
                          <a:spcPts val="0"/>
                        </a:spcBef>
                        <a:spcAft>
                          <a:spcPts val="0"/>
                        </a:spcAft>
                      </a:pPr>
                      <a:r>
                        <a:rPr lang="en-US" sz="1000">
                          <a:solidFill>
                            <a:srgbClr val="FF0000"/>
                          </a:solidFill>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b="1">
                          <a:solidFill>
                            <a:srgbClr val="FF0000"/>
                          </a:solidFill>
                          <a:effectLst/>
                          <a:latin typeface="Calibri" panose="020F0502020204030204" pitchFamily="34" charset="0"/>
                        </a:rPr>
                        <a:t>03:16:05 PM</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b="1">
                          <a:solidFill>
                            <a:srgbClr val="FF0000"/>
                          </a:solidFill>
                          <a:effectLst/>
                          <a:latin typeface="Calibri" panose="020F0502020204030204" pitchFamily="34" charset="0"/>
                        </a:rPr>
                        <a:t>03:16:05 PM</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b="1">
                          <a:solidFill>
                            <a:srgbClr val="FF0000"/>
                          </a:solidFill>
                          <a:effectLst/>
                          <a:latin typeface="Calibri" panose="020F0502020204030204" pitchFamily="34" charset="0"/>
                        </a:rPr>
                        <a:t>09:37:25 AM</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b="1">
                          <a:solidFill>
                            <a:srgbClr val="FF0000"/>
                          </a:solidFill>
                          <a:effectLst/>
                          <a:latin typeface="Calibri" panose="020F0502020204030204" pitchFamily="34" charset="0"/>
                        </a:rPr>
                        <a:t>09:37:25 AM</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solidFill>
                            <a:srgbClr val="FF0000"/>
                          </a:solidFill>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solidFill>
                            <a:srgbClr val="FF0000"/>
                          </a:solidFill>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854922390"/>
                  </a:ext>
                </a:extLst>
              </a:tr>
              <a:tr h="189189">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strikePrice</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CE_OI</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CE_LTP</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CE_OI</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CE_LTP</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Change in OI</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Change in LTP</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997391851"/>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18150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17909</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225.35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21181</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262.2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-3272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-36.85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a:solidFill>
                            <a:srgbClr val="000000"/>
                          </a:solidFill>
                          <a:effectLst/>
                          <a:latin typeface="Calibri" panose="020F0502020204030204" pitchFamily="34" charset="0"/>
                        </a:rPr>
                        <a:t>Long Covering</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976505498"/>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18200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70275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179.95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102250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215.45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-31975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-35.5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a:solidFill>
                            <a:srgbClr val="000000"/>
                          </a:solidFill>
                          <a:effectLst/>
                          <a:latin typeface="Calibri" panose="020F0502020204030204" pitchFamily="34" charset="0"/>
                        </a:rPr>
                        <a:t>Long Covering</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826446850"/>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18250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27438</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137.05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39782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172.95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-12344</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-35.9</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a:solidFill>
                            <a:srgbClr val="000000"/>
                          </a:solidFill>
                          <a:effectLst/>
                          <a:latin typeface="Calibri" panose="020F0502020204030204" pitchFamily="34" charset="0"/>
                        </a:rPr>
                        <a:t>Long Covering</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396325563"/>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18300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141947</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97.6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144895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131.85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-2948</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-34.25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a:solidFill>
                            <a:srgbClr val="000000"/>
                          </a:solidFill>
                          <a:effectLst/>
                          <a:latin typeface="Calibri" panose="020F0502020204030204" pitchFamily="34" charset="0"/>
                        </a:rPr>
                        <a:t>Long Covering</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49181742"/>
                  </a:ext>
                </a:extLst>
              </a:tr>
              <a:tr h="189189">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18350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75706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65.25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73193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95.7</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2513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-30.45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Shot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4087447589"/>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18400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232641</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40.05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179357</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64.55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53284</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-24.5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Shot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4126784100"/>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18450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121941</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22.1</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103644</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41.05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18297</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-18.95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Shot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4201122477"/>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18500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211805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11.1</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197881</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23.9</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13924</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-12.8</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Shot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010699384"/>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18550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128200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5.15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97534</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12.45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30666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-7.3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Shot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456792225"/>
                  </a:ext>
                </a:extLst>
              </a:tr>
              <a:tr h="189189">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b="1">
                          <a:solidFill>
                            <a:srgbClr val="FF0000"/>
                          </a:solidFill>
                          <a:effectLst/>
                          <a:latin typeface="Calibri" panose="020F0502020204030204" pitchFamily="34" charset="0"/>
                        </a:rPr>
                        <a:t>Bearish View</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797656322"/>
                  </a:ext>
                </a:extLst>
              </a:tr>
              <a:tr h="189189">
                <a:tc>
                  <a:txBody>
                    <a:bodyPr/>
                    <a:lstStyle/>
                    <a:p>
                      <a:pPr marL="0" marR="0" fontAlgn="t">
                        <a:spcBef>
                          <a:spcPts val="0"/>
                        </a:spcBef>
                        <a:spcAft>
                          <a:spcPts val="0"/>
                        </a:spcAft>
                      </a:pPr>
                      <a:r>
                        <a:rPr lang="en-US" sz="1000">
                          <a:solidFill>
                            <a:srgbClr val="FF0000"/>
                          </a:solidFill>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b="1">
                          <a:solidFill>
                            <a:srgbClr val="FF0000"/>
                          </a:solidFill>
                          <a:effectLst/>
                          <a:latin typeface="Calibri" panose="020F0502020204030204" pitchFamily="34" charset="0"/>
                        </a:rPr>
                        <a:t>03:16:05 PM</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b="1">
                          <a:solidFill>
                            <a:srgbClr val="FF0000"/>
                          </a:solidFill>
                          <a:effectLst/>
                          <a:latin typeface="Calibri" panose="020F0502020204030204" pitchFamily="34" charset="0"/>
                        </a:rPr>
                        <a:t>03:16:05 PM</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b="1">
                          <a:solidFill>
                            <a:srgbClr val="FF0000"/>
                          </a:solidFill>
                          <a:effectLst/>
                          <a:latin typeface="Calibri" panose="020F0502020204030204" pitchFamily="34" charset="0"/>
                        </a:rPr>
                        <a:t>09:37:25 AM</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b="1">
                          <a:solidFill>
                            <a:srgbClr val="FF0000"/>
                          </a:solidFill>
                          <a:effectLst/>
                          <a:latin typeface="Calibri" panose="020F0502020204030204" pitchFamily="34" charset="0"/>
                        </a:rPr>
                        <a:t>09:37:25 AM</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solidFill>
                            <a:srgbClr val="FF0000"/>
                          </a:solidFill>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solidFill>
                            <a:srgbClr val="FF0000"/>
                          </a:solidFill>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4165134900"/>
                  </a:ext>
                </a:extLst>
              </a:tr>
              <a:tr h="189189">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strikePrice</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PE_OI</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PE_LTP</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PE_OI</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PE_LTP</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Change in OI</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ctr" fontAlgn="t">
                        <a:spcBef>
                          <a:spcPts val="0"/>
                        </a:spcBef>
                        <a:spcAft>
                          <a:spcPts val="0"/>
                        </a:spcAft>
                      </a:pPr>
                      <a:r>
                        <a:rPr lang="en-IN" sz="1000" b="1">
                          <a:solidFill>
                            <a:srgbClr val="FF0000"/>
                          </a:solidFill>
                          <a:effectLst/>
                          <a:latin typeface="Calibri" panose="020F0502020204030204" pitchFamily="34" charset="0"/>
                        </a:rPr>
                        <a:t>Change in LTP</a:t>
                      </a:r>
                      <a:endParaRPr lang="en-IN" sz="1000">
                        <a:solidFill>
                          <a:srgbClr val="FF0000"/>
                        </a:solidFill>
                        <a:effectLst/>
                        <a:latin typeface="Calibri" panose="020F0502020204030204" pitchFamily="34" charset="0"/>
                      </a:endParaRP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736632923"/>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18150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111010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8.9</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76977</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11.6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34033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-2.7</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a:solidFill>
                            <a:srgbClr val="000000"/>
                          </a:solidFill>
                          <a:effectLst/>
                          <a:latin typeface="Calibri" panose="020F0502020204030204" pitchFamily="34" charset="0"/>
                        </a:rPr>
                        <a:t>Shot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384283507"/>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18200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231749</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13.3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250558</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15.55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-18809</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-2.25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a:solidFill>
                            <a:srgbClr val="000000"/>
                          </a:solidFill>
                          <a:effectLst/>
                          <a:latin typeface="Calibri" panose="020F0502020204030204" pitchFamily="34" charset="0"/>
                        </a:rPr>
                        <a:t>Long Covering</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456111968"/>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18250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88316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20.2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95102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21.5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-6786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a:solidFill>
                            <a:srgbClr val="000000"/>
                          </a:solidFill>
                          <a:effectLst/>
                          <a:latin typeface="Calibri" panose="020F0502020204030204" pitchFamily="34" charset="0"/>
                        </a:rPr>
                        <a:t>Long Covering</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421413812"/>
                  </a:ext>
                </a:extLst>
              </a:tr>
              <a:tr h="189189">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18300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234142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31.3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208722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30.3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25420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1</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Long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367321527"/>
                  </a:ext>
                </a:extLst>
              </a:tr>
              <a:tr h="189189">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18350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96266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48.9</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73553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44.2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22713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4.7</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Long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2576764198"/>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18400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139566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73.65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94342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63.6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45224</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10.05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Long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917763567"/>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18450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24471</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105.8</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20078</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89.7</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4393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16.1</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Long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445792894"/>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18500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45743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144.85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42010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122.85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3733</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22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Long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918959509"/>
                  </a:ext>
                </a:extLst>
              </a:tr>
              <a:tr h="189189">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18550</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6296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188.85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3402</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161.6</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a:solidFill>
                            <a:srgbClr val="000000"/>
                          </a:solidFill>
                          <a:effectLst/>
                          <a:latin typeface="Calibri" panose="020F0502020204030204" pitchFamily="34" charset="0"/>
                        </a:rPr>
                        <a:t>2894</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algn="r" fontAlgn="t">
                        <a:spcBef>
                          <a:spcPts val="0"/>
                        </a:spcBef>
                        <a:spcAft>
                          <a:spcPts val="0"/>
                        </a:spcAft>
                      </a:pPr>
                      <a:r>
                        <a:rPr lang="en-IN" sz="1000" dirty="0">
                          <a:solidFill>
                            <a:srgbClr val="000000"/>
                          </a:solidFill>
                          <a:effectLst/>
                          <a:latin typeface="Calibri" panose="020F0502020204030204" pitchFamily="34" charset="0"/>
                        </a:rPr>
                        <a:t>27.25</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IN" sz="1000" dirty="0">
                          <a:solidFill>
                            <a:srgbClr val="000000"/>
                          </a:solidFill>
                          <a:effectLst/>
                          <a:latin typeface="Calibri" panose="020F0502020204030204" pitchFamily="34" charset="0"/>
                        </a:rPr>
                        <a:t>Long Build Up</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tc>
                  <a:txBody>
                    <a:bodyPr/>
                    <a:lstStyle/>
                    <a:p>
                      <a:pPr marL="0" marR="0" fontAlgn="t">
                        <a:spcBef>
                          <a:spcPts val="0"/>
                        </a:spcBef>
                        <a:spcAft>
                          <a:spcPts val="0"/>
                        </a:spcAft>
                      </a:pPr>
                      <a:r>
                        <a:rPr lang="en-US" sz="1000" dirty="0">
                          <a:effectLst/>
                          <a:latin typeface="Calibri" panose="020F0502020204030204" pitchFamily="34" charset="0"/>
                        </a:rPr>
                        <a:t> </a:t>
                      </a:r>
                    </a:p>
                  </a:txBody>
                  <a:tcPr marL="32998" marR="32998" marT="21999" marB="21999">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tcPr>
                </a:tc>
                <a:extLst>
                  <a:ext uri="{0D108BD9-81ED-4DB2-BD59-A6C34878D82A}">
                    <a16:rowId xmlns:a16="http://schemas.microsoft.com/office/drawing/2014/main" val="1166828811"/>
                  </a:ext>
                </a:extLst>
              </a:tr>
            </a:tbl>
          </a:graphicData>
        </a:graphic>
      </p:graphicFrame>
    </p:spTree>
    <p:extLst>
      <p:ext uri="{BB962C8B-B14F-4D97-AF65-F5344CB8AC3E}">
        <p14:creationId xmlns:p14="http://schemas.microsoft.com/office/powerpoint/2010/main" val="2398182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2236-4238-8650-6A58-49465C4572CC}"/>
              </a:ext>
            </a:extLst>
          </p:cNvPr>
          <p:cNvSpPr>
            <a:spLocks noGrp="1"/>
          </p:cNvSpPr>
          <p:nvPr>
            <p:ph type="title"/>
          </p:nvPr>
        </p:nvSpPr>
        <p:spPr>
          <a:xfrm>
            <a:off x="838200" y="365126"/>
            <a:ext cx="10515600" cy="669348"/>
          </a:xfrm>
        </p:spPr>
        <p:txBody>
          <a:bodyPr>
            <a:normAutofit fontScale="90000"/>
          </a:bodyPr>
          <a:lstStyle/>
          <a:p>
            <a:r>
              <a:rPr lang="en-US" dirty="0"/>
              <a:t>23-05-2023</a:t>
            </a:r>
            <a:endParaRPr lang="en-IN" dirty="0"/>
          </a:p>
        </p:txBody>
      </p:sp>
      <p:pic>
        <p:nvPicPr>
          <p:cNvPr id="4" name="Picture 3">
            <a:extLst>
              <a:ext uri="{FF2B5EF4-FFF2-40B4-BE49-F238E27FC236}">
                <a16:creationId xmlns:a16="http://schemas.microsoft.com/office/drawing/2014/main" id="{7238773E-8600-B54B-4EF5-8ABA9A4302E8}"/>
              </a:ext>
            </a:extLst>
          </p:cNvPr>
          <p:cNvPicPr>
            <a:picLocks noChangeAspect="1"/>
          </p:cNvPicPr>
          <p:nvPr/>
        </p:nvPicPr>
        <p:blipFill>
          <a:blip r:embed="rId2"/>
          <a:stretch>
            <a:fillRect/>
          </a:stretch>
        </p:blipFill>
        <p:spPr>
          <a:xfrm>
            <a:off x="540326" y="1034474"/>
            <a:ext cx="10067637" cy="5300253"/>
          </a:xfrm>
          <a:prstGeom prst="rect">
            <a:avLst/>
          </a:prstGeom>
        </p:spPr>
      </p:pic>
    </p:spTree>
    <p:extLst>
      <p:ext uri="{BB962C8B-B14F-4D97-AF65-F5344CB8AC3E}">
        <p14:creationId xmlns:p14="http://schemas.microsoft.com/office/powerpoint/2010/main" val="258431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2236-4238-8650-6A58-49465C4572CC}"/>
              </a:ext>
            </a:extLst>
          </p:cNvPr>
          <p:cNvSpPr>
            <a:spLocks noGrp="1"/>
          </p:cNvSpPr>
          <p:nvPr>
            <p:ph type="title"/>
          </p:nvPr>
        </p:nvSpPr>
        <p:spPr>
          <a:xfrm>
            <a:off x="838200" y="365126"/>
            <a:ext cx="10515600" cy="669348"/>
          </a:xfrm>
        </p:spPr>
        <p:txBody>
          <a:bodyPr>
            <a:normAutofit fontScale="90000"/>
          </a:bodyPr>
          <a:lstStyle/>
          <a:p>
            <a:r>
              <a:rPr lang="en-US" dirty="0"/>
              <a:t>23-05-2023</a:t>
            </a:r>
            <a:endParaRPr lang="en-IN" dirty="0"/>
          </a:p>
        </p:txBody>
      </p:sp>
      <p:pic>
        <p:nvPicPr>
          <p:cNvPr id="5121" name="Picture 1" descr="Figure 3 &#10;Premium on Put side VS strike price &#10;PM &#10;73.65 &#10;PM &#10;ata &#10;num &#10;Figure 2 &#10;250000 &#10;200000 &#10;c 150000 &#10;100000 &#10;50000 &#10;+IQI &#10;Maximum 01 on the Put side VS strike price &#10;267426 &#10;244183 &#10;34142 &#10;31749 &#10;159328 &#10;15674 &#10;Strike Price &#10;PM &#10;PM &#10;70 &#10;60 &#10;50 &#10;C 40 &#10;a- 30 &#10;20 &#10;13.3 &#10;10.2 &#10;10 &#10;6.75 &#10;5.8 &#10;+IQI &#10;55.6 &#10;203864 &#10;39566 &#10;31.3 &#10;23.6 &#10;Strike Price ">
            <a:extLst>
              <a:ext uri="{FF2B5EF4-FFF2-40B4-BE49-F238E27FC236}">
                <a16:creationId xmlns:a16="http://schemas.microsoft.com/office/drawing/2014/main" id="{D5C10D0F-C332-BE87-7AFB-00179D7390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375" y="1175499"/>
            <a:ext cx="11525250" cy="5482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728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4936E-4847-6C58-3293-7BCF0E431EAB}"/>
              </a:ext>
            </a:extLst>
          </p:cNvPr>
          <p:cNvSpPr>
            <a:spLocks noGrp="1"/>
          </p:cNvSpPr>
          <p:nvPr>
            <p:ph type="title"/>
          </p:nvPr>
        </p:nvSpPr>
        <p:spPr>
          <a:xfrm>
            <a:off x="838200" y="365126"/>
            <a:ext cx="10515600" cy="687820"/>
          </a:xfrm>
        </p:spPr>
        <p:txBody>
          <a:bodyPr>
            <a:normAutofit fontScale="90000"/>
          </a:bodyPr>
          <a:lstStyle/>
          <a:p>
            <a:r>
              <a:rPr lang="en-US" dirty="0"/>
              <a:t>Conclusion</a:t>
            </a:r>
            <a:endParaRPr lang="en-IN" dirty="0"/>
          </a:p>
        </p:txBody>
      </p:sp>
    </p:spTree>
    <p:extLst>
      <p:ext uri="{BB962C8B-B14F-4D97-AF65-F5344CB8AC3E}">
        <p14:creationId xmlns:p14="http://schemas.microsoft.com/office/powerpoint/2010/main" val="2862548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169AF76-573F-2260-F81F-0EEF77D91537}"/>
              </a:ext>
            </a:extLst>
          </p:cNvPr>
          <p:cNvSpPr txBox="1"/>
          <p:nvPr/>
        </p:nvSpPr>
        <p:spPr>
          <a:xfrm>
            <a:off x="650631" y="325315"/>
            <a:ext cx="8097715" cy="707886"/>
          </a:xfrm>
          <a:prstGeom prst="rect">
            <a:avLst/>
          </a:prstGeom>
          <a:noFill/>
        </p:spPr>
        <p:txBody>
          <a:bodyPr wrap="square" rtlCol="0">
            <a:spAutoFit/>
          </a:bodyPr>
          <a:lstStyle/>
          <a:p>
            <a:r>
              <a:rPr lang="en-US" sz="4000" dirty="0"/>
              <a:t>24-05-2023</a:t>
            </a:r>
            <a:endParaRPr lang="en-IN" sz="4000" dirty="0"/>
          </a:p>
        </p:txBody>
      </p:sp>
      <p:graphicFrame>
        <p:nvGraphicFramePr>
          <p:cNvPr id="2" name="Table 1">
            <a:extLst>
              <a:ext uri="{FF2B5EF4-FFF2-40B4-BE49-F238E27FC236}">
                <a16:creationId xmlns:a16="http://schemas.microsoft.com/office/drawing/2014/main" id="{546BE94F-BED5-695C-C30F-77A647EDC573}"/>
              </a:ext>
            </a:extLst>
          </p:cNvPr>
          <p:cNvGraphicFramePr>
            <a:graphicFrameLocks noGrp="1"/>
          </p:cNvGraphicFramePr>
          <p:nvPr>
            <p:extLst>
              <p:ext uri="{D42A27DB-BD31-4B8C-83A1-F6EECF244321}">
                <p14:modId xmlns:p14="http://schemas.microsoft.com/office/powerpoint/2010/main" val="1046460477"/>
              </p:ext>
            </p:extLst>
          </p:nvPr>
        </p:nvGraphicFramePr>
        <p:xfrm>
          <a:off x="924658" y="1033201"/>
          <a:ext cx="8966689" cy="2480310"/>
        </p:xfrm>
        <a:graphic>
          <a:graphicData uri="http://schemas.openxmlformats.org/drawingml/2006/table">
            <a:tbl>
              <a:tblPr/>
              <a:tblGrid>
                <a:gridCol w="717858">
                  <a:extLst>
                    <a:ext uri="{9D8B030D-6E8A-4147-A177-3AD203B41FA5}">
                      <a16:colId xmlns:a16="http://schemas.microsoft.com/office/drawing/2014/main" val="4102617168"/>
                    </a:ext>
                  </a:extLst>
                </a:gridCol>
                <a:gridCol w="1226884">
                  <a:extLst>
                    <a:ext uri="{9D8B030D-6E8A-4147-A177-3AD203B41FA5}">
                      <a16:colId xmlns:a16="http://schemas.microsoft.com/office/drawing/2014/main" val="3921292094"/>
                    </a:ext>
                  </a:extLst>
                </a:gridCol>
                <a:gridCol w="1292142">
                  <a:extLst>
                    <a:ext uri="{9D8B030D-6E8A-4147-A177-3AD203B41FA5}">
                      <a16:colId xmlns:a16="http://schemas.microsoft.com/office/drawing/2014/main" val="2808448508"/>
                    </a:ext>
                  </a:extLst>
                </a:gridCol>
                <a:gridCol w="1239935">
                  <a:extLst>
                    <a:ext uri="{9D8B030D-6E8A-4147-A177-3AD203B41FA5}">
                      <a16:colId xmlns:a16="http://schemas.microsoft.com/office/drawing/2014/main" val="1088700324"/>
                    </a:ext>
                  </a:extLst>
                </a:gridCol>
                <a:gridCol w="1305195">
                  <a:extLst>
                    <a:ext uri="{9D8B030D-6E8A-4147-A177-3AD203B41FA5}">
                      <a16:colId xmlns:a16="http://schemas.microsoft.com/office/drawing/2014/main" val="1318577183"/>
                    </a:ext>
                  </a:extLst>
                </a:gridCol>
                <a:gridCol w="926688">
                  <a:extLst>
                    <a:ext uri="{9D8B030D-6E8A-4147-A177-3AD203B41FA5}">
                      <a16:colId xmlns:a16="http://schemas.microsoft.com/office/drawing/2014/main" val="2115112730"/>
                    </a:ext>
                  </a:extLst>
                </a:gridCol>
                <a:gridCol w="1357402">
                  <a:extLst>
                    <a:ext uri="{9D8B030D-6E8A-4147-A177-3AD203B41FA5}">
                      <a16:colId xmlns:a16="http://schemas.microsoft.com/office/drawing/2014/main" val="778484484"/>
                    </a:ext>
                  </a:extLst>
                </a:gridCol>
                <a:gridCol w="900585">
                  <a:extLst>
                    <a:ext uri="{9D8B030D-6E8A-4147-A177-3AD203B41FA5}">
                      <a16:colId xmlns:a16="http://schemas.microsoft.com/office/drawing/2014/main" val="1519767851"/>
                    </a:ext>
                  </a:extLst>
                </a:gridCol>
              </a:tblGrid>
              <a:tr h="161764">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CE_OI_03:32:33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CE_LTP_03:32:33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CE_OI_09:23:43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CE_LTP_09:23:43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1714746074"/>
                  </a:ext>
                </a:extLst>
              </a:tr>
              <a:tr h="161764">
                <a:tc>
                  <a:txBody>
                    <a:bodyPr/>
                    <a:lstStyle/>
                    <a:p>
                      <a:pPr algn="r" fontAlgn="b"/>
                      <a:r>
                        <a:rPr lang="en-IN" sz="1100" b="0" i="0" u="none" strike="noStrike">
                          <a:solidFill>
                            <a:srgbClr val="000000"/>
                          </a:solidFill>
                          <a:effectLst/>
                          <a:latin typeface="Calibri" panose="020F0502020204030204" pitchFamily="34" charset="0"/>
                        </a:rPr>
                        <a:t>18000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25720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303.1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30605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290.75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-4885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12.35</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3146503440"/>
                  </a:ext>
                </a:extLst>
              </a:tr>
              <a:tr h="161764">
                <a:tc>
                  <a:txBody>
                    <a:bodyPr/>
                    <a:lstStyle/>
                    <a:p>
                      <a:pPr algn="r" fontAlgn="b"/>
                      <a:r>
                        <a:rPr lang="en-IN" sz="1100" b="0" i="0" u="none" strike="noStrike">
                          <a:solidFill>
                            <a:srgbClr val="000000"/>
                          </a:solidFill>
                          <a:effectLst/>
                          <a:latin typeface="Calibri" panose="020F0502020204030204" pitchFamily="34" charset="0"/>
                        </a:rPr>
                        <a:t>18050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3519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4841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244.2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-1322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9.8</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1656126506"/>
                  </a:ext>
                </a:extLst>
              </a:tr>
              <a:tr h="161764">
                <a:tc>
                  <a:txBody>
                    <a:bodyPr/>
                    <a:lstStyle/>
                    <a:p>
                      <a:pPr algn="r" fontAlgn="b"/>
                      <a:r>
                        <a:rPr lang="en-IN" sz="1100" b="0" i="0" u="none" strike="noStrike">
                          <a:solidFill>
                            <a:srgbClr val="000000"/>
                          </a:solidFill>
                          <a:effectLst/>
                          <a:latin typeface="Calibri" panose="020F0502020204030204" pitchFamily="34" charset="0"/>
                        </a:rPr>
                        <a:t>18100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22176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24992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-2816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8.7</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2631453292"/>
                  </a:ext>
                </a:extLst>
              </a:tr>
              <a:tr h="161764">
                <a:tc>
                  <a:txBody>
                    <a:bodyPr/>
                    <a:lstStyle/>
                    <a:p>
                      <a:pPr algn="r" fontAlgn="b"/>
                      <a:r>
                        <a:rPr lang="en-IN" sz="1100" b="0" i="0" u="none" strike="noStrike">
                          <a:solidFill>
                            <a:srgbClr val="000000"/>
                          </a:solidFill>
                          <a:effectLst/>
                          <a:latin typeface="Calibri" panose="020F0502020204030204" pitchFamily="34" charset="0"/>
                        </a:rPr>
                        <a:t>18150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16676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157.55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17358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151.95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-682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5.6</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155063847"/>
                  </a:ext>
                </a:extLst>
              </a:tr>
              <a:tr h="161764">
                <a:tc>
                  <a:txBody>
                    <a:bodyPr/>
                    <a:lstStyle/>
                    <a:p>
                      <a:pPr algn="r" fontAlgn="b"/>
                      <a:r>
                        <a:rPr lang="en-IN" sz="1100" b="0" i="0" u="none" strike="noStrike" dirty="0">
                          <a:solidFill>
                            <a:srgbClr val="FF0000"/>
                          </a:solidFill>
                          <a:effectLst/>
                          <a:latin typeface="Calibri" panose="020F0502020204030204" pitchFamily="34" charset="0"/>
                        </a:rPr>
                        <a:t>18200</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76420</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113.55</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77797</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111</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-1377</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2.55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2604349257"/>
                  </a:ext>
                </a:extLst>
              </a:tr>
              <a:tr h="161764">
                <a:tc>
                  <a:txBody>
                    <a:bodyPr/>
                    <a:lstStyle/>
                    <a:p>
                      <a:pPr algn="r" fontAlgn="b"/>
                      <a:r>
                        <a:rPr lang="en-IN" sz="1100" b="0" i="0" u="none" strike="noStrike" dirty="0">
                          <a:solidFill>
                            <a:srgbClr val="FF0000"/>
                          </a:solidFill>
                          <a:effectLst/>
                          <a:latin typeface="Calibri" panose="020F0502020204030204" pitchFamily="34" charset="0"/>
                        </a:rPr>
                        <a:t>18250</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57234</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74.05</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40664</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75.8</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16570</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-1.75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683927860"/>
                  </a:ext>
                </a:extLst>
              </a:tr>
              <a:tr h="161764">
                <a:tc>
                  <a:txBody>
                    <a:bodyPr/>
                    <a:lstStyle/>
                    <a:p>
                      <a:pPr algn="r" fontAlgn="b"/>
                      <a:r>
                        <a:rPr lang="en-IN" sz="1100" b="0" i="0" u="none" strike="noStrike" dirty="0">
                          <a:solidFill>
                            <a:srgbClr val="FF0000"/>
                          </a:solidFill>
                          <a:effectLst/>
                          <a:latin typeface="Calibri" panose="020F0502020204030204" pitchFamily="34" charset="0"/>
                        </a:rPr>
                        <a:t>18300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FF0000"/>
                          </a:solidFill>
                          <a:effectLst/>
                          <a:latin typeface="Calibri" panose="020F0502020204030204" pitchFamily="34" charset="0"/>
                        </a:rPr>
                        <a:t>246353</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FF0000"/>
                          </a:solidFill>
                          <a:effectLst/>
                          <a:latin typeface="Calibri" panose="020F0502020204030204" pitchFamily="34" charset="0"/>
                        </a:rPr>
                        <a:t>42.45</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207594</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47.1</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38759</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-4.65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2093480605"/>
                  </a:ext>
                </a:extLst>
              </a:tr>
              <a:tr h="161764">
                <a:tc>
                  <a:txBody>
                    <a:bodyPr/>
                    <a:lstStyle/>
                    <a:p>
                      <a:pPr algn="r" fontAlgn="b"/>
                      <a:r>
                        <a:rPr lang="en-IN" sz="1100" b="0" i="0" u="none" strike="noStrike">
                          <a:solidFill>
                            <a:srgbClr val="FF0000"/>
                          </a:solidFill>
                          <a:effectLst/>
                          <a:latin typeface="Calibri" panose="020F0502020204030204" pitchFamily="34" charset="0"/>
                        </a:rPr>
                        <a:t>18350</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174086</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FF0000"/>
                          </a:solidFill>
                          <a:effectLst/>
                          <a:latin typeface="Calibri" panose="020F0502020204030204" pitchFamily="34" charset="0"/>
                        </a:rPr>
                        <a:t>20.8</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FF0000"/>
                          </a:solidFill>
                          <a:effectLst/>
                          <a:latin typeface="Calibri" panose="020F0502020204030204" pitchFamily="34" charset="0"/>
                        </a:rPr>
                        <a:t>106043</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27.15</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68043</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-6.35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472652454"/>
                  </a:ext>
                </a:extLst>
              </a:tr>
              <a:tr h="161764">
                <a:tc>
                  <a:txBody>
                    <a:bodyPr/>
                    <a:lstStyle/>
                    <a:p>
                      <a:pPr algn="r" fontAlgn="b"/>
                      <a:r>
                        <a:rPr lang="en-IN" sz="1100" b="0" i="0" u="none" strike="noStrike">
                          <a:solidFill>
                            <a:srgbClr val="FF0000"/>
                          </a:solidFill>
                          <a:effectLst/>
                          <a:latin typeface="Calibri" panose="020F0502020204030204" pitchFamily="34" charset="0"/>
                        </a:rPr>
                        <a:t>18400</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298867</a:t>
                      </a:r>
                    </a:p>
                  </a:txBody>
                  <a:tcPr marL="9525" marR="9525" marT="9525" marB="0" anchor="b">
                    <a:lnL>
                      <a:noFill/>
                    </a:lnL>
                    <a:lnR>
                      <a:noFill/>
                    </a:lnR>
                    <a:lnT>
                      <a:noFill/>
                    </a:lnT>
                    <a:lnB>
                      <a:noFill/>
                    </a:lnB>
                  </a:tcPr>
                </a:tc>
                <a:tc>
                  <a:txBody>
                    <a:bodyPr/>
                    <a:lstStyle/>
                    <a:p>
                      <a:pPr algn="r" fontAlgn="b"/>
                      <a:r>
                        <a:rPr lang="en-IN" sz="1100" b="0" i="0" u="none" strike="noStrike">
                          <a:solidFill>
                            <a:srgbClr val="FF0000"/>
                          </a:solidFill>
                          <a:effectLst/>
                          <a:latin typeface="Calibri" panose="020F0502020204030204" pitchFamily="34" charset="0"/>
                        </a:rPr>
                        <a:t>8.85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FF0000"/>
                          </a:solidFill>
                          <a:effectLst/>
                          <a:latin typeface="Calibri" panose="020F0502020204030204" pitchFamily="34" charset="0"/>
                        </a:rPr>
                        <a:t>239762</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FF0000"/>
                          </a:solidFill>
                          <a:effectLst/>
                          <a:latin typeface="Calibri" panose="020F0502020204030204" pitchFamily="34" charset="0"/>
                        </a:rPr>
                        <a:t>14.75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FF0000"/>
                          </a:solidFill>
                          <a:effectLst/>
                          <a:latin typeface="Calibri" panose="020F0502020204030204" pitchFamily="34" charset="0"/>
                        </a:rPr>
                        <a:t>59105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FF0000"/>
                          </a:solidFill>
                          <a:effectLst/>
                          <a:latin typeface="Calibri" panose="020F0502020204030204" pitchFamily="34" charset="0"/>
                        </a:rPr>
                        <a:t>-5.9</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829617993"/>
                  </a:ext>
                </a:extLst>
              </a:tr>
              <a:tr h="161764">
                <a:tc>
                  <a:txBody>
                    <a:bodyPr/>
                    <a:lstStyle/>
                    <a:p>
                      <a:pPr algn="r" fontAlgn="b"/>
                      <a:r>
                        <a:rPr lang="en-IN" sz="1100" b="0" i="0" u="none" strike="noStrike">
                          <a:solidFill>
                            <a:srgbClr val="000000"/>
                          </a:solidFill>
                          <a:effectLst/>
                          <a:latin typeface="Calibri" panose="020F0502020204030204" pitchFamily="34" charset="0"/>
                        </a:rPr>
                        <a:t>18450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204132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143899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60233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-4.25</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329976781"/>
                  </a:ext>
                </a:extLst>
              </a:tr>
              <a:tr h="161764">
                <a:tc>
                  <a:txBody>
                    <a:bodyPr/>
                    <a:lstStyle/>
                    <a:p>
                      <a:pPr algn="r" fontAlgn="b"/>
                      <a:r>
                        <a:rPr lang="en-IN" sz="1100" b="0" i="0" u="none" strike="noStrike">
                          <a:solidFill>
                            <a:srgbClr val="000000"/>
                          </a:solidFill>
                          <a:effectLst/>
                          <a:latin typeface="Calibri" panose="020F0502020204030204" pitchFamily="34" charset="0"/>
                        </a:rPr>
                        <a:t>18500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261873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225737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36136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-2.45</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00709199"/>
                  </a:ext>
                </a:extLst>
              </a:tr>
              <a:tr h="161764">
                <a:tc>
                  <a:txBody>
                    <a:bodyPr/>
                    <a:lstStyle/>
                    <a:p>
                      <a:pPr algn="r" fontAlgn="b"/>
                      <a:r>
                        <a:rPr lang="en-IN" sz="1100" b="0" i="0" u="none" strike="noStrike">
                          <a:solidFill>
                            <a:srgbClr val="000000"/>
                          </a:solidFill>
                          <a:effectLst/>
                          <a:latin typeface="Calibri" panose="020F0502020204030204" pitchFamily="34" charset="0"/>
                        </a:rPr>
                        <a:t>18550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150542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123632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26910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78275806"/>
                  </a:ext>
                </a:extLst>
              </a:tr>
              <a:tr h="161764">
                <a:tc>
                  <a:txBody>
                    <a:bodyPr/>
                    <a:lstStyle/>
                    <a:p>
                      <a:pPr algn="r" fontAlgn="b"/>
                      <a:r>
                        <a:rPr lang="en-IN" sz="1100" b="0" i="0" u="none" strike="noStrike">
                          <a:solidFill>
                            <a:srgbClr val="000000"/>
                          </a:solidFill>
                          <a:effectLst/>
                          <a:latin typeface="Calibri" panose="020F0502020204030204" pitchFamily="34" charset="0"/>
                        </a:rPr>
                        <a:t>18600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181278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0.95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197597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-16319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2332928863"/>
                  </a:ext>
                </a:extLst>
              </a:tr>
            </a:tbl>
          </a:graphicData>
        </a:graphic>
      </p:graphicFrame>
      <p:graphicFrame>
        <p:nvGraphicFramePr>
          <p:cNvPr id="3" name="Table 2">
            <a:extLst>
              <a:ext uri="{FF2B5EF4-FFF2-40B4-BE49-F238E27FC236}">
                <a16:creationId xmlns:a16="http://schemas.microsoft.com/office/drawing/2014/main" id="{1C93CB76-6E0D-F015-8F84-4866B6378A43}"/>
              </a:ext>
            </a:extLst>
          </p:cNvPr>
          <p:cNvGraphicFramePr>
            <a:graphicFrameLocks noGrp="1"/>
          </p:cNvGraphicFramePr>
          <p:nvPr>
            <p:extLst>
              <p:ext uri="{D42A27DB-BD31-4B8C-83A1-F6EECF244321}">
                <p14:modId xmlns:p14="http://schemas.microsoft.com/office/powerpoint/2010/main" val="2674582370"/>
              </p:ext>
            </p:extLst>
          </p:nvPr>
        </p:nvGraphicFramePr>
        <p:xfrm>
          <a:off x="1141047" y="3793209"/>
          <a:ext cx="8750300" cy="2667000"/>
        </p:xfrm>
        <a:graphic>
          <a:graphicData uri="http://schemas.openxmlformats.org/drawingml/2006/table">
            <a:tbl>
              <a:tblPr/>
              <a:tblGrid>
                <a:gridCol w="698247">
                  <a:extLst>
                    <a:ext uri="{9D8B030D-6E8A-4147-A177-3AD203B41FA5}">
                      <a16:colId xmlns:a16="http://schemas.microsoft.com/office/drawing/2014/main" val="1210157970"/>
                    </a:ext>
                  </a:extLst>
                </a:gridCol>
                <a:gridCol w="1193367">
                  <a:extLst>
                    <a:ext uri="{9D8B030D-6E8A-4147-A177-3AD203B41FA5}">
                      <a16:colId xmlns:a16="http://schemas.microsoft.com/office/drawing/2014/main" val="3623921619"/>
                    </a:ext>
                  </a:extLst>
                </a:gridCol>
                <a:gridCol w="1256844">
                  <a:extLst>
                    <a:ext uri="{9D8B030D-6E8A-4147-A177-3AD203B41FA5}">
                      <a16:colId xmlns:a16="http://schemas.microsoft.com/office/drawing/2014/main" val="2312956045"/>
                    </a:ext>
                  </a:extLst>
                </a:gridCol>
                <a:gridCol w="1206062">
                  <a:extLst>
                    <a:ext uri="{9D8B030D-6E8A-4147-A177-3AD203B41FA5}">
                      <a16:colId xmlns:a16="http://schemas.microsoft.com/office/drawing/2014/main" val="3625963357"/>
                    </a:ext>
                  </a:extLst>
                </a:gridCol>
                <a:gridCol w="1269539">
                  <a:extLst>
                    <a:ext uri="{9D8B030D-6E8A-4147-A177-3AD203B41FA5}">
                      <a16:colId xmlns:a16="http://schemas.microsoft.com/office/drawing/2014/main" val="1378918162"/>
                    </a:ext>
                  </a:extLst>
                </a:gridCol>
                <a:gridCol w="901373">
                  <a:extLst>
                    <a:ext uri="{9D8B030D-6E8A-4147-A177-3AD203B41FA5}">
                      <a16:colId xmlns:a16="http://schemas.microsoft.com/office/drawing/2014/main" val="1621596282"/>
                    </a:ext>
                  </a:extLst>
                </a:gridCol>
                <a:gridCol w="1320321">
                  <a:extLst>
                    <a:ext uri="{9D8B030D-6E8A-4147-A177-3AD203B41FA5}">
                      <a16:colId xmlns:a16="http://schemas.microsoft.com/office/drawing/2014/main" val="2865021489"/>
                    </a:ext>
                  </a:extLst>
                </a:gridCol>
                <a:gridCol w="904547">
                  <a:extLst>
                    <a:ext uri="{9D8B030D-6E8A-4147-A177-3AD203B41FA5}">
                      <a16:colId xmlns:a16="http://schemas.microsoft.com/office/drawing/2014/main" val="263849768"/>
                    </a:ext>
                  </a:extLst>
                </a:gridCol>
              </a:tblGrid>
              <a:tr h="190500">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PE_OI_03:32:33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PE_LTP_03:32:33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PE_OI_09:23:43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PE_LTP_09:23:43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2340122402"/>
                  </a:ext>
                </a:extLst>
              </a:tr>
              <a:tr h="190500">
                <a:tc>
                  <a:txBody>
                    <a:bodyPr/>
                    <a:lstStyle/>
                    <a:p>
                      <a:pPr algn="r" fontAlgn="b"/>
                      <a:r>
                        <a:rPr lang="en-IN" sz="1100" b="0" i="0" u="none" strike="noStrike">
                          <a:solidFill>
                            <a:srgbClr val="000000"/>
                          </a:solidFill>
                          <a:effectLst/>
                          <a:latin typeface="Calibri" panose="020F0502020204030204" pitchFamily="34" charset="0"/>
                        </a:rPr>
                        <a:t>18000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182829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207545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-24716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3181483536"/>
                  </a:ext>
                </a:extLst>
              </a:tr>
              <a:tr h="190500">
                <a:tc>
                  <a:txBody>
                    <a:bodyPr/>
                    <a:lstStyle/>
                    <a:p>
                      <a:pPr algn="r" fontAlgn="b"/>
                      <a:r>
                        <a:rPr lang="en-IN" sz="1100" b="0" i="0" u="none" strike="noStrike">
                          <a:solidFill>
                            <a:srgbClr val="000000"/>
                          </a:solidFill>
                          <a:effectLst/>
                          <a:latin typeface="Calibri" panose="020F0502020204030204" pitchFamily="34" charset="0"/>
                        </a:rPr>
                        <a:t>18050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66489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78986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-12497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-3.9</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4011776713"/>
                  </a:ext>
                </a:extLst>
              </a:tr>
              <a:tr h="190500">
                <a:tc>
                  <a:txBody>
                    <a:bodyPr/>
                    <a:lstStyle/>
                    <a:p>
                      <a:pPr algn="r" fontAlgn="b"/>
                      <a:r>
                        <a:rPr lang="en-IN" sz="1100" b="0" i="0" u="none" strike="noStrike">
                          <a:solidFill>
                            <a:srgbClr val="000000"/>
                          </a:solidFill>
                          <a:effectLst/>
                          <a:latin typeface="Calibri" panose="020F0502020204030204" pitchFamily="34" charset="0"/>
                        </a:rPr>
                        <a:t>18100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178713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170153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8560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-6.15</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243637910"/>
                  </a:ext>
                </a:extLst>
              </a:tr>
              <a:tr h="190500">
                <a:tc>
                  <a:txBody>
                    <a:bodyPr/>
                    <a:lstStyle/>
                    <a:p>
                      <a:pPr algn="r" fontAlgn="b"/>
                      <a:r>
                        <a:rPr lang="en-IN" sz="1100" b="0" i="0" u="none" strike="noStrike">
                          <a:solidFill>
                            <a:srgbClr val="000000"/>
                          </a:solidFill>
                          <a:effectLst/>
                          <a:latin typeface="Calibri" panose="020F0502020204030204" pitchFamily="34" charset="0"/>
                        </a:rPr>
                        <a:t>18150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115735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112547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3188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-8.15</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2701162280"/>
                  </a:ext>
                </a:extLst>
              </a:tr>
              <a:tr h="190500">
                <a:tc>
                  <a:txBody>
                    <a:bodyPr/>
                    <a:lstStyle/>
                    <a:p>
                      <a:pPr algn="r" fontAlgn="b"/>
                      <a:r>
                        <a:rPr lang="en-IN" sz="1100" b="0" i="0" u="none" strike="noStrike" dirty="0">
                          <a:solidFill>
                            <a:srgbClr val="00B050"/>
                          </a:solidFill>
                          <a:effectLst/>
                          <a:latin typeface="Calibri" panose="020F0502020204030204" pitchFamily="34" charset="0"/>
                        </a:rPr>
                        <a:t>18200</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251057</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12.3</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245681</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24.8</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5376</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-12.5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673329891"/>
                  </a:ext>
                </a:extLst>
              </a:tr>
              <a:tr h="190500">
                <a:tc>
                  <a:txBody>
                    <a:bodyPr/>
                    <a:lstStyle/>
                    <a:p>
                      <a:pPr algn="r" fontAlgn="b"/>
                      <a:r>
                        <a:rPr lang="en-IN" sz="1100" b="0" i="0" u="none" strike="noStrike" dirty="0">
                          <a:solidFill>
                            <a:srgbClr val="00B050"/>
                          </a:solidFill>
                          <a:effectLst/>
                          <a:latin typeface="Calibri" panose="020F0502020204030204" pitchFamily="34" charset="0"/>
                        </a:rPr>
                        <a:t>18250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B050"/>
                          </a:solidFill>
                          <a:effectLst/>
                          <a:latin typeface="Calibri" panose="020F0502020204030204" pitchFamily="34" charset="0"/>
                        </a:rPr>
                        <a:t>126187</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22.9</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114173</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39.4</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12014</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-16.5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400245323"/>
                  </a:ext>
                </a:extLst>
              </a:tr>
              <a:tr h="190500">
                <a:tc>
                  <a:txBody>
                    <a:bodyPr/>
                    <a:lstStyle/>
                    <a:p>
                      <a:pPr algn="r" fontAlgn="b"/>
                      <a:r>
                        <a:rPr lang="en-IN" sz="1100" b="0" i="0" u="none" strike="noStrike">
                          <a:solidFill>
                            <a:srgbClr val="00B050"/>
                          </a:solidFill>
                          <a:effectLst/>
                          <a:latin typeface="Calibri" panose="020F0502020204030204" pitchFamily="34" charset="0"/>
                        </a:rPr>
                        <a:t>18300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B050"/>
                          </a:solidFill>
                          <a:effectLst/>
                          <a:latin typeface="Calibri" panose="020F0502020204030204" pitchFamily="34" charset="0"/>
                        </a:rPr>
                        <a:t>233783</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40.45</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265001</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60.2</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-31218</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-19.75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3219383605"/>
                  </a:ext>
                </a:extLst>
              </a:tr>
              <a:tr h="190500">
                <a:tc>
                  <a:txBody>
                    <a:bodyPr/>
                    <a:lstStyle/>
                    <a:p>
                      <a:pPr algn="r" fontAlgn="b"/>
                      <a:r>
                        <a:rPr lang="en-IN" sz="1100" b="0" i="0" u="none" strike="noStrike">
                          <a:solidFill>
                            <a:srgbClr val="00B050"/>
                          </a:solidFill>
                          <a:effectLst/>
                          <a:latin typeface="Calibri" panose="020F0502020204030204" pitchFamily="34" charset="0"/>
                        </a:rPr>
                        <a:t>18350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B050"/>
                          </a:solidFill>
                          <a:effectLst/>
                          <a:latin typeface="Calibri" panose="020F0502020204030204" pitchFamily="34" charset="0"/>
                        </a:rPr>
                        <a:t>46775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B050"/>
                          </a:solidFill>
                          <a:effectLst/>
                          <a:latin typeface="Calibri" panose="020F0502020204030204" pitchFamily="34" charset="0"/>
                        </a:rPr>
                        <a:t>69.55</a:t>
                      </a:r>
                    </a:p>
                  </a:txBody>
                  <a:tcPr marL="9525" marR="9525" marT="9525" marB="0" anchor="b">
                    <a:lnL>
                      <a:noFill/>
                    </a:lnL>
                    <a:lnR>
                      <a:noFill/>
                    </a:lnR>
                    <a:lnT>
                      <a:noFill/>
                    </a:lnT>
                    <a:lnB>
                      <a:noFill/>
                    </a:lnB>
                  </a:tcPr>
                </a:tc>
                <a:tc>
                  <a:txBody>
                    <a:bodyPr/>
                    <a:lstStyle/>
                    <a:p>
                      <a:pPr algn="r" fontAlgn="b"/>
                      <a:r>
                        <a:rPr lang="en-IN" sz="1100" b="0" i="0" u="none" strike="noStrike">
                          <a:solidFill>
                            <a:srgbClr val="00B050"/>
                          </a:solidFill>
                          <a:effectLst/>
                          <a:latin typeface="Calibri" panose="020F0502020204030204" pitchFamily="34" charset="0"/>
                        </a:rPr>
                        <a:t>76278</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B050"/>
                          </a:solidFill>
                          <a:effectLst/>
                          <a:latin typeface="Calibri" panose="020F0502020204030204" pitchFamily="34" charset="0"/>
                        </a:rPr>
                        <a:t>90.25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B050"/>
                          </a:solidFill>
                          <a:effectLst/>
                          <a:latin typeface="Calibri" panose="020F0502020204030204" pitchFamily="34" charset="0"/>
                        </a:rPr>
                        <a:t>-29503</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B050"/>
                          </a:solidFill>
                          <a:effectLst/>
                          <a:latin typeface="Calibri" panose="020F0502020204030204" pitchFamily="34" charset="0"/>
                        </a:rPr>
                        <a:t>-20.7</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B05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95904775"/>
                  </a:ext>
                </a:extLst>
              </a:tr>
              <a:tr h="190500">
                <a:tc>
                  <a:txBody>
                    <a:bodyPr/>
                    <a:lstStyle/>
                    <a:p>
                      <a:pPr algn="r" fontAlgn="b"/>
                      <a:r>
                        <a:rPr lang="en-IN" sz="1100" b="0" i="0" u="none" strike="noStrike">
                          <a:solidFill>
                            <a:srgbClr val="000000"/>
                          </a:solidFill>
                          <a:effectLst/>
                          <a:latin typeface="Calibri" panose="020F0502020204030204" pitchFamily="34" charset="0"/>
                        </a:rPr>
                        <a:t>18400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69297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107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94152</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127.5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-24855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-20.5</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1185047483"/>
                  </a:ext>
                </a:extLst>
              </a:tr>
              <a:tr h="190500">
                <a:tc>
                  <a:txBody>
                    <a:bodyPr/>
                    <a:lstStyle/>
                    <a:p>
                      <a:pPr algn="r" fontAlgn="b"/>
                      <a:r>
                        <a:rPr lang="en-IN" sz="1100" b="0" i="0" u="none" strike="noStrike">
                          <a:solidFill>
                            <a:srgbClr val="000000"/>
                          </a:solidFill>
                          <a:effectLst/>
                          <a:latin typeface="Calibri" panose="020F0502020204030204" pitchFamily="34" charset="0"/>
                        </a:rPr>
                        <a:t>18450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10340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150.75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14273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170.05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-3933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-19.3</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3447530339"/>
                  </a:ext>
                </a:extLst>
              </a:tr>
              <a:tr h="190500">
                <a:tc>
                  <a:txBody>
                    <a:bodyPr/>
                    <a:lstStyle/>
                    <a:p>
                      <a:pPr algn="r" fontAlgn="b"/>
                      <a:r>
                        <a:rPr lang="en-IN" sz="1100" b="0" i="0" u="none" strike="noStrike">
                          <a:solidFill>
                            <a:srgbClr val="000000"/>
                          </a:solidFill>
                          <a:effectLst/>
                          <a:latin typeface="Calibri" panose="020F0502020204030204" pitchFamily="34" charset="0"/>
                        </a:rPr>
                        <a:t>18500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28732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36818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217.65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-8086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-17.65</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3583551724"/>
                  </a:ext>
                </a:extLst>
              </a:tr>
              <a:tr h="190500">
                <a:tc>
                  <a:txBody>
                    <a:bodyPr/>
                    <a:lstStyle/>
                    <a:p>
                      <a:pPr algn="r" fontAlgn="b"/>
                      <a:r>
                        <a:rPr lang="en-IN" sz="1100" b="0" i="0" u="none" strike="noStrike">
                          <a:solidFill>
                            <a:srgbClr val="000000"/>
                          </a:solidFill>
                          <a:effectLst/>
                          <a:latin typeface="Calibri" panose="020F0502020204030204" pitchFamily="34" charset="0"/>
                        </a:rPr>
                        <a:t>18550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2164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249.7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3523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266.9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-1359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-17.2</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4231233850"/>
                  </a:ext>
                </a:extLst>
              </a:tr>
              <a:tr h="190500">
                <a:tc>
                  <a:txBody>
                    <a:bodyPr/>
                    <a:lstStyle/>
                    <a:p>
                      <a:pPr algn="r" fontAlgn="b"/>
                      <a:r>
                        <a:rPr lang="en-IN" sz="1100" b="0" i="0" u="none" strike="noStrike">
                          <a:solidFill>
                            <a:srgbClr val="000000"/>
                          </a:solidFill>
                          <a:effectLst/>
                          <a:latin typeface="Calibri" panose="020F0502020204030204" pitchFamily="34" charset="0"/>
                        </a:rPr>
                        <a:t>18600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8138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299.15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10696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314.55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-15.4</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1363884021"/>
                  </a:ext>
                </a:extLst>
              </a:tr>
            </a:tbl>
          </a:graphicData>
        </a:graphic>
      </p:graphicFrame>
    </p:spTree>
    <p:extLst>
      <p:ext uri="{BB962C8B-B14F-4D97-AF65-F5344CB8AC3E}">
        <p14:creationId xmlns:p14="http://schemas.microsoft.com/office/powerpoint/2010/main" val="5320579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A61E3-E6F4-D8BF-24E9-6E49E199A810}"/>
              </a:ext>
            </a:extLst>
          </p:cNvPr>
          <p:cNvSpPr>
            <a:spLocks noGrp="1"/>
          </p:cNvSpPr>
          <p:nvPr>
            <p:ph type="title"/>
          </p:nvPr>
        </p:nvSpPr>
        <p:spPr>
          <a:xfrm>
            <a:off x="838200" y="365125"/>
            <a:ext cx="10515600" cy="610821"/>
          </a:xfrm>
        </p:spPr>
        <p:txBody>
          <a:bodyPr>
            <a:normAutofit fontScale="90000"/>
          </a:bodyPr>
          <a:lstStyle/>
          <a:p>
            <a:r>
              <a:rPr lang="en-US" sz="4400" dirty="0"/>
              <a:t>24-05-2023</a:t>
            </a:r>
            <a:endParaRPr lang="en-IN" dirty="0"/>
          </a:p>
        </p:txBody>
      </p:sp>
      <p:pic>
        <p:nvPicPr>
          <p:cNvPr id="4" name="Picture 3">
            <a:extLst>
              <a:ext uri="{FF2B5EF4-FFF2-40B4-BE49-F238E27FC236}">
                <a16:creationId xmlns:a16="http://schemas.microsoft.com/office/drawing/2014/main" id="{0E320B8A-D268-CFB9-83EC-A116EB5CC4BD}"/>
              </a:ext>
            </a:extLst>
          </p:cNvPr>
          <p:cNvPicPr>
            <a:picLocks noChangeAspect="1"/>
          </p:cNvPicPr>
          <p:nvPr/>
        </p:nvPicPr>
        <p:blipFill>
          <a:blip r:embed="rId3"/>
          <a:stretch>
            <a:fillRect/>
          </a:stretch>
        </p:blipFill>
        <p:spPr>
          <a:xfrm>
            <a:off x="0" y="975946"/>
            <a:ext cx="12192000" cy="5238525"/>
          </a:xfrm>
          <a:prstGeom prst="rect">
            <a:avLst/>
          </a:prstGeom>
        </p:spPr>
      </p:pic>
    </p:spTree>
    <p:extLst>
      <p:ext uri="{BB962C8B-B14F-4D97-AF65-F5344CB8AC3E}">
        <p14:creationId xmlns:p14="http://schemas.microsoft.com/office/powerpoint/2010/main" val="949832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8AE4F-72B9-B1FA-6B6E-0B82B387052B}"/>
              </a:ext>
            </a:extLst>
          </p:cNvPr>
          <p:cNvSpPr>
            <a:spLocks noGrp="1"/>
          </p:cNvSpPr>
          <p:nvPr>
            <p:ph type="title"/>
          </p:nvPr>
        </p:nvSpPr>
        <p:spPr>
          <a:xfrm>
            <a:off x="838200" y="365126"/>
            <a:ext cx="10515600" cy="584444"/>
          </a:xfrm>
        </p:spPr>
        <p:txBody>
          <a:bodyPr>
            <a:normAutofit fontScale="90000"/>
          </a:bodyPr>
          <a:lstStyle/>
          <a:p>
            <a:r>
              <a:rPr lang="en-US" sz="4400" dirty="0"/>
              <a:t>24-05-2023</a:t>
            </a:r>
            <a:endParaRPr lang="en-IN" dirty="0"/>
          </a:p>
        </p:txBody>
      </p:sp>
      <p:pic>
        <p:nvPicPr>
          <p:cNvPr id="4" name="Picture 3">
            <a:extLst>
              <a:ext uri="{FF2B5EF4-FFF2-40B4-BE49-F238E27FC236}">
                <a16:creationId xmlns:a16="http://schemas.microsoft.com/office/drawing/2014/main" id="{CB973174-C4EF-14BE-46B5-98D8B7F3462F}"/>
              </a:ext>
            </a:extLst>
          </p:cNvPr>
          <p:cNvPicPr>
            <a:picLocks noChangeAspect="1"/>
          </p:cNvPicPr>
          <p:nvPr/>
        </p:nvPicPr>
        <p:blipFill>
          <a:blip r:embed="rId3"/>
          <a:stretch>
            <a:fillRect/>
          </a:stretch>
        </p:blipFill>
        <p:spPr>
          <a:xfrm>
            <a:off x="0" y="1062596"/>
            <a:ext cx="12192000" cy="5295515"/>
          </a:xfrm>
          <a:prstGeom prst="rect">
            <a:avLst/>
          </a:prstGeom>
        </p:spPr>
      </p:pic>
    </p:spTree>
    <p:extLst>
      <p:ext uri="{BB962C8B-B14F-4D97-AF65-F5344CB8AC3E}">
        <p14:creationId xmlns:p14="http://schemas.microsoft.com/office/powerpoint/2010/main" val="20194926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4936E-4847-6C58-3293-7BCF0E431EAB}"/>
              </a:ext>
            </a:extLst>
          </p:cNvPr>
          <p:cNvSpPr>
            <a:spLocks noGrp="1"/>
          </p:cNvSpPr>
          <p:nvPr>
            <p:ph type="title"/>
          </p:nvPr>
        </p:nvSpPr>
        <p:spPr>
          <a:xfrm>
            <a:off x="838200" y="365126"/>
            <a:ext cx="10515600" cy="687820"/>
          </a:xfrm>
        </p:spPr>
        <p:txBody>
          <a:bodyPr>
            <a:normAutofit fontScale="90000"/>
          </a:bodyPr>
          <a:lstStyle/>
          <a:p>
            <a:r>
              <a:rPr lang="en-US" dirty="0"/>
              <a:t>Conclusion</a:t>
            </a:r>
            <a:endParaRPr lang="en-IN" dirty="0"/>
          </a:p>
        </p:txBody>
      </p:sp>
      <p:sp>
        <p:nvSpPr>
          <p:cNvPr id="4" name="TextBox 3">
            <a:extLst>
              <a:ext uri="{FF2B5EF4-FFF2-40B4-BE49-F238E27FC236}">
                <a16:creationId xmlns:a16="http://schemas.microsoft.com/office/drawing/2014/main" id="{BBF1BD69-E888-7B5A-6C83-EA33A1716EB9}"/>
              </a:ext>
            </a:extLst>
          </p:cNvPr>
          <p:cNvSpPr txBox="1"/>
          <p:nvPr/>
        </p:nvSpPr>
        <p:spPr>
          <a:xfrm>
            <a:off x="668594" y="1307690"/>
            <a:ext cx="10992464" cy="1477328"/>
          </a:xfrm>
          <a:prstGeom prst="rect">
            <a:avLst/>
          </a:prstGeom>
          <a:noFill/>
        </p:spPr>
        <p:txBody>
          <a:bodyPr wrap="square" rtlCol="0">
            <a:spAutoFit/>
          </a:bodyPr>
          <a:lstStyle/>
          <a:p>
            <a:pPr marL="285750" indent="-285750">
              <a:buFont typeface="Arial" panose="020B0604020202020204" pitchFamily="34" charset="0"/>
              <a:buChar char="•"/>
            </a:pPr>
            <a:r>
              <a:rPr lang="en-US" dirty="0"/>
              <a:t>Bullish as at final 45 mins 18300 and 18400 saw shot covering even though the over all there is shot build up at these strike prices from the start of the day signifying change in view of the some sellers.</a:t>
            </a:r>
          </a:p>
          <a:p>
            <a:pPr marL="285750" indent="-285750">
              <a:buFont typeface="Arial" panose="020B0604020202020204" pitchFamily="34" charset="0"/>
              <a:buChar char="•"/>
            </a:pPr>
            <a:r>
              <a:rPr lang="en-US" dirty="0"/>
              <a:t>Long covering on the put side at all the higher strike price above 18300 both on final 45 mins and over all market signifying the bullish view next day</a:t>
            </a:r>
          </a:p>
          <a:p>
            <a:pPr marL="285750" indent="-285750">
              <a:buFont typeface="Arial" panose="020B0604020202020204" pitchFamily="34" charset="0"/>
              <a:buChar char="•"/>
            </a:pPr>
            <a:r>
              <a:rPr lang="en-US" dirty="0"/>
              <a:t>Vote is bullish View</a:t>
            </a:r>
          </a:p>
        </p:txBody>
      </p:sp>
    </p:spTree>
    <p:extLst>
      <p:ext uri="{BB962C8B-B14F-4D97-AF65-F5344CB8AC3E}">
        <p14:creationId xmlns:p14="http://schemas.microsoft.com/office/powerpoint/2010/main" val="35994250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2236-4238-8650-6A58-49465C4572CC}"/>
              </a:ext>
            </a:extLst>
          </p:cNvPr>
          <p:cNvSpPr>
            <a:spLocks noGrp="1"/>
          </p:cNvSpPr>
          <p:nvPr>
            <p:ph type="title"/>
          </p:nvPr>
        </p:nvSpPr>
        <p:spPr>
          <a:xfrm>
            <a:off x="838200" y="365126"/>
            <a:ext cx="10515600" cy="669348"/>
          </a:xfrm>
        </p:spPr>
        <p:txBody>
          <a:bodyPr>
            <a:normAutofit fontScale="90000"/>
          </a:bodyPr>
          <a:lstStyle/>
          <a:p>
            <a:r>
              <a:rPr lang="en-US" dirty="0"/>
              <a:t>29-05-2023</a:t>
            </a:r>
            <a:endParaRPr lang="en-IN" dirty="0"/>
          </a:p>
        </p:txBody>
      </p:sp>
    </p:spTree>
    <p:extLst>
      <p:ext uri="{BB962C8B-B14F-4D97-AF65-F5344CB8AC3E}">
        <p14:creationId xmlns:p14="http://schemas.microsoft.com/office/powerpoint/2010/main" val="799691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72236-4238-8650-6A58-49465C4572CC}"/>
              </a:ext>
            </a:extLst>
          </p:cNvPr>
          <p:cNvSpPr>
            <a:spLocks noGrp="1"/>
          </p:cNvSpPr>
          <p:nvPr>
            <p:ph type="title"/>
          </p:nvPr>
        </p:nvSpPr>
        <p:spPr>
          <a:xfrm>
            <a:off x="838200" y="365126"/>
            <a:ext cx="10515600" cy="669348"/>
          </a:xfrm>
        </p:spPr>
        <p:txBody>
          <a:bodyPr>
            <a:normAutofit fontScale="90000"/>
          </a:bodyPr>
          <a:lstStyle/>
          <a:p>
            <a:r>
              <a:rPr lang="en-US" dirty="0"/>
              <a:t>29-05-2023</a:t>
            </a:r>
            <a:endParaRPr lang="en-IN" dirty="0"/>
          </a:p>
        </p:txBody>
      </p:sp>
    </p:spTree>
    <p:extLst>
      <p:ext uri="{BB962C8B-B14F-4D97-AF65-F5344CB8AC3E}">
        <p14:creationId xmlns:p14="http://schemas.microsoft.com/office/powerpoint/2010/main" val="3709175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69515-66AA-2323-211B-518320665C1B}"/>
              </a:ext>
            </a:extLst>
          </p:cNvPr>
          <p:cNvSpPr>
            <a:spLocks noGrp="1"/>
          </p:cNvSpPr>
          <p:nvPr>
            <p:ph type="title"/>
          </p:nvPr>
        </p:nvSpPr>
        <p:spPr>
          <a:xfrm>
            <a:off x="838200" y="365125"/>
            <a:ext cx="10515600" cy="540039"/>
          </a:xfrm>
        </p:spPr>
        <p:txBody>
          <a:bodyPr>
            <a:normAutofit fontScale="90000"/>
          </a:bodyPr>
          <a:lstStyle/>
          <a:p>
            <a:r>
              <a:rPr lang="en-US" dirty="0"/>
              <a:t>29-05-2023</a:t>
            </a:r>
            <a:endParaRPr lang="en-IN" dirty="0"/>
          </a:p>
        </p:txBody>
      </p:sp>
    </p:spTree>
    <p:extLst>
      <p:ext uri="{BB962C8B-B14F-4D97-AF65-F5344CB8AC3E}">
        <p14:creationId xmlns:p14="http://schemas.microsoft.com/office/powerpoint/2010/main" val="16797857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DA28C-CC61-AA73-9A1C-B33008B08B19}"/>
              </a:ext>
            </a:extLst>
          </p:cNvPr>
          <p:cNvSpPr>
            <a:spLocks noGrp="1"/>
          </p:cNvSpPr>
          <p:nvPr>
            <p:ph type="title"/>
          </p:nvPr>
        </p:nvSpPr>
        <p:spPr>
          <a:xfrm>
            <a:off x="838200" y="365125"/>
            <a:ext cx="10515600" cy="660111"/>
          </a:xfrm>
        </p:spPr>
        <p:txBody>
          <a:bodyPr>
            <a:normAutofit fontScale="90000"/>
          </a:bodyPr>
          <a:lstStyle/>
          <a:p>
            <a:r>
              <a:rPr lang="en-US" dirty="0"/>
              <a:t>30-05-2023</a:t>
            </a:r>
            <a:endParaRPr lang="en-IN" dirty="0"/>
          </a:p>
        </p:txBody>
      </p:sp>
    </p:spTree>
    <p:extLst>
      <p:ext uri="{BB962C8B-B14F-4D97-AF65-F5344CB8AC3E}">
        <p14:creationId xmlns:p14="http://schemas.microsoft.com/office/powerpoint/2010/main" val="168502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DA28C-CC61-AA73-9A1C-B33008B08B19}"/>
              </a:ext>
            </a:extLst>
          </p:cNvPr>
          <p:cNvSpPr>
            <a:spLocks noGrp="1"/>
          </p:cNvSpPr>
          <p:nvPr>
            <p:ph type="title"/>
          </p:nvPr>
        </p:nvSpPr>
        <p:spPr>
          <a:xfrm>
            <a:off x="838200" y="365125"/>
            <a:ext cx="10515600" cy="660111"/>
          </a:xfrm>
        </p:spPr>
        <p:txBody>
          <a:bodyPr>
            <a:normAutofit fontScale="90000"/>
          </a:bodyPr>
          <a:lstStyle/>
          <a:p>
            <a:r>
              <a:rPr lang="en-US" dirty="0"/>
              <a:t>30-05-2023</a:t>
            </a:r>
            <a:endParaRPr lang="en-IN" dirty="0"/>
          </a:p>
        </p:txBody>
      </p:sp>
    </p:spTree>
    <p:extLst>
      <p:ext uri="{BB962C8B-B14F-4D97-AF65-F5344CB8AC3E}">
        <p14:creationId xmlns:p14="http://schemas.microsoft.com/office/powerpoint/2010/main" val="3797374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DA28C-CC61-AA73-9A1C-B33008B08B19}"/>
              </a:ext>
            </a:extLst>
          </p:cNvPr>
          <p:cNvSpPr>
            <a:spLocks noGrp="1"/>
          </p:cNvSpPr>
          <p:nvPr>
            <p:ph type="title"/>
          </p:nvPr>
        </p:nvSpPr>
        <p:spPr>
          <a:xfrm>
            <a:off x="838200" y="365125"/>
            <a:ext cx="10515600" cy="660111"/>
          </a:xfrm>
        </p:spPr>
        <p:txBody>
          <a:bodyPr>
            <a:normAutofit fontScale="90000"/>
          </a:bodyPr>
          <a:lstStyle/>
          <a:p>
            <a:r>
              <a:rPr lang="en-US" dirty="0"/>
              <a:t>30-05-2023</a:t>
            </a:r>
            <a:endParaRPr lang="en-IN" dirty="0"/>
          </a:p>
        </p:txBody>
      </p:sp>
    </p:spTree>
    <p:extLst>
      <p:ext uri="{BB962C8B-B14F-4D97-AF65-F5344CB8AC3E}">
        <p14:creationId xmlns:p14="http://schemas.microsoft.com/office/powerpoint/2010/main" val="29012581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1BD2-4C18-E994-BDF0-358B715D66AE}"/>
              </a:ext>
            </a:extLst>
          </p:cNvPr>
          <p:cNvSpPr>
            <a:spLocks noGrp="1"/>
          </p:cNvSpPr>
          <p:nvPr>
            <p:ph type="title"/>
          </p:nvPr>
        </p:nvSpPr>
        <p:spPr>
          <a:xfrm>
            <a:off x="838200" y="365125"/>
            <a:ext cx="10515600" cy="650875"/>
          </a:xfrm>
        </p:spPr>
        <p:txBody>
          <a:bodyPr>
            <a:normAutofit fontScale="90000"/>
          </a:bodyPr>
          <a:lstStyle/>
          <a:p>
            <a:r>
              <a:rPr lang="en-US" dirty="0"/>
              <a:t>31-05-2023</a:t>
            </a:r>
            <a:endParaRPr lang="en-IN" dirty="0"/>
          </a:p>
        </p:txBody>
      </p:sp>
    </p:spTree>
    <p:extLst>
      <p:ext uri="{BB962C8B-B14F-4D97-AF65-F5344CB8AC3E}">
        <p14:creationId xmlns:p14="http://schemas.microsoft.com/office/powerpoint/2010/main" val="1312635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1BD2-4C18-E994-BDF0-358B715D66AE}"/>
              </a:ext>
            </a:extLst>
          </p:cNvPr>
          <p:cNvSpPr>
            <a:spLocks noGrp="1"/>
          </p:cNvSpPr>
          <p:nvPr>
            <p:ph type="title"/>
          </p:nvPr>
        </p:nvSpPr>
        <p:spPr>
          <a:xfrm>
            <a:off x="838200" y="365125"/>
            <a:ext cx="10515600" cy="650875"/>
          </a:xfrm>
        </p:spPr>
        <p:txBody>
          <a:bodyPr>
            <a:normAutofit fontScale="90000"/>
          </a:bodyPr>
          <a:lstStyle/>
          <a:p>
            <a:r>
              <a:rPr lang="en-US" dirty="0"/>
              <a:t>31-05-2023</a:t>
            </a:r>
            <a:endParaRPr lang="en-IN" dirty="0"/>
          </a:p>
        </p:txBody>
      </p:sp>
    </p:spTree>
    <p:extLst>
      <p:ext uri="{BB962C8B-B14F-4D97-AF65-F5344CB8AC3E}">
        <p14:creationId xmlns:p14="http://schemas.microsoft.com/office/powerpoint/2010/main" val="1572070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91BD2-4C18-E994-BDF0-358B715D66AE}"/>
              </a:ext>
            </a:extLst>
          </p:cNvPr>
          <p:cNvSpPr>
            <a:spLocks noGrp="1"/>
          </p:cNvSpPr>
          <p:nvPr>
            <p:ph type="title"/>
          </p:nvPr>
        </p:nvSpPr>
        <p:spPr>
          <a:xfrm>
            <a:off x="838200" y="365125"/>
            <a:ext cx="10515600" cy="650875"/>
          </a:xfrm>
        </p:spPr>
        <p:txBody>
          <a:bodyPr>
            <a:normAutofit fontScale="90000"/>
          </a:bodyPr>
          <a:lstStyle/>
          <a:p>
            <a:r>
              <a:rPr lang="en-US" dirty="0"/>
              <a:t>31-05-2023</a:t>
            </a:r>
            <a:endParaRPr lang="en-IN" dirty="0"/>
          </a:p>
        </p:txBody>
      </p:sp>
    </p:spTree>
    <p:extLst>
      <p:ext uri="{BB962C8B-B14F-4D97-AF65-F5344CB8AC3E}">
        <p14:creationId xmlns:p14="http://schemas.microsoft.com/office/powerpoint/2010/main" val="3935782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55F02-DBDA-18E8-4595-6FF83975528C}"/>
              </a:ext>
            </a:extLst>
          </p:cNvPr>
          <p:cNvSpPr>
            <a:spLocks noGrp="1"/>
          </p:cNvSpPr>
          <p:nvPr>
            <p:ph type="title"/>
          </p:nvPr>
        </p:nvSpPr>
        <p:spPr>
          <a:xfrm>
            <a:off x="838200" y="365126"/>
            <a:ext cx="10515600" cy="687820"/>
          </a:xfrm>
        </p:spPr>
        <p:txBody>
          <a:bodyPr>
            <a:normAutofit fontScale="90000"/>
          </a:bodyPr>
          <a:lstStyle/>
          <a:p>
            <a:r>
              <a:rPr lang="en-US" dirty="0"/>
              <a:t>02-06-2023</a:t>
            </a:r>
            <a:endParaRPr lang="en-IN" dirty="0"/>
          </a:p>
        </p:txBody>
      </p:sp>
      <p:graphicFrame>
        <p:nvGraphicFramePr>
          <p:cNvPr id="4" name="Table 3">
            <a:extLst>
              <a:ext uri="{FF2B5EF4-FFF2-40B4-BE49-F238E27FC236}">
                <a16:creationId xmlns:a16="http://schemas.microsoft.com/office/drawing/2014/main" id="{6BA4C6C5-AF37-A149-E4BF-A5FAF35CF576}"/>
              </a:ext>
            </a:extLst>
          </p:cNvPr>
          <p:cNvGraphicFramePr>
            <a:graphicFrameLocks noGrp="1"/>
          </p:cNvGraphicFramePr>
          <p:nvPr>
            <p:extLst>
              <p:ext uri="{D42A27DB-BD31-4B8C-83A1-F6EECF244321}">
                <p14:modId xmlns:p14="http://schemas.microsoft.com/office/powerpoint/2010/main" val="547488033"/>
              </p:ext>
            </p:extLst>
          </p:nvPr>
        </p:nvGraphicFramePr>
        <p:xfrm>
          <a:off x="249381" y="1052946"/>
          <a:ext cx="11619343" cy="5726532"/>
        </p:xfrm>
        <a:graphic>
          <a:graphicData uri="http://schemas.openxmlformats.org/drawingml/2006/table">
            <a:tbl>
              <a:tblPr>
                <a:tableStyleId>{5C22544A-7EE6-4342-B048-85BDC9FD1C3A}</a:tableStyleId>
              </a:tblPr>
              <a:tblGrid>
                <a:gridCol w="1281699">
                  <a:extLst>
                    <a:ext uri="{9D8B030D-6E8A-4147-A177-3AD203B41FA5}">
                      <a16:colId xmlns:a16="http://schemas.microsoft.com/office/drawing/2014/main" val="3711532158"/>
                    </a:ext>
                  </a:extLst>
                </a:gridCol>
                <a:gridCol w="1281699">
                  <a:extLst>
                    <a:ext uri="{9D8B030D-6E8A-4147-A177-3AD203B41FA5}">
                      <a16:colId xmlns:a16="http://schemas.microsoft.com/office/drawing/2014/main" val="1282364035"/>
                    </a:ext>
                  </a:extLst>
                </a:gridCol>
                <a:gridCol w="1722941">
                  <a:extLst>
                    <a:ext uri="{9D8B030D-6E8A-4147-A177-3AD203B41FA5}">
                      <a16:colId xmlns:a16="http://schemas.microsoft.com/office/drawing/2014/main" val="1097473782"/>
                    </a:ext>
                  </a:extLst>
                </a:gridCol>
                <a:gridCol w="1260689">
                  <a:extLst>
                    <a:ext uri="{9D8B030D-6E8A-4147-A177-3AD203B41FA5}">
                      <a16:colId xmlns:a16="http://schemas.microsoft.com/office/drawing/2014/main" val="3521282603"/>
                    </a:ext>
                  </a:extLst>
                </a:gridCol>
                <a:gridCol w="1260689">
                  <a:extLst>
                    <a:ext uri="{9D8B030D-6E8A-4147-A177-3AD203B41FA5}">
                      <a16:colId xmlns:a16="http://schemas.microsoft.com/office/drawing/2014/main" val="1335940055"/>
                    </a:ext>
                  </a:extLst>
                </a:gridCol>
                <a:gridCol w="1344734">
                  <a:extLst>
                    <a:ext uri="{9D8B030D-6E8A-4147-A177-3AD203B41FA5}">
                      <a16:colId xmlns:a16="http://schemas.microsoft.com/office/drawing/2014/main" val="1352788369"/>
                    </a:ext>
                  </a:extLst>
                </a:gridCol>
                <a:gridCol w="2059124">
                  <a:extLst>
                    <a:ext uri="{9D8B030D-6E8A-4147-A177-3AD203B41FA5}">
                      <a16:colId xmlns:a16="http://schemas.microsoft.com/office/drawing/2014/main" val="2277923817"/>
                    </a:ext>
                  </a:extLst>
                </a:gridCol>
                <a:gridCol w="1407768">
                  <a:extLst>
                    <a:ext uri="{9D8B030D-6E8A-4147-A177-3AD203B41FA5}">
                      <a16:colId xmlns:a16="http://schemas.microsoft.com/office/drawing/2014/main" val="3671555871"/>
                    </a:ext>
                  </a:extLst>
                </a:gridCol>
              </a:tblGrid>
              <a:tr h="204519">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09:27:24 AM</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09:27:24 AM</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03:30:23 PM</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03:30:23 PM</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900539488"/>
                  </a:ext>
                </a:extLst>
              </a:tr>
              <a:tr h="204519">
                <a:tc>
                  <a:txBody>
                    <a:bodyPr/>
                    <a:lstStyle/>
                    <a:p>
                      <a:pPr algn="ctr" fontAlgn="t"/>
                      <a:r>
                        <a:rPr lang="en-IN" sz="900" u="none" strike="noStrike">
                          <a:effectLst/>
                        </a:rPr>
                        <a:t>strikePrice</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CE_OI</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CE_LTP</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CE_OI</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CE_LTP</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Change in OI</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Change in Premium</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Conclusion</a:t>
                      </a:r>
                      <a:endParaRPr lang="en-IN" sz="900" b="1" i="0" u="none" strike="noStrike">
                        <a:solidFill>
                          <a:srgbClr val="000000"/>
                        </a:solidFill>
                        <a:effectLst/>
                        <a:latin typeface="Calibri" panose="020F0502020204030204" pitchFamily="34" charset="0"/>
                      </a:endParaRPr>
                    </a:p>
                  </a:txBody>
                  <a:tcPr marL="7770" marR="7770" marT="7770" marB="0"/>
                </a:tc>
                <a:extLst>
                  <a:ext uri="{0D108BD9-81ED-4DB2-BD59-A6C34878D82A}">
                    <a16:rowId xmlns:a16="http://schemas.microsoft.com/office/drawing/2014/main" val="1862751655"/>
                  </a:ext>
                </a:extLst>
              </a:tr>
              <a:tr h="204519">
                <a:tc>
                  <a:txBody>
                    <a:bodyPr/>
                    <a:lstStyle/>
                    <a:p>
                      <a:pPr algn="r" fontAlgn="b"/>
                      <a:r>
                        <a:rPr lang="en-IN" sz="900" u="none" strike="noStrike">
                          <a:effectLst/>
                        </a:rPr>
                        <a:t>18300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12149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304.7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13564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281.85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1415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-22.85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709769628"/>
                  </a:ext>
                </a:extLst>
              </a:tr>
              <a:tr h="204519">
                <a:tc>
                  <a:txBody>
                    <a:bodyPr/>
                    <a:lstStyle/>
                    <a:p>
                      <a:pPr algn="r" fontAlgn="b"/>
                      <a:r>
                        <a:rPr lang="en-IN" sz="900" u="none" strike="noStrike">
                          <a:effectLst/>
                        </a:rPr>
                        <a:t>18350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2333</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260.75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2329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237.7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-23.05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Long covering</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346517682"/>
                  </a:ext>
                </a:extLst>
              </a:tr>
              <a:tr h="204519">
                <a:tc>
                  <a:txBody>
                    <a:bodyPr/>
                    <a:lstStyle/>
                    <a:p>
                      <a:pPr algn="r" fontAlgn="b"/>
                      <a:r>
                        <a:rPr lang="en-IN" sz="900" u="none" strike="noStrike">
                          <a:effectLst/>
                        </a:rPr>
                        <a:t>18400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19951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219.3</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22220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196.4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2269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-22.9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224832754"/>
                  </a:ext>
                </a:extLst>
              </a:tr>
              <a:tr h="204519">
                <a:tc>
                  <a:txBody>
                    <a:bodyPr/>
                    <a:lstStyle/>
                    <a:p>
                      <a:pPr algn="r" fontAlgn="b"/>
                      <a:r>
                        <a:rPr lang="en-IN" sz="900" u="none" strike="noStrike">
                          <a:effectLst/>
                        </a:rPr>
                        <a:t>18450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11822</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180.1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11410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158.2</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-412</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-21.9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Long covering</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382491060"/>
                  </a:ext>
                </a:extLst>
              </a:tr>
              <a:tr h="204519">
                <a:tc>
                  <a:txBody>
                    <a:bodyPr/>
                    <a:lstStyle/>
                    <a:p>
                      <a:pPr algn="r" fontAlgn="b"/>
                      <a:r>
                        <a:rPr lang="en-IN" sz="900" u="none" strike="noStrike">
                          <a:effectLst/>
                        </a:rPr>
                        <a:t>18500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148475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144.8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159911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122.9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11436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-21.9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180366144"/>
                  </a:ext>
                </a:extLst>
              </a:tr>
              <a:tr h="204519">
                <a:tc>
                  <a:txBody>
                    <a:bodyPr/>
                    <a:lstStyle/>
                    <a:p>
                      <a:pPr algn="r" fontAlgn="b"/>
                      <a:r>
                        <a:rPr lang="en-IN" sz="900" u="none" strike="noStrike">
                          <a:effectLst/>
                        </a:rPr>
                        <a:t>18550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66507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112.6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62788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92.75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-3719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-19.85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Long covering</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2181047513"/>
                  </a:ext>
                </a:extLst>
              </a:tr>
              <a:tr h="204519">
                <a:tc>
                  <a:txBody>
                    <a:bodyPr/>
                    <a:lstStyle/>
                    <a:p>
                      <a:pPr algn="r" fontAlgn="b"/>
                      <a:r>
                        <a:rPr lang="en-IN" sz="900" u="none" strike="noStrike">
                          <a:effectLst/>
                        </a:rPr>
                        <a:t>18600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171614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85.5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215349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66.95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43735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-18.55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dirty="0">
                          <a:effectLst/>
                        </a:rPr>
                        <a:t>Shot build up</a:t>
                      </a:r>
                      <a:endParaRPr lang="en-IN" sz="900" b="0" i="0" u="none" strike="noStrike" dirty="0">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935119397"/>
                  </a:ext>
                </a:extLst>
              </a:tr>
              <a:tr h="204519">
                <a:tc>
                  <a:txBody>
                    <a:bodyPr/>
                    <a:lstStyle/>
                    <a:p>
                      <a:pPr algn="r" fontAlgn="b"/>
                      <a:r>
                        <a:rPr lang="en-IN" sz="900" u="none" strike="noStrike">
                          <a:effectLst/>
                        </a:rPr>
                        <a:t>18650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72254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62.75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66497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46.5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-5757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-16.25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dirty="0">
                          <a:effectLst/>
                        </a:rPr>
                        <a:t>Long covering</a:t>
                      </a:r>
                      <a:endParaRPr lang="en-IN" sz="900" b="0" i="0" u="none" strike="noStrike" dirty="0">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977543359"/>
                  </a:ext>
                </a:extLst>
              </a:tr>
              <a:tr h="204519">
                <a:tc>
                  <a:txBody>
                    <a:bodyPr/>
                    <a:lstStyle/>
                    <a:p>
                      <a:pPr algn="r" fontAlgn="b"/>
                      <a:r>
                        <a:rPr lang="en-IN" sz="900" u="none" strike="noStrike">
                          <a:effectLst/>
                        </a:rPr>
                        <a:t>18700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101245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44.3</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132076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30.8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30831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-13.5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037986819"/>
                  </a:ext>
                </a:extLst>
              </a:tr>
              <a:tr h="204519">
                <a:tc>
                  <a:txBody>
                    <a:bodyPr/>
                    <a:lstStyle/>
                    <a:p>
                      <a:pPr algn="r" fontAlgn="b"/>
                      <a:r>
                        <a:rPr lang="en-IN" sz="900" u="none" strike="noStrike">
                          <a:effectLst/>
                        </a:rPr>
                        <a:t>18750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36214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30.35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55531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19.7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19317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-10.65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743881980"/>
                  </a:ext>
                </a:extLst>
              </a:tr>
              <a:tr h="204519">
                <a:tc>
                  <a:txBody>
                    <a:bodyPr/>
                    <a:lstStyle/>
                    <a:p>
                      <a:pPr algn="r" fontAlgn="b"/>
                      <a:r>
                        <a:rPr lang="en-IN" sz="900" u="none" strike="noStrike">
                          <a:effectLst/>
                        </a:rPr>
                        <a:t>18800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87010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20.1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126849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11.9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39839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-8.2</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2403836707"/>
                  </a:ext>
                </a:extLst>
              </a:tr>
              <a:tr h="204519">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992638223"/>
                  </a:ext>
                </a:extLst>
              </a:tr>
              <a:tr h="204519">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943098653"/>
                  </a:ext>
                </a:extLst>
              </a:tr>
              <a:tr h="204519">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09:27:24 AM</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09:27:24 AM</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03:30:23 PM</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03:30:23 PM</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676181427"/>
                  </a:ext>
                </a:extLst>
              </a:tr>
              <a:tr h="204519">
                <a:tc>
                  <a:txBody>
                    <a:bodyPr/>
                    <a:lstStyle/>
                    <a:p>
                      <a:pPr algn="ctr" fontAlgn="t"/>
                      <a:r>
                        <a:rPr lang="en-IN" sz="900" u="none" strike="noStrike">
                          <a:effectLst/>
                        </a:rPr>
                        <a:t>strikePrice</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PE_OI</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PE_LTP</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PE_OI</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PE_LTP</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Change in OI</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ctr" fontAlgn="t"/>
                      <a:r>
                        <a:rPr lang="en-IN" sz="900" u="none" strike="noStrike">
                          <a:effectLst/>
                        </a:rPr>
                        <a:t>Change in Premium</a:t>
                      </a:r>
                      <a:endParaRPr lang="en-IN" sz="900" b="1" i="0" u="none" strike="noStrike">
                        <a:solidFill>
                          <a:srgbClr val="000000"/>
                        </a:solidFill>
                        <a:effectLst/>
                        <a:latin typeface="Calibri" panose="020F0502020204030204" pitchFamily="34" charset="0"/>
                      </a:endParaRPr>
                    </a:p>
                  </a:txBody>
                  <a:tcPr marL="7770" marR="7770" marT="7770" marB="0"/>
                </a:tc>
                <a:tc>
                  <a:txBody>
                    <a:bodyPr/>
                    <a:lstStyle/>
                    <a:p>
                      <a:pPr algn="l" fontAlgn="b"/>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19213129"/>
                  </a:ext>
                </a:extLst>
              </a:tr>
              <a:tr h="204519">
                <a:tc>
                  <a:txBody>
                    <a:bodyPr/>
                    <a:lstStyle/>
                    <a:p>
                      <a:pPr algn="r" fontAlgn="b"/>
                      <a:r>
                        <a:rPr lang="en-IN" sz="900" u="none" strike="noStrike">
                          <a:effectLst/>
                        </a:rPr>
                        <a:t>18300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60027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16.7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80667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15.8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20640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-0.9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49863225"/>
                  </a:ext>
                </a:extLst>
              </a:tr>
              <a:tr h="204519">
                <a:tc>
                  <a:txBody>
                    <a:bodyPr/>
                    <a:lstStyle/>
                    <a:p>
                      <a:pPr algn="r" fontAlgn="b"/>
                      <a:r>
                        <a:rPr lang="en-IN" sz="900" u="none" strike="noStrike">
                          <a:effectLst/>
                        </a:rPr>
                        <a:t>18350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22399</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22.45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39037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21.8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16638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-0.65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445718018"/>
                  </a:ext>
                </a:extLst>
              </a:tr>
              <a:tr h="204519">
                <a:tc>
                  <a:txBody>
                    <a:bodyPr/>
                    <a:lstStyle/>
                    <a:p>
                      <a:pPr algn="r" fontAlgn="b"/>
                      <a:r>
                        <a:rPr lang="en-IN" sz="900" u="none" strike="noStrike">
                          <a:effectLst/>
                        </a:rPr>
                        <a:t>18400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77966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30.8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84463</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30.4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6497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-0.4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555597851"/>
                  </a:ext>
                </a:extLst>
              </a:tr>
              <a:tr h="204519">
                <a:tc>
                  <a:txBody>
                    <a:bodyPr/>
                    <a:lstStyle/>
                    <a:p>
                      <a:pPr algn="r" fontAlgn="b"/>
                      <a:r>
                        <a:rPr lang="en-IN" sz="900" u="none" strike="noStrike">
                          <a:effectLst/>
                        </a:rPr>
                        <a:t>18450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41855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41.6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45000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42.1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3145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0.5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Long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703081160"/>
                  </a:ext>
                </a:extLst>
              </a:tr>
              <a:tr h="204519">
                <a:tc>
                  <a:txBody>
                    <a:bodyPr/>
                    <a:lstStyle/>
                    <a:p>
                      <a:pPr algn="r" fontAlgn="b"/>
                      <a:r>
                        <a:rPr lang="en-IN" sz="900" u="none" strike="noStrike">
                          <a:effectLst/>
                        </a:rPr>
                        <a:t>18500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179463</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56.2</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215000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58.25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35537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2.05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Long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2447152060"/>
                  </a:ext>
                </a:extLst>
              </a:tr>
              <a:tr h="204519">
                <a:tc>
                  <a:txBody>
                    <a:bodyPr/>
                    <a:lstStyle/>
                    <a:p>
                      <a:pPr algn="r" fontAlgn="b"/>
                      <a:r>
                        <a:rPr lang="en-IN" sz="900" u="none" strike="noStrike">
                          <a:effectLst/>
                        </a:rPr>
                        <a:t>18550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61163</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74.1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47202</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77.05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-13961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2.95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Shot covering</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564075042"/>
                  </a:ext>
                </a:extLst>
              </a:tr>
              <a:tr h="204519">
                <a:tc>
                  <a:txBody>
                    <a:bodyPr/>
                    <a:lstStyle/>
                    <a:p>
                      <a:pPr algn="r" fontAlgn="b"/>
                      <a:r>
                        <a:rPr lang="en-IN" sz="900" u="none" strike="noStrike">
                          <a:effectLst/>
                        </a:rPr>
                        <a:t>18600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90565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96.7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121418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101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30853</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4.3</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Long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3634162671"/>
                  </a:ext>
                </a:extLst>
              </a:tr>
              <a:tr h="204519">
                <a:tc>
                  <a:txBody>
                    <a:bodyPr/>
                    <a:lstStyle/>
                    <a:p>
                      <a:pPr algn="r" fontAlgn="b"/>
                      <a:r>
                        <a:rPr lang="en-IN" sz="900" u="none" strike="noStrike">
                          <a:effectLst/>
                        </a:rPr>
                        <a:t>18650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12764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124.45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12034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130.45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-730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dirty="0">
                          <a:effectLst/>
                        </a:rPr>
                        <a:t>Shot covering</a:t>
                      </a:r>
                      <a:endParaRPr lang="en-IN" sz="900" b="0" i="0" u="none" strike="noStrike" dirty="0">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788253617"/>
                  </a:ext>
                </a:extLst>
              </a:tr>
              <a:tr h="204519">
                <a:tc>
                  <a:txBody>
                    <a:bodyPr/>
                    <a:lstStyle/>
                    <a:p>
                      <a:pPr algn="r" fontAlgn="b"/>
                      <a:r>
                        <a:rPr lang="en-IN" sz="900" u="none" strike="noStrike">
                          <a:effectLst/>
                        </a:rPr>
                        <a:t>18700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18905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155.65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19735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164.6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830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8.95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Long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4024572075"/>
                  </a:ext>
                </a:extLst>
              </a:tr>
              <a:tr h="204519">
                <a:tc>
                  <a:txBody>
                    <a:bodyPr/>
                    <a:lstStyle/>
                    <a:p>
                      <a:pPr algn="r" fontAlgn="b"/>
                      <a:r>
                        <a:rPr lang="en-IN" sz="900" u="none" strike="noStrike">
                          <a:effectLst/>
                        </a:rPr>
                        <a:t>18750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2338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190.95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2924</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203.6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586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12.65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a:effectLst/>
                        </a:rPr>
                        <a:t>Long build up</a:t>
                      </a:r>
                      <a:endParaRPr lang="en-IN" sz="900" b="0" i="0" u="none" strike="noStrike">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1564471245"/>
                  </a:ext>
                </a:extLst>
              </a:tr>
              <a:tr h="204519">
                <a:tc>
                  <a:txBody>
                    <a:bodyPr/>
                    <a:lstStyle/>
                    <a:p>
                      <a:pPr algn="r" fontAlgn="b"/>
                      <a:r>
                        <a:rPr lang="en-IN" sz="900" u="none" strike="noStrike">
                          <a:effectLst/>
                        </a:rPr>
                        <a:t>18800</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6827</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231.6</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8508</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245.05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1681</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r" fontAlgn="b"/>
                      <a:r>
                        <a:rPr lang="en-IN" sz="900" u="none" strike="noStrike">
                          <a:effectLst/>
                        </a:rPr>
                        <a:t>13.45</a:t>
                      </a:r>
                      <a:endParaRPr lang="en-IN" sz="900" b="0" i="0" u="none" strike="noStrike">
                        <a:solidFill>
                          <a:srgbClr val="000000"/>
                        </a:solidFill>
                        <a:effectLst/>
                        <a:latin typeface="Calibri" panose="020F0502020204030204" pitchFamily="34" charset="0"/>
                      </a:endParaRPr>
                    </a:p>
                  </a:txBody>
                  <a:tcPr marL="7770" marR="7770" marT="7770" marB="0" anchor="b"/>
                </a:tc>
                <a:tc>
                  <a:txBody>
                    <a:bodyPr/>
                    <a:lstStyle/>
                    <a:p>
                      <a:pPr algn="l" fontAlgn="b"/>
                      <a:r>
                        <a:rPr lang="en-IN" sz="900" u="none" strike="noStrike" dirty="0">
                          <a:effectLst/>
                        </a:rPr>
                        <a:t>Long build up</a:t>
                      </a:r>
                      <a:endParaRPr lang="en-IN" sz="900" b="0" i="0" u="none" strike="noStrike" dirty="0">
                        <a:solidFill>
                          <a:srgbClr val="000000"/>
                        </a:solidFill>
                        <a:effectLst/>
                        <a:latin typeface="Calibri" panose="020F0502020204030204" pitchFamily="34" charset="0"/>
                      </a:endParaRPr>
                    </a:p>
                  </a:txBody>
                  <a:tcPr marL="7770" marR="7770" marT="7770" marB="0" anchor="b"/>
                </a:tc>
                <a:extLst>
                  <a:ext uri="{0D108BD9-81ED-4DB2-BD59-A6C34878D82A}">
                    <a16:rowId xmlns:a16="http://schemas.microsoft.com/office/drawing/2014/main" val="4240229054"/>
                  </a:ext>
                </a:extLst>
              </a:tr>
            </a:tbl>
          </a:graphicData>
        </a:graphic>
      </p:graphicFrame>
    </p:spTree>
    <p:extLst>
      <p:ext uri="{BB962C8B-B14F-4D97-AF65-F5344CB8AC3E}">
        <p14:creationId xmlns:p14="http://schemas.microsoft.com/office/powerpoint/2010/main" val="42544632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55F02-DBDA-18E8-4595-6FF83975528C}"/>
              </a:ext>
            </a:extLst>
          </p:cNvPr>
          <p:cNvSpPr>
            <a:spLocks noGrp="1"/>
          </p:cNvSpPr>
          <p:nvPr>
            <p:ph type="title"/>
          </p:nvPr>
        </p:nvSpPr>
        <p:spPr>
          <a:xfrm>
            <a:off x="838200" y="365126"/>
            <a:ext cx="10515600" cy="687820"/>
          </a:xfrm>
        </p:spPr>
        <p:txBody>
          <a:bodyPr>
            <a:normAutofit fontScale="90000"/>
          </a:bodyPr>
          <a:lstStyle/>
          <a:p>
            <a:r>
              <a:rPr lang="en-US" dirty="0"/>
              <a:t>02-06-2023</a:t>
            </a:r>
            <a:endParaRPr lang="en-IN" dirty="0"/>
          </a:p>
        </p:txBody>
      </p:sp>
      <p:pic>
        <p:nvPicPr>
          <p:cNvPr id="4" name="Picture 3">
            <a:extLst>
              <a:ext uri="{FF2B5EF4-FFF2-40B4-BE49-F238E27FC236}">
                <a16:creationId xmlns:a16="http://schemas.microsoft.com/office/drawing/2014/main" id="{657BE8E5-E583-76E5-156A-CAFD299B016F}"/>
              </a:ext>
            </a:extLst>
          </p:cNvPr>
          <p:cNvPicPr>
            <a:picLocks noChangeAspect="1"/>
          </p:cNvPicPr>
          <p:nvPr/>
        </p:nvPicPr>
        <p:blipFill>
          <a:blip r:embed="rId3"/>
          <a:stretch>
            <a:fillRect/>
          </a:stretch>
        </p:blipFill>
        <p:spPr>
          <a:xfrm>
            <a:off x="203200" y="1052946"/>
            <a:ext cx="11850255" cy="5391892"/>
          </a:xfrm>
          <a:prstGeom prst="rect">
            <a:avLst/>
          </a:prstGeom>
        </p:spPr>
      </p:pic>
    </p:spTree>
    <p:extLst>
      <p:ext uri="{BB962C8B-B14F-4D97-AF65-F5344CB8AC3E}">
        <p14:creationId xmlns:p14="http://schemas.microsoft.com/office/powerpoint/2010/main" val="2490808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55F02-DBDA-18E8-4595-6FF83975528C}"/>
              </a:ext>
            </a:extLst>
          </p:cNvPr>
          <p:cNvSpPr>
            <a:spLocks noGrp="1"/>
          </p:cNvSpPr>
          <p:nvPr>
            <p:ph type="title"/>
          </p:nvPr>
        </p:nvSpPr>
        <p:spPr>
          <a:xfrm>
            <a:off x="838200" y="365126"/>
            <a:ext cx="10515600" cy="687820"/>
          </a:xfrm>
        </p:spPr>
        <p:txBody>
          <a:bodyPr>
            <a:normAutofit fontScale="90000"/>
          </a:bodyPr>
          <a:lstStyle/>
          <a:p>
            <a:r>
              <a:rPr lang="en-US" dirty="0"/>
              <a:t>02-06-2023</a:t>
            </a:r>
            <a:endParaRPr lang="en-IN" dirty="0"/>
          </a:p>
        </p:txBody>
      </p:sp>
      <p:pic>
        <p:nvPicPr>
          <p:cNvPr id="4" name="Picture 3">
            <a:extLst>
              <a:ext uri="{FF2B5EF4-FFF2-40B4-BE49-F238E27FC236}">
                <a16:creationId xmlns:a16="http://schemas.microsoft.com/office/drawing/2014/main" id="{DA5ED29F-9CF8-1868-FFF8-4A9B70597280}"/>
              </a:ext>
            </a:extLst>
          </p:cNvPr>
          <p:cNvPicPr>
            <a:picLocks noChangeAspect="1"/>
          </p:cNvPicPr>
          <p:nvPr/>
        </p:nvPicPr>
        <p:blipFill>
          <a:blip r:embed="rId3"/>
          <a:stretch>
            <a:fillRect/>
          </a:stretch>
        </p:blipFill>
        <p:spPr>
          <a:xfrm>
            <a:off x="0" y="949106"/>
            <a:ext cx="12192000" cy="5698697"/>
          </a:xfrm>
          <a:prstGeom prst="rect">
            <a:avLst/>
          </a:prstGeom>
        </p:spPr>
      </p:pic>
    </p:spTree>
    <p:extLst>
      <p:ext uri="{BB962C8B-B14F-4D97-AF65-F5344CB8AC3E}">
        <p14:creationId xmlns:p14="http://schemas.microsoft.com/office/powerpoint/2010/main" val="5681886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8C34-31F1-FA65-53D7-3E44EBA3751D}"/>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0840B0B-C339-EA08-BD9A-74EC0889221B}"/>
              </a:ext>
            </a:extLst>
          </p:cNvPr>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1406646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05-06-2023</a:t>
            </a:r>
            <a:endParaRPr lang="en-IN" dirty="0"/>
          </a:p>
        </p:txBody>
      </p:sp>
    </p:spTree>
    <p:extLst>
      <p:ext uri="{BB962C8B-B14F-4D97-AF65-F5344CB8AC3E}">
        <p14:creationId xmlns:p14="http://schemas.microsoft.com/office/powerpoint/2010/main" val="2312806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05-06-2023</a:t>
            </a:r>
            <a:endParaRPr lang="en-IN" dirty="0"/>
          </a:p>
        </p:txBody>
      </p:sp>
    </p:spTree>
    <p:extLst>
      <p:ext uri="{BB962C8B-B14F-4D97-AF65-F5344CB8AC3E}">
        <p14:creationId xmlns:p14="http://schemas.microsoft.com/office/powerpoint/2010/main" val="36488774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05-06-2023</a:t>
            </a:r>
            <a:endParaRPr lang="en-IN" dirty="0"/>
          </a:p>
        </p:txBody>
      </p:sp>
    </p:spTree>
    <p:extLst>
      <p:ext uri="{BB962C8B-B14F-4D97-AF65-F5344CB8AC3E}">
        <p14:creationId xmlns:p14="http://schemas.microsoft.com/office/powerpoint/2010/main" val="779726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06-06-2023</a:t>
            </a:r>
            <a:endParaRPr lang="en-IN" dirty="0"/>
          </a:p>
        </p:txBody>
      </p:sp>
    </p:spTree>
    <p:extLst>
      <p:ext uri="{BB962C8B-B14F-4D97-AF65-F5344CB8AC3E}">
        <p14:creationId xmlns:p14="http://schemas.microsoft.com/office/powerpoint/2010/main" val="6408841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06-06-2023</a:t>
            </a:r>
            <a:endParaRPr lang="en-IN" dirty="0"/>
          </a:p>
        </p:txBody>
      </p:sp>
    </p:spTree>
    <p:extLst>
      <p:ext uri="{BB962C8B-B14F-4D97-AF65-F5344CB8AC3E}">
        <p14:creationId xmlns:p14="http://schemas.microsoft.com/office/powerpoint/2010/main" val="756272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06-06-2023</a:t>
            </a:r>
            <a:endParaRPr lang="en-IN" dirty="0"/>
          </a:p>
        </p:txBody>
      </p:sp>
    </p:spTree>
    <p:extLst>
      <p:ext uri="{BB962C8B-B14F-4D97-AF65-F5344CB8AC3E}">
        <p14:creationId xmlns:p14="http://schemas.microsoft.com/office/powerpoint/2010/main" val="3278291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07-06-2023</a:t>
            </a:r>
            <a:endParaRPr lang="en-IN" dirty="0"/>
          </a:p>
        </p:txBody>
      </p:sp>
    </p:spTree>
    <p:extLst>
      <p:ext uri="{BB962C8B-B14F-4D97-AF65-F5344CB8AC3E}">
        <p14:creationId xmlns:p14="http://schemas.microsoft.com/office/powerpoint/2010/main" val="28108949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07-06-2023</a:t>
            </a:r>
            <a:endParaRPr lang="en-IN" dirty="0"/>
          </a:p>
        </p:txBody>
      </p:sp>
    </p:spTree>
    <p:extLst>
      <p:ext uri="{BB962C8B-B14F-4D97-AF65-F5344CB8AC3E}">
        <p14:creationId xmlns:p14="http://schemas.microsoft.com/office/powerpoint/2010/main" val="3442960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07-06-2023</a:t>
            </a:r>
            <a:endParaRPr lang="en-IN" dirty="0"/>
          </a:p>
        </p:txBody>
      </p:sp>
    </p:spTree>
    <p:extLst>
      <p:ext uri="{BB962C8B-B14F-4D97-AF65-F5344CB8AC3E}">
        <p14:creationId xmlns:p14="http://schemas.microsoft.com/office/powerpoint/2010/main" val="10430649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09-06-2023</a:t>
            </a:r>
            <a:endParaRPr lang="en-IN" dirty="0"/>
          </a:p>
        </p:txBody>
      </p:sp>
    </p:spTree>
    <p:extLst>
      <p:ext uri="{BB962C8B-B14F-4D97-AF65-F5344CB8AC3E}">
        <p14:creationId xmlns:p14="http://schemas.microsoft.com/office/powerpoint/2010/main" val="608956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09-06-2023</a:t>
            </a:r>
            <a:endParaRPr lang="en-IN" dirty="0"/>
          </a:p>
        </p:txBody>
      </p:sp>
    </p:spTree>
    <p:extLst>
      <p:ext uri="{BB962C8B-B14F-4D97-AF65-F5344CB8AC3E}">
        <p14:creationId xmlns:p14="http://schemas.microsoft.com/office/powerpoint/2010/main" val="60460452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09-06-2023</a:t>
            </a:r>
            <a:endParaRPr lang="en-IN" dirty="0"/>
          </a:p>
        </p:txBody>
      </p:sp>
    </p:spTree>
    <p:extLst>
      <p:ext uri="{BB962C8B-B14F-4D97-AF65-F5344CB8AC3E}">
        <p14:creationId xmlns:p14="http://schemas.microsoft.com/office/powerpoint/2010/main" val="32743777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12-06-2023</a:t>
            </a:r>
            <a:endParaRPr lang="en-IN" dirty="0"/>
          </a:p>
        </p:txBody>
      </p:sp>
    </p:spTree>
    <p:extLst>
      <p:ext uri="{BB962C8B-B14F-4D97-AF65-F5344CB8AC3E}">
        <p14:creationId xmlns:p14="http://schemas.microsoft.com/office/powerpoint/2010/main" val="11316429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12-06-2023</a:t>
            </a:r>
            <a:endParaRPr lang="en-IN" dirty="0"/>
          </a:p>
        </p:txBody>
      </p:sp>
    </p:spTree>
    <p:extLst>
      <p:ext uri="{BB962C8B-B14F-4D97-AF65-F5344CB8AC3E}">
        <p14:creationId xmlns:p14="http://schemas.microsoft.com/office/powerpoint/2010/main" val="11970354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12-06-2023</a:t>
            </a:r>
            <a:endParaRPr lang="en-IN" dirty="0"/>
          </a:p>
        </p:txBody>
      </p:sp>
    </p:spTree>
    <p:extLst>
      <p:ext uri="{BB962C8B-B14F-4D97-AF65-F5344CB8AC3E}">
        <p14:creationId xmlns:p14="http://schemas.microsoft.com/office/powerpoint/2010/main" val="8790273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13-06-2023</a:t>
            </a:r>
            <a:endParaRPr lang="en-IN" dirty="0"/>
          </a:p>
        </p:txBody>
      </p:sp>
      <p:graphicFrame>
        <p:nvGraphicFramePr>
          <p:cNvPr id="3" name="Table 2">
            <a:extLst>
              <a:ext uri="{FF2B5EF4-FFF2-40B4-BE49-F238E27FC236}">
                <a16:creationId xmlns:a16="http://schemas.microsoft.com/office/drawing/2014/main" id="{75A88801-16BF-7264-12CF-CF82C0FC0F13}"/>
              </a:ext>
            </a:extLst>
          </p:cNvPr>
          <p:cNvGraphicFramePr>
            <a:graphicFrameLocks noGrp="1"/>
          </p:cNvGraphicFramePr>
          <p:nvPr>
            <p:extLst>
              <p:ext uri="{D42A27DB-BD31-4B8C-83A1-F6EECF244321}">
                <p14:modId xmlns:p14="http://schemas.microsoft.com/office/powerpoint/2010/main" val="1515843491"/>
              </p:ext>
            </p:extLst>
          </p:nvPr>
        </p:nvGraphicFramePr>
        <p:xfrm>
          <a:off x="1348509" y="997527"/>
          <a:ext cx="9670474" cy="5634157"/>
        </p:xfrm>
        <a:graphic>
          <a:graphicData uri="http://schemas.openxmlformats.org/drawingml/2006/table">
            <a:tbl>
              <a:tblPr>
                <a:tableStyleId>{5C22544A-7EE6-4342-B048-85BDC9FD1C3A}</a:tableStyleId>
              </a:tblPr>
              <a:tblGrid>
                <a:gridCol w="996031">
                  <a:extLst>
                    <a:ext uri="{9D8B030D-6E8A-4147-A177-3AD203B41FA5}">
                      <a16:colId xmlns:a16="http://schemas.microsoft.com/office/drawing/2014/main" val="1659823773"/>
                    </a:ext>
                  </a:extLst>
                </a:gridCol>
                <a:gridCol w="996031">
                  <a:extLst>
                    <a:ext uri="{9D8B030D-6E8A-4147-A177-3AD203B41FA5}">
                      <a16:colId xmlns:a16="http://schemas.microsoft.com/office/drawing/2014/main" val="2162414619"/>
                    </a:ext>
                  </a:extLst>
                </a:gridCol>
                <a:gridCol w="1338926">
                  <a:extLst>
                    <a:ext uri="{9D8B030D-6E8A-4147-A177-3AD203B41FA5}">
                      <a16:colId xmlns:a16="http://schemas.microsoft.com/office/drawing/2014/main" val="3259140936"/>
                    </a:ext>
                  </a:extLst>
                </a:gridCol>
                <a:gridCol w="963373">
                  <a:extLst>
                    <a:ext uri="{9D8B030D-6E8A-4147-A177-3AD203B41FA5}">
                      <a16:colId xmlns:a16="http://schemas.microsoft.com/office/drawing/2014/main" val="1141573381"/>
                    </a:ext>
                  </a:extLst>
                </a:gridCol>
                <a:gridCol w="979702">
                  <a:extLst>
                    <a:ext uri="{9D8B030D-6E8A-4147-A177-3AD203B41FA5}">
                      <a16:colId xmlns:a16="http://schemas.microsoft.com/office/drawing/2014/main" val="2884126060"/>
                    </a:ext>
                  </a:extLst>
                </a:gridCol>
                <a:gridCol w="1016441">
                  <a:extLst>
                    <a:ext uri="{9D8B030D-6E8A-4147-A177-3AD203B41FA5}">
                      <a16:colId xmlns:a16="http://schemas.microsoft.com/office/drawing/2014/main" val="997148099"/>
                    </a:ext>
                  </a:extLst>
                </a:gridCol>
                <a:gridCol w="1110328">
                  <a:extLst>
                    <a:ext uri="{9D8B030D-6E8A-4147-A177-3AD203B41FA5}">
                      <a16:colId xmlns:a16="http://schemas.microsoft.com/office/drawing/2014/main" val="1158039410"/>
                    </a:ext>
                  </a:extLst>
                </a:gridCol>
                <a:gridCol w="1126657">
                  <a:extLst>
                    <a:ext uri="{9D8B030D-6E8A-4147-A177-3AD203B41FA5}">
                      <a16:colId xmlns:a16="http://schemas.microsoft.com/office/drawing/2014/main" val="2306331375"/>
                    </a:ext>
                  </a:extLst>
                </a:gridCol>
                <a:gridCol w="1142985">
                  <a:extLst>
                    <a:ext uri="{9D8B030D-6E8A-4147-A177-3AD203B41FA5}">
                      <a16:colId xmlns:a16="http://schemas.microsoft.com/office/drawing/2014/main" val="910545814"/>
                    </a:ext>
                  </a:extLst>
                </a:gridCol>
              </a:tblGrid>
              <a:tr h="181747">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09:25:45 AM</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09:25:45 AM</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03:33:49 PM</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03:33:49 PM</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1266531478"/>
                  </a:ext>
                </a:extLst>
              </a:tr>
              <a:tr h="181747">
                <a:tc>
                  <a:txBody>
                    <a:bodyPr/>
                    <a:lstStyle/>
                    <a:p>
                      <a:pPr algn="ctr" fontAlgn="t"/>
                      <a:r>
                        <a:rPr lang="en-IN" sz="800" u="none" strike="noStrike">
                          <a:effectLst/>
                        </a:rPr>
                        <a:t>strikePrice</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CE_OI</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CE_LTP</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CE_OI</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CE_LTP</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change in OI</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change in LTP</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Conclusion</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4066863489"/>
                  </a:ext>
                </a:extLst>
              </a:tr>
              <a:tr h="181747">
                <a:tc>
                  <a:txBody>
                    <a:bodyPr/>
                    <a:lstStyle/>
                    <a:p>
                      <a:pPr algn="r" fontAlgn="b"/>
                      <a:r>
                        <a:rPr lang="en-IN" sz="800" u="none" strike="noStrike">
                          <a:effectLst/>
                        </a:rPr>
                        <a:t>18400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10118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304.6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7568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330.35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-2550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25.75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149122491"/>
                  </a:ext>
                </a:extLst>
              </a:tr>
              <a:tr h="181747">
                <a:tc>
                  <a:txBody>
                    <a:bodyPr/>
                    <a:lstStyle/>
                    <a:p>
                      <a:pPr algn="r" fontAlgn="b"/>
                      <a:r>
                        <a:rPr lang="en-IN" sz="800" u="none" strike="noStrike">
                          <a:effectLst/>
                        </a:rPr>
                        <a:t>18450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7725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256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4525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280.95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-3200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24.95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756483072"/>
                  </a:ext>
                </a:extLst>
              </a:tr>
              <a:tr h="181747">
                <a:tc>
                  <a:txBody>
                    <a:bodyPr/>
                    <a:lstStyle/>
                    <a:p>
                      <a:pPr algn="r" fontAlgn="b"/>
                      <a:r>
                        <a:rPr lang="en-IN" sz="800" u="none" strike="noStrike">
                          <a:effectLst/>
                        </a:rPr>
                        <a:t>18500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32412</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209.4</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22607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233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-9805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23.6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908934676"/>
                  </a:ext>
                </a:extLst>
              </a:tr>
              <a:tr h="181747">
                <a:tc>
                  <a:txBody>
                    <a:bodyPr/>
                    <a:lstStyle/>
                    <a:p>
                      <a:pPr algn="r" fontAlgn="b"/>
                      <a:r>
                        <a:rPr lang="en-IN" sz="800" u="none" strike="noStrike">
                          <a:effectLst/>
                        </a:rPr>
                        <a:t>18550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20378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166.75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12415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186.9</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-7963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20.15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3574236782"/>
                  </a:ext>
                </a:extLst>
              </a:tr>
              <a:tr h="181747">
                <a:tc>
                  <a:txBody>
                    <a:bodyPr/>
                    <a:lstStyle/>
                    <a:p>
                      <a:pPr algn="r" fontAlgn="b"/>
                      <a:r>
                        <a:rPr lang="en-IN" sz="800" u="none" strike="noStrike">
                          <a:effectLst/>
                        </a:rPr>
                        <a:t>18600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164264</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126.45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89311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143.3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-74953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16.85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917382945"/>
                  </a:ext>
                </a:extLst>
              </a:tr>
              <a:tr h="181747">
                <a:tc>
                  <a:txBody>
                    <a:bodyPr/>
                    <a:lstStyle/>
                    <a:p>
                      <a:pPr algn="r" fontAlgn="b"/>
                      <a:r>
                        <a:rPr lang="en-IN" sz="800" u="none" strike="noStrike">
                          <a:effectLst/>
                        </a:rPr>
                        <a:t>18650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107986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89.75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53203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104.05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-54783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14.3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259129235"/>
                  </a:ext>
                </a:extLst>
              </a:tr>
              <a:tr h="181747">
                <a:tc>
                  <a:txBody>
                    <a:bodyPr/>
                    <a:lstStyle/>
                    <a:p>
                      <a:pPr algn="r" fontAlgn="b"/>
                      <a:r>
                        <a:rPr lang="en-IN" sz="800" u="none" strike="noStrike">
                          <a:effectLst/>
                        </a:rPr>
                        <a:t>18700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292512</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60.45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199258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-93254</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9.55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366079075"/>
                  </a:ext>
                </a:extLst>
              </a:tr>
              <a:tr h="181747">
                <a:tc>
                  <a:txBody>
                    <a:bodyPr/>
                    <a:lstStyle/>
                    <a:p>
                      <a:pPr algn="r" fontAlgn="b"/>
                      <a:r>
                        <a:rPr lang="en-IN" sz="800" u="none" strike="noStrike">
                          <a:effectLst/>
                        </a:rPr>
                        <a:t>18750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103474</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37.15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117741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43.5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14267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6.35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Long Build up</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3199016999"/>
                  </a:ext>
                </a:extLst>
              </a:tr>
              <a:tr h="181747">
                <a:tc>
                  <a:txBody>
                    <a:bodyPr/>
                    <a:lstStyle/>
                    <a:p>
                      <a:pPr algn="r" fontAlgn="b"/>
                      <a:r>
                        <a:rPr lang="en-IN" sz="800" u="none" strike="noStrike">
                          <a:effectLst/>
                        </a:rPr>
                        <a:t>18800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176675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21.1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177337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24.3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662</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3.2</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Long Build up</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026463330"/>
                  </a:ext>
                </a:extLst>
              </a:tr>
              <a:tr h="181747">
                <a:tc>
                  <a:txBody>
                    <a:bodyPr/>
                    <a:lstStyle/>
                    <a:p>
                      <a:pPr algn="r" fontAlgn="b"/>
                      <a:r>
                        <a:rPr lang="en-IN" sz="800" u="none" strike="noStrike">
                          <a:effectLst/>
                        </a:rPr>
                        <a:t>18850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107167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110518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11.7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3351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0.7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Long Build up</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744519887"/>
                  </a:ext>
                </a:extLst>
              </a:tr>
              <a:tr h="181747">
                <a:tc>
                  <a:txBody>
                    <a:bodyPr/>
                    <a:lstStyle/>
                    <a:p>
                      <a:pPr algn="r" fontAlgn="b"/>
                      <a:r>
                        <a:rPr lang="en-IN" sz="800" u="none" strike="noStrike">
                          <a:effectLst/>
                        </a:rPr>
                        <a:t>18900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153271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5.55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204975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5.05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51704</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-0.5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build up</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1664866410"/>
                  </a:ext>
                </a:extLst>
              </a:tr>
              <a:tr h="181747">
                <a:tc>
                  <a:txBody>
                    <a:bodyPr/>
                    <a:lstStyle/>
                    <a:p>
                      <a:pPr algn="r" fontAlgn="b"/>
                      <a:r>
                        <a:rPr lang="en-IN" sz="800" u="none" strike="noStrike">
                          <a:effectLst/>
                        </a:rPr>
                        <a:t>18950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73017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3.55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87285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14268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-0.95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build up</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1211886100"/>
                  </a:ext>
                </a:extLst>
              </a:tr>
              <a:tr h="181747">
                <a:tc>
                  <a:txBody>
                    <a:bodyPr/>
                    <a:lstStyle/>
                    <a:p>
                      <a:pPr algn="r" fontAlgn="b"/>
                      <a:r>
                        <a:rPr lang="en-IN" sz="800" u="none" strike="noStrike">
                          <a:effectLst/>
                        </a:rPr>
                        <a:t>19000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123581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157784</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34203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-0.7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build up</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3264332934"/>
                  </a:ext>
                </a:extLst>
              </a:tr>
              <a:tr h="181747">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Bullish</a:t>
                      </a:r>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1840722781"/>
                  </a:ext>
                </a:extLst>
              </a:tr>
              <a:tr h="181747">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09:25:45 AM</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09:25:45 AM</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03:33:49 PM</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03:33:49 PM</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311784993"/>
                  </a:ext>
                </a:extLst>
              </a:tr>
              <a:tr h="181747">
                <a:tc>
                  <a:txBody>
                    <a:bodyPr/>
                    <a:lstStyle/>
                    <a:p>
                      <a:pPr algn="ctr" fontAlgn="t"/>
                      <a:r>
                        <a:rPr lang="en-IN" sz="800" u="none" strike="noStrike">
                          <a:effectLst/>
                        </a:rPr>
                        <a:t>strikePrice</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PE_OI</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PE_LTP</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PE_OI</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PE_LTP</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change in OI</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change in LTP</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ctr" fontAlgn="t"/>
                      <a:r>
                        <a:rPr lang="en-IN" sz="800" u="none" strike="noStrike">
                          <a:effectLst/>
                        </a:rPr>
                        <a:t>Conclusion</a:t>
                      </a:r>
                      <a:endParaRPr lang="en-IN" sz="800" b="1" i="0" u="none" strike="noStrike">
                        <a:solidFill>
                          <a:srgbClr val="000000"/>
                        </a:solidFill>
                        <a:effectLst/>
                        <a:latin typeface="Calibri" panose="020F0502020204030204" pitchFamily="34" charset="0"/>
                      </a:endParaRPr>
                    </a:p>
                  </a:txBody>
                  <a:tcPr marL="7018" marR="7018" marT="7018" marB="0"/>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827726420"/>
                  </a:ext>
                </a:extLst>
              </a:tr>
              <a:tr h="181747">
                <a:tc>
                  <a:txBody>
                    <a:bodyPr/>
                    <a:lstStyle/>
                    <a:p>
                      <a:pPr algn="r" fontAlgn="b"/>
                      <a:r>
                        <a:rPr lang="en-IN" sz="800" u="none" strike="noStrike">
                          <a:effectLst/>
                        </a:rPr>
                        <a:t>18400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102208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6.1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85061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3.75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-17147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-2.35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Long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1463863308"/>
                  </a:ext>
                </a:extLst>
              </a:tr>
              <a:tr h="181747">
                <a:tc>
                  <a:txBody>
                    <a:bodyPr/>
                    <a:lstStyle/>
                    <a:p>
                      <a:pPr algn="r" fontAlgn="b"/>
                      <a:r>
                        <a:rPr lang="en-IN" sz="800" u="none" strike="noStrike">
                          <a:effectLst/>
                        </a:rPr>
                        <a:t>18450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52736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8.55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82876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4.85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30140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089584734"/>
                  </a:ext>
                </a:extLst>
              </a:tr>
              <a:tr h="181747">
                <a:tc>
                  <a:txBody>
                    <a:bodyPr/>
                    <a:lstStyle/>
                    <a:p>
                      <a:pPr algn="r" fontAlgn="b"/>
                      <a:r>
                        <a:rPr lang="en-IN" sz="800" u="none" strike="noStrike">
                          <a:effectLst/>
                        </a:rPr>
                        <a:t>18500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133458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12.7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173246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39788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-5.6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1727499596"/>
                  </a:ext>
                </a:extLst>
              </a:tr>
              <a:tr h="181747">
                <a:tc>
                  <a:txBody>
                    <a:bodyPr/>
                    <a:lstStyle/>
                    <a:p>
                      <a:pPr algn="r" fontAlgn="b"/>
                      <a:r>
                        <a:rPr lang="en-IN" sz="800" u="none" strike="noStrike">
                          <a:effectLst/>
                        </a:rPr>
                        <a:t>18550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81949</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18.8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96084</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10.85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14135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-7.95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Shot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332642893"/>
                  </a:ext>
                </a:extLst>
              </a:tr>
              <a:tr h="181747">
                <a:tc>
                  <a:txBody>
                    <a:bodyPr/>
                    <a:lstStyle/>
                    <a:p>
                      <a:pPr algn="r" fontAlgn="b"/>
                      <a:r>
                        <a:rPr lang="en-IN" sz="800" u="none" strike="noStrike">
                          <a:effectLst/>
                        </a:rPr>
                        <a:t>18600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229981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28.3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217536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18</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-12445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-10.3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a:effectLst/>
                        </a:rPr>
                        <a:t>Long covering</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1536869118"/>
                  </a:ext>
                </a:extLst>
              </a:tr>
              <a:tr h="181747">
                <a:tc>
                  <a:txBody>
                    <a:bodyPr/>
                    <a:lstStyle/>
                    <a:p>
                      <a:pPr algn="r" fontAlgn="b"/>
                      <a:r>
                        <a:rPr lang="en-IN" sz="800" u="none" strike="noStrike" dirty="0">
                          <a:effectLst/>
                        </a:rPr>
                        <a:t>18650</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81670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42.4</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127891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28.7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46221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-13.7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dirty="0">
                          <a:effectLst/>
                        </a:rPr>
                        <a:t>Shot build up</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798818419"/>
                  </a:ext>
                </a:extLst>
              </a:tr>
              <a:tr h="181747">
                <a:tc>
                  <a:txBody>
                    <a:bodyPr/>
                    <a:lstStyle/>
                    <a:p>
                      <a:pPr algn="r" fontAlgn="b"/>
                      <a:r>
                        <a:rPr lang="en-IN" sz="800" u="none" strike="noStrike" dirty="0">
                          <a:effectLst/>
                        </a:rPr>
                        <a:t>18700</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164293</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62.9</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220252</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44.6</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55959</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-18.3</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dirty="0">
                          <a:effectLst/>
                        </a:rPr>
                        <a:t>Shot build up</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263291663"/>
                  </a:ext>
                </a:extLst>
              </a:tr>
              <a:tr h="181747">
                <a:tc>
                  <a:txBody>
                    <a:bodyPr/>
                    <a:lstStyle/>
                    <a:p>
                      <a:pPr algn="r" fontAlgn="b"/>
                      <a:r>
                        <a:rPr lang="en-IN" sz="800" u="none" strike="noStrike">
                          <a:effectLst/>
                        </a:rPr>
                        <a:t>18750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22729</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89.15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40812</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67.6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18083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-21.55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dirty="0">
                          <a:effectLst/>
                        </a:rPr>
                        <a:t>Shot build up</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3804152922"/>
                  </a:ext>
                </a:extLst>
              </a:tr>
              <a:tr h="181747">
                <a:tc>
                  <a:txBody>
                    <a:bodyPr/>
                    <a:lstStyle/>
                    <a:p>
                      <a:pPr algn="r" fontAlgn="b"/>
                      <a:r>
                        <a:rPr lang="en-IN" sz="800" u="none" strike="noStrike">
                          <a:effectLst/>
                        </a:rPr>
                        <a:t>18800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32479</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123.6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49564</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98.5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17085</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-25.1</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dirty="0">
                          <a:effectLst/>
                        </a:rPr>
                        <a:t>Shot build up</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506681809"/>
                  </a:ext>
                </a:extLst>
              </a:tr>
              <a:tr h="181747">
                <a:tc>
                  <a:txBody>
                    <a:bodyPr/>
                    <a:lstStyle/>
                    <a:p>
                      <a:pPr algn="r" fontAlgn="b"/>
                      <a:r>
                        <a:rPr lang="en-IN" sz="800" u="none" strike="noStrike">
                          <a:effectLst/>
                        </a:rPr>
                        <a:t>18850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3068</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164.2</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6565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136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3497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-28.2</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dirty="0">
                          <a:effectLst/>
                        </a:rPr>
                        <a:t>Shot build up</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3525425522"/>
                  </a:ext>
                </a:extLst>
              </a:tr>
              <a:tr h="181747">
                <a:tc>
                  <a:txBody>
                    <a:bodyPr/>
                    <a:lstStyle/>
                    <a:p>
                      <a:pPr algn="r" fontAlgn="b"/>
                      <a:r>
                        <a:rPr lang="en-IN" sz="800" u="none" strike="noStrike">
                          <a:effectLst/>
                        </a:rPr>
                        <a:t>18900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7047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208.55</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13102</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179.85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6055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-28.7</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dirty="0">
                          <a:effectLst/>
                        </a:rPr>
                        <a:t>Shot build up</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524455231"/>
                  </a:ext>
                </a:extLst>
              </a:tr>
              <a:tr h="181747">
                <a:tc>
                  <a:txBody>
                    <a:bodyPr/>
                    <a:lstStyle/>
                    <a:p>
                      <a:pPr algn="r" fontAlgn="b"/>
                      <a:r>
                        <a:rPr lang="en-IN" sz="800" u="none" strike="noStrike">
                          <a:effectLst/>
                        </a:rPr>
                        <a:t>18950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969</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255.4</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1765</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226.5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796</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-28.9</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dirty="0">
                          <a:effectLst/>
                        </a:rPr>
                        <a:t>Shot build up</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444550158"/>
                  </a:ext>
                </a:extLst>
              </a:tr>
              <a:tr h="181747">
                <a:tc>
                  <a:txBody>
                    <a:bodyPr/>
                    <a:lstStyle/>
                    <a:p>
                      <a:pPr algn="r" fontAlgn="b"/>
                      <a:r>
                        <a:rPr lang="en-IN" sz="800" u="none" strike="noStrike">
                          <a:effectLst/>
                        </a:rPr>
                        <a:t>19000</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3133</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a:effectLst/>
                        </a:rPr>
                        <a:t>305</a:t>
                      </a:r>
                      <a:endParaRPr lang="en-IN" sz="800" b="0" i="0" u="none" strike="noStrike">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3997</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275.9</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864</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r" fontAlgn="b"/>
                      <a:r>
                        <a:rPr lang="en-IN" sz="800" u="none" strike="noStrike" dirty="0">
                          <a:effectLst/>
                        </a:rPr>
                        <a:t>-29.1</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r>
                        <a:rPr lang="en-IN" sz="800" u="none" strike="noStrike" dirty="0">
                          <a:effectLst/>
                        </a:rPr>
                        <a:t>Shot build up</a:t>
                      </a:r>
                      <a:endParaRPr lang="en-IN" sz="800" b="0" i="0" u="none" strike="noStrike" dirty="0">
                        <a:solidFill>
                          <a:srgbClr val="000000"/>
                        </a:solidFill>
                        <a:effectLst/>
                        <a:latin typeface="Calibri" panose="020F0502020204030204" pitchFamily="34" charset="0"/>
                      </a:endParaRPr>
                    </a:p>
                  </a:txBody>
                  <a:tcPr marL="7018" marR="7018" marT="7018" marB="0" anchor="b"/>
                </a:tc>
                <a:tc>
                  <a:txBody>
                    <a:bodyPr/>
                    <a:lstStyle/>
                    <a:p>
                      <a:pPr algn="l" fontAlgn="b"/>
                      <a:endParaRPr lang="en-IN" sz="800" b="0" i="0" u="none" strike="noStrike" dirty="0">
                        <a:solidFill>
                          <a:srgbClr val="000000"/>
                        </a:solidFill>
                        <a:effectLst/>
                        <a:latin typeface="Calibri" panose="020F0502020204030204" pitchFamily="34" charset="0"/>
                      </a:endParaRPr>
                    </a:p>
                  </a:txBody>
                  <a:tcPr marL="7018" marR="7018" marT="7018" marB="0" anchor="b"/>
                </a:tc>
                <a:extLst>
                  <a:ext uri="{0D108BD9-81ED-4DB2-BD59-A6C34878D82A}">
                    <a16:rowId xmlns:a16="http://schemas.microsoft.com/office/drawing/2014/main" val="2785839108"/>
                  </a:ext>
                </a:extLst>
              </a:tr>
            </a:tbl>
          </a:graphicData>
        </a:graphic>
      </p:graphicFrame>
    </p:spTree>
    <p:extLst>
      <p:ext uri="{BB962C8B-B14F-4D97-AF65-F5344CB8AC3E}">
        <p14:creationId xmlns:p14="http://schemas.microsoft.com/office/powerpoint/2010/main" val="14818760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13-06-2023</a:t>
            </a:r>
            <a:endParaRPr lang="en-IN" dirty="0"/>
          </a:p>
        </p:txBody>
      </p:sp>
      <p:pic>
        <p:nvPicPr>
          <p:cNvPr id="4" name="Picture 3">
            <a:extLst>
              <a:ext uri="{FF2B5EF4-FFF2-40B4-BE49-F238E27FC236}">
                <a16:creationId xmlns:a16="http://schemas.microsoft.com/office/drawing/2014/main" id="{41144833-BB4A-EFB8-D955-3328D5437FD4}"/>
              </a:ext>
            </a:extLst>
          </p:cNvPr>
          <p:cNvPicPr>
            <a:picLocks noChangeAspect="1"/>
          </p:cNvPicPr>
          <p:nvPr/>
        </p:nvPicPr>
        <p:blipFill>
          <a:blip r:embed="rId3"/>
          <a:stretch>
            <a:fillRect/>
          </a:stretch>
        </p:blipFill>
        <p:spPr>
          <a:xfrm>
            <a:off x="152400" y="1025158"/>
            <a:ext cx="11887200" cy="5158666"/>
          </a:xfrm>
          <a:prstGeom prst="rect">
            <a:avLst/>
          </a:prstGeom>
        </p:spPr>
      </p:pic>
    </p:spTree>
    <p:extLst>
      <p:ext uri="{BB962C8B-B14F-4D97-AF65-F5344CB8AC3E}">
        <p14:creationId xmlns:p14="http://schemas.microsoft.com/office/powerpoint/2010/main" val="4874033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13-06-2023</a:t>
            </a:r>
            <a:endParaRPr lang="en-IN" dirty="0"/>
          </a:p>
        </p:txBody>
      </p:sp>
      <p:pic>
        <p:nvPicPr>
          <p:cNvPr id="4" name="Picture 3">
            <a:extLst>
              <a:ext uri="{FF2B5EF4-FFF2-40B4-BE49-F238E27FC236}">
                <a16:creationId xmlns:a16="http://schemas.microsoft.com/office/drawing/2014/main" id="{EB707B9E-292F-2E67-1CB8-58D0ACBE4751}"/>
              </a:ext>
            </a:extLst>
          </p:cNvPr>
          <p:cNvPicPr>
            <a:picLocks noChangeAspect="1"/>
          </p:cNvPicPr>
          <p:nvPr/>
        </p:nvPicPr>
        <p:blipFill>
          <a:blip r:embed="rId3"/>
          <a:stretch>
            <a:fillRect/>
          </a:stretch>
        </p:blipFill>
        <p:spPr>
          <a:xfrm>
            <a:off x="378690" y="976610"/>
            <a:ext cx="11674764" cy="5325444"/>
          </a:xfrm>
          <a:prstGeom prst="rect">
            <a:avLst/>
          </a:prstGeom>
        </p:spPr>
      </p:pic>
    </p:spTree>
    <p:extLst>
      <p:ext uri="{BB962C8B-B14F-4D97-AF65-F5344CB8AC3E}">
        <p14:creationId xmlns:p14="http://schemas.microsoft.com/office/powerpoint/2010/main" val="5757817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8C34-31F1-FA65-53D7-3E44EBA3751D}"/>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0840B0B-C339-EA08-BD9A-74EC0889221B}"/>
              </a:ext>
            </a:extLst>
          </p:cNvPr>
          <p:cNvSpPr>
            <a:spLocks noGrp="1"/>
          </p:cNvSpPr>
          <p:nvPr>
            <p:ph idx="1"/>
          </p:nvPr>
        </p:nvSpPr>
        <p:spPr/>
        <p:txBody>
          <a:bodyPr/>
          <a:lstStyle/>
          <a:p>
            <a:pPr marL="0" indent="0">
              <a:buNone/>
            </a:pPr>
            <a:r>
              <a:rPr lang="en-US" dirty="0"/>
              <a:t>Market will open gap up next day</a:t>
            </a:r>
            <a:endParaRPr lang="en-IN" dirty="0"/>
          </a:p>
        </p:txBody>
      </p:sp>
    </p:spTree>
    <p:extLst>
      <p:ext uri="{BB962C8B-B14F-4D97-AF65-F5344CB8AC3E}">
        <p14:creationId xmlns:p14="http://schemas.microsoft.com/office/powerpoint/2010/main" val="30308818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395749" y="138983"/>
            <a:ext cx="10515600" cy="743239"/>
          </a:xfrm>
        </p:spPr>
        <p:txBody>
          <a:bodyPr/>
          <a:lstStyle/>
          <a:p>
            <a:r>
              <a:rPr lang="en-US" dirty="0"/>
              <a:t>30-06-2023</a:t>
            </a:r>
            <a:endParaRPr lang="en-IN" dirty="0"/>
          </a:p>
        </p:txBody>
      </p:sp>
      <p:graphicFrame>
        <p:nvGraphicFramePr>
          <p:cNvPr id="4" name="Table 3">
            <a:extLst>
              <a:ext uri="{FF2B5EF4-FFF2-40B4-BE49-F238E27FC236}">
                <a16:creationId xmlns:a16="http://schemas.microsoft.com/office/drawing/2014/main" id="{44405259-C0B6-6B02-EA47-E4683744D096}"/>
              </a:ext>
            </a:extLst>
          </p:cNvPr>
          <p:cNvGraphicFramePr>
            <a:graphicFrameLocks noGrp="1"/>
          </p:cNvGraphicFramePr>
          <p:nvPr>
            <p:extLst>
              <p:ext uri="{D42A27DB-BD31-4B8C-83A1-F6EECF244321}">
                <p14:modId xmlns:p14="http://schemas.microsoft.com/office/powerpoint/2010/main" val="1493001735"/>
              </p:ext>
            </p:extLst>
          </p:nvPr>
        </p:nvGraphicFramePr>
        <p:xfrm>
          <a:off x="629469" y="970713"/>
          <a:ext cx="10766117" cy="2667000"/>
        </p:xfrm>
        <a:graphic>
          <a:graphicData uri="http://schemas.openxmlformats.org/drawingml/2006/table">
            <a:tbl>
              <a:tblPr/>
              <a:tblGrid>
                <a:gridCol w="859414">
                  <a:extLst>
                    <a:ext uri="{9D8B030D-6E8A-4147-A177-3AD203B41FA5}">
                      <a16:colId xmlns:a16="http://schemas.microsoft.com/office/drawing/2014/main" val="3831255705"/>
                    </a:ext>
                  </a:extLst>
                </a:gridCol>
                <a:gridCol w="1468817">
                  <a:extLst>
                    <a:ext uri="{9D8B030D-6E8A-4147-A177-3AD203B41FA5}">
                      <a16:colId xmlns:a16="http://schemas.microsoft.com/office/drawing/2014/main" val="579412069"/>
                    </a:ext>
                  </a:extLst>
                </a:gridCol>
                <a:gridCol w="1535642">
                  <a:extLst>
                    <a:ext uri="{9D8B030D-6E8A-4147-A177-3AD203B41FA5}">
                      <a16:colId xmlns:a16="http://schemas.microsoft.com/office/drawing/2014/main" val="239637092"/>
                    </a:ext>
                  </a:extLst>
                </a:gridCol>
                <a:gridCol w="1495747">
                  <a:extLst>
                    <a:ext uri="{9D8B030D-6E8A-4147-A177-3AD203B41FA5}">
                      <a16:colId xmlns:a16="http://schemas.microsoft.com/office/drawing/2014/main" val="918879489"/>
                    </a:ext>
                  </a:extLst>
                </a:gridCol>
                <a:gridCol w="1562571">
                  <a:extLst>
                    <a:ext uri="{9D8B030D-6E8A-4147-A177-3AD203B41FA5}">
                      <a16:colId xmlns:a16="http://schemas.microsoft.com/office/drawing/2014/main" val="3743195974"/>
                    </a:ext>
                  </a:extLst>
                </a:gridCol>
                <a:gridCol w="1109426">
                  <a:extLst>
                    <a:ext uri="{9D8B030D-6E8A-4147-A177-3AD203B41FA5}">
                      <a16:colId xmlns:a16="http://schemas.microsoft.com/office/drawing/2014/main" val="2978378804"/>
                    </a:ext>
                  </a:extLst>
                </a:gridCol>
                <a:gridCol w="1625074">
                  <a:extLst>
                    <a:ext uri="{9D8B030D-6E8A-4147-A177-3AD203B41FA5}">
                      <a16:colId xmlns:a16="http://schemas.microsoft.com/office/drawing/2014/main" val="2253253474"/>
                    </a:ext>
                  </a:extLst>
                </a:gridCol>
                <a:gridCol w="1109426">
                  <a:extLst>
                    <a:ext uri="{9D8B030D-6E8A-4147-A177-3AD203B41FA5}">
                      <a16:colId xmlns:a16="http://schemas.microsoft.com/office/drawing/2014/main" val="1230774726"/>
                    </a:ext>
                  </a:extLst>
                </a:gridCol>
              </a:tblGrid>
              <a:tr h="190500">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CE_OI_03:33:42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CE_LTP_03:33:42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CE_OI_09:25:58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CE_LTP_09:25:58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1648301137"/>
                  </a:ext>
                </a:extLst>
              </a:tr>
              <a:tr h="190500">
                <a:tc>
                  <a:txBody>
                    <a:bodyPr/>
                    <a:lstStyle/>
                    <a:p>
                      <a:pPr algn="r" fontAlgn="b"/>
                      <a:r>
                        <a:rPr lang="en-IN" sz="1100" b="0" i="0" u="none" strike="noStrike">
                          <a:solidFill>
                            <a:srgbClr val="000000"/>
                          </a:solidFill>
                          <a:effectLst/>
                          <a:latin typeface="Calibri" panose="020F0502020204030204" pitchFamily="34" charset="0"/>
                        </a:rPr>
                        <a:t>18900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38454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311.85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52036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225.15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-13582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86.7</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2442000191"/>
                  </a:ext>
                </a:extLst>
              </a:tr>
              <a:tr h="190500">
                <a:tc>
                  <a:txBody>
                    <a:bodyPr/>
                    <a:lstStyle/>
                    <a:p>
                      <a:pPr algn="r" fontAlgn="b"/>
                      <a:r>
                        <a:rPr lang="en-IN" sz="1100" b="0" i="0" u="none" strike="noStrike">
                          <a:solidFill>
                            <a:srgbClr val="000000"/>
                          </a:solidFill>
                          <a:effectLst/>
                          <a:latin typeface="Calibri" panose="020F0502020204030204" pitchFamily="34" charset="0"/>
                        </a:rPr>
                        <a:t>18950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11287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263.1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14651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185.25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-3364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77.85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247172601"/>
                  </a:ext>
                </a:extLst>
              </a:tr>
              <a:tr h="190500">
                <a:tc>
                  <a:txBody>
                    <a:bodyPr/>
                    <a:lstStyle/>
                    <a:p>
                      <a:pPr algn="r" fontAlgn="b"/>
                      <a:r>
                        <a:rPr lang="en-IN" sz="1100" b="0" i="0" u="none" strike="noStrike">
                          <a:solidFill>
                            <a:srgbClr val="000000"/>
                          </a:solidFill>
                          <a:effectLst/>
                          <a:latin typeface="Calibri" panose="020F0502020204030204" pitchFamily="34" charset="0"/>
                        </a:rPr>
                        <a:t>19000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59145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104135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148.05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-44990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71.95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71732595"/>
                  </a:ext>
                </a:extLst>
              </a:tr>
              <a:tr h="190500">
                <a:tc>
                  <a:txBody>
                    <a:bodyPr/>
                    <a:lstStyle/>
                    <a:p>
                      <a:pPr algn="r" fontAlgn="b"/>
                      <a:r>
                        <a:rPr lang="en-IN" sz="1100" b="0" i="0" u="none" strike="noStrike">
                          <a:solidFill>
                            <a:srgbClr val="000000"/>
                          </a:solidFill>
                          <a:effectLst/>
                          <a:latin typeface="Calibri" panose="020F0502020204030204" pitchFamily="34" charset="0"/>
                        </a:rPr>
                        <a:t>19050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16358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44160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115.9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-27802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63.6</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892180510"/>
                  </a:ext>
                </a:extLst>
              </a:tr>
              <a:tr h="190500">
                <a:tc>
                  <a:txBody>
                    <a:bodyPr/>
                    <a:lstStyle/>
                    <a:p>
                      <a:pPr algn="r" fontAlgn="b"/>
                      <a:r>
                        <a:rPr lang="en-IN" sz="1100" b="0" i="0" u="none" strike="noStrike">
                          <a:solidFill>
                            <a:srgbClr val="000000"/>
                          </a:solidFill>
                          <a:effectLst/>
                          <a:latin typeface="Calibri" panose="020F0502020204030204" pitchFamily="34" charset="0"/>
                        </a:rPr>
                        <a:t>19100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79393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139.65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88489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87.8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-9096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51.85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3358321472"/>
                  </a:ext>
                </a:extLst>
              </a:tr>
              <a:tr h="190500">
                <a:tc>
                  <a:txBody>
                    <a:bodyPr/>
                    <a:lstStyle/>
                    <a:p>
                      <a:pPr algn="r" fontAlgn="b"/>
                      <a:r>
                        <a:rPr lang="en-IN" sz="1100" b="0" i="0" u="none" strike="noStrike">
                          <a:solidFill>
                            <a:srgbClr val="000000"/>
                          </a:solidFill>
                          <a:effectLst/>
                          <a:latin typeface="Calibri" panose="020F0502020204030204" pitchFamily="34" charset="0"/>
                        </a:rPr>
                        <a:t>19150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39607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36538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63.2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3069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42.8</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1237888949"/>
                  </a:ext>
                </a:extLst>
              </a:tr>
              <a:tr h="190500">
                <a:tc>
                  <a:txBody>
                    <a:bodyPr/>
                    <a:lstStyle/>
                    <a:p>
                      <a:pPr algn="r" fontAlgn="b"/>
                      <a:r>
                        <a:rPr lang="en-IN" sz="1100" b="0" i="0" u="none" strike="noStrike">
                          <a:solidFill>
                            <a:srgbClr val="000000"/>
                          </a:solidFill>
                          <a:effectLst/>
                          <a:latin typeface="Calibri" panose="020F0502020204030204" pitchFamily="34" charset="0"/>
                        </a:rPr>
                        <a:t>19200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138736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85473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43.95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53263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33.05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2597663601"/>
                  </a:ext>
                </a:extLst>
              </a:tr>
              <a:tr h="190500">
                <a:tc>
                  <a:txBody>
                    <a:bodyPr/>
                    <a:lstStyle/>
                    <a:p>
                      <a:pPr algn="r" fontAlgn="b"/>
                      <a:r>
                        <a:rPr lang="en-IN" sz="1100" b="0" i="0" u="none" strike="noStrike">
                          <a:solidFill>
                            <a:srgbClr val="000000"/>
                          </a:solidFill>
                          <a:effectLst/>
                          <a:latin typeface="Calibri" panose="020F0502020204030204" pitchFamily="34" charset="0"/>
                        </a:rPr>
                        <a:t>19250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53025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53.6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29213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23812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23.9</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1958035358"/>
                  </a:ext>
                </a:extLst>
              </a:tr>
              <a:tr h="190500">
                <a:tc>
                  <a:txBody>
                    <a:bodyPr/>
                    <a:lstStyle/>
                    <a:p>
                      <a:pPr algn="r" fontAlgn="b"/>
                      <a:r>
                        <a:rPr lang="en-IN" sz="1100" b="0" i="0" u="none" strike="noStrike">
                          <a:solidFill>
                            <a:srgbClr val="000000"/>
                          </a:solidFill>
                          <a:effectLst/>
                          <a:latin typeface="Calibri" panose="020F0502020204030204" pitchFamily="34" charset="0"/>
                        </a:rPr>
                        <a:t>19300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117686</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35.15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79727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37959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16.3</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1037047860"/>
                  </a:ext>
                </a:extLst>
              </a:tr>
              <a:tr h="190500">
                <a:tc>
                  <a:txBody>
                    <a:bodyPr/>
                    <a:lstStyle/>
                    <a:p>
                      <a:pPr algn="r" fontAlgn="b"/>
                      <a:r>
                        <a:rPr lang="en-IN" sz="1100" b="0" i="0" u="none" strike="noStrike">
                          <a:solidFill>
                            <a:srgbClr val="000000"/>
                          </a:solidFill>
                          <a:effectLst/>
                          <a:latin typeface="Calibri" panose="020F0502020204030204" pitchFamily="34" charset="0"/>
                        </a:rPr>
                        <a:t>19350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61739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29391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32348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9.85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474330355"/>
                  </a:ext>
                </a:extLst>
              </a:tr>
              <a:tr h="190500">
                <a:tc>
                  <a:txBody>
                    <a:bodyPr/>
                    <a:lstStyle/>
                    <a:p>
                      <a:pPr algn="r" fontAlgn="b"/>
                      <a:r>
                        <a:rPr lang="en-IN" sz="1100" b="0" i="0" u="none" strike="noStrike">
                          <a:solidFill>
                            <a:srgbClr val="000000"/>
                          </a:solidFill>
                          <a:effectLst/>
                          <a:latin typeface="Calibri" panose="020F0502020204030204" pitchFamily="34" charset="0"/>
                        </a:rPr>
                        <a:t>19400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124699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60841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63858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4.8</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2389871717"/>
                  </a:ext>
                </a:extLst>
              </a:tr>
              <a:tr h="190500">
                <a:tc>
                  <a:txBody>
                    <a:bodyPr/>
                    <a:lstStyle/>
                    <a:p>
                      <a:pPr algn="r" fontAlgn="b"/>
                      <a:r>
                        <a:rPr lang="en-IN" sz="1100" b="0" i="0" u="none" strike="noStrike">
                          <a:solidFill>
                            <a:srgbClr val="000000"/>
                          </a:solidFill>
                          <a:effectLst/>
                          <a:latin typeface="Calibri" panose="020F0502020204030204" pitchFamily="34" charset="0"/>
                        </a:rPr>
                        <a:t>19450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72818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35348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37470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1636481150"/>
                  </a:ext>
                </a:extLst>
              </a:tr>
              <a:tr h="190500">
                <a:tc>
                  <a:txBody>
                    <a:bodyPr/>
                    <a:lstStyle/>
                    <a:p>
                      <a:pPr algn="r" fontAlgn="b"/>
                      <a:r>
                        <a:rPr lang="en-IN" sz="1100" b="0" i="0" u="none" strike="noStrike">
                          <a:solidFill>
                            <a:srgbClr val="000000"/>
                          </a:solidFill>
                          <a:effectLst/>
                          <a:latin typeface="Calibri" panose="020F0502020204030204" pitchFamily="34" charset="0"/>
                        </a:rPr>
                        <a:t>19500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147104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101370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45734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4278269803"/>
                  </a:ext>
                </a:extLst>
              </a:tr>
            </a:tbl>
          </a:graphicData>
        </a:graphic>
      </p:graphicFrame>
      <p:graphicFrame>
        <p:nvGraphicFramePr>
          <p:cNvPr id="5" name="Table 4">
            <a:extLst>
              <a:ext uri="{FF2B5EF4-FFF2-40B4-BE49-F238E27FC236}">
                <a16:creationId xmlns:a16="http://schemas.microsoft.com/office/drawing/2014/main" id="{82DFC015-014C-6913-4BF8-733ABD0B1DBB}"/>
              </a:ext>
            </a:extLst>
          </p:cNvPr>
          <p:cNvGraphicFramePr>
            <a:graphicFrameLocks noGrp="1"/>
          </p:cNvGraphicFramePr>
          <p:nvPr>
            <p:extLst>
              <p:ext uri="{D42A27DB-BD31-4B8C-83A1-F6EECF244321}">
                <p14:modId xmlns:p14="http://schemas.microsoft.com/office/powerpoint/2010/main" val="223557487"/>
              </p:ext>
            </p:extLst>
          </p:nvPr>
        </p:nvGraphicFramePr>
        <p:xfrm>
          <a:off x="629468" y="3877162"/>
          <a:ext cx="10766116" cy="2667000"/>
        </p:xfrm>
        <a:graphic>
          <a:graphicData uri="http://schemas.openxmlformats.org/drawingml/2006/table">
            <a:tbl>
              <a:tblPr/>
              <a:tblGrid>
                <a:gridCol w="866964">
                  <a:extLst>
                    <a:ext uri="{9D8B030D-6E8A-4147-A177-3AD203B41FA5}">
                      <a16:colId xmlns:a16="http://schemas.microsoft.com/office/drawing/2014/main" val="372968033"/>
                    </a:ext>
                  </a:extLst>
                </a:gridCol>
                <a:gridCol w="1481720">
                  <a:extLst>
                    <a:ext uri="{9D8B030D-6E8A-4147-A177-3AD203B41FA5}">
                      <a16:colId xmlns:a16="http://schemas.microsoft.com/office/drawing/2014/main" val="2503981190"/>
                    </a:ext>
                  </a:extLst>
                </a:gridCol>
                <a:gridCol w="1560535">
                  <a:extLst>
                    <a:ext uri="{9D8B030D-6E8A-4147-A177-3AD203B41FA5}">
                      <a16:colId xmlns:a16="http://schemas.microsoft.com/office/drawing/2014/main" val="2400285786"/>
                    </a:ext>
                  </a:extLst>
                </a:gridCol>
                <a:gridCol w="1497483">
                  <a:extLst>
                    <a:ext uri="{9D8B030D-6E8A-4147-A177-3AD203B41FA5}">
                      <a16:colId xmlns:a16="http://schemas.microsoft.com/office/drawing/2014/main" val="2077302998"/>
                    </a:ext>
                  </a:extLst>
                </a:gridCol>
                <a:gridCol w="1576298">
                  <a:extLst>
                    <a:ext uri="{9D8B030D-6E8A-4147-A177-3AD203B41FA5}">
                      <a16:colId xmlns:a16="http://schemas.microsoft.com/office/drawing/2014/main" val="3310599789"/>
                    </a:ext>
                  </a:extLst>
                </a:gridCol>
                <a:gridCol w="1119172">
                  <a:extLst>
                    <a:ext uri="{9D8B030D-6E8A-4147-A177-3AD203B41FA5}">
                      <a16:colId xmlns:a16="http://schemas.microsoft.com/office/drawing/2014/main" val="3407691018"/>
                    </a:ext>
                  </a:extLst>
                </a:gridCol>
                <a:gridCol w="1639350">
                  <a:extLst>
                    <a:ext uri="{9D8B030D-6E8A-4147-A177-3AD203B41FA5}">
                      <a16:colId xmlns:a16="http://schemas.microsoft.com/office/drawing/2014/main" val="6011711"/>
                    </a:ext>
                  </a:extLst>
                </a:gridCol>
                <a:gridCol w="1024594">
                  <a:extLst>
                    <a:ext uri="{9D8B030D-6E8A-4147-A177-3AD203B41FA5}">
                      <a16:colId xmlns:a16="http://schemas.microsoft.com/office/drawing/2014/main" val="1234540214"/>
                    </a:ext>
                  </a:extLst>
                </a:gridCol>
              </a:tblGrid>
              <a:tr h="190500">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PE_OI_03:33:42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PE_LTP_03:33:42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PE_OI_09:25:58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PE_LTP_09:25:58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315368753"/>
                  </a:ext>
                </a:extLst>
              </a:tr>
              <a:tr h="190500">
                <a:tc>
                  <a:txBody>
                    <a:bodyPr/>
                    <a:lstStyle/>
                    <a:p>
                      <a:pPr algn="r" fontAlgn="b"/>
                      <a:r>
                        <a:rPr lang="en-IN" sz="1100" b="0" i="0" u="none" strike="noStrike">
                          <a:solidFill>
                            <a:srgbClr val="000000"/>
                          </a:solidFill>
                          <a:effectLst/>
                          <a:latin typeface="Calibri" panose="020F0502020204030204" pitchFamily="34" charset="0"/>
                        </a:rPr>
                        <a:t>18900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160632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154768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5864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-14.35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2470637339"/>
                  </a:ext>
                </a:extLst>
              </a:tr>
              <a:tr h="190500">
                <a:tc>
                  <a:txBody>
                    <a:bodyPr/>
                    <a:lstStyle/>
                    <a:p>
                      <a:pPr algn="r" fontAlgn="b"/>
                      <a:r>
                        <a:rPr lang="en-IN" sz="1100" b="0" i="0" u="none" strike="noStrike">
                          <a:solidFill>
                            <a:srgbClr val="000000"/>
                          </a:solidFill>
                          <a:effectLst/>
                          <a:latin typeface="Calibri" panose="020F0502020204030204" pitchFamily="34" charset="0"/>
                        </a:rPr>
                        <a:t>18950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61272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44949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43.1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16323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-20.1</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147403165"/>
                  </a:ext>
                </a:extLst>
              </a:tr>
              <a:tr h="190500">
                <a:tc>
                  <a:txBody>
                    <a:bodyPr/>
                    <a:lstStyle/>
                    <a:p>
                      <a:pPr algn="r" fontAlgn="b"/>
                      <a:r>
                        <a:rPr lang="en-IN" sz="1100" b="0" i="0" u="none" strike="noStrike">
                          <a:solidFill>
                            <a:srgbClr val="000000"/>
                          </a:solidFill>
                          <a:effectLst/>
                          <a:latin typeface="Calibri" panose="020F0502020204030204" pitchFamily="34" charset="0"/>
                        </a:rPr>
                        <a:t>19000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243540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153462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56.55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90078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-27.55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193239450"/>
                  </a:ext>
                </a:extLst>
              </a:tr>
              <a:tr h="190500">
                <a:tc>
                  <a:txBody>
                    <a:bodyPr/>
                    <a:lstStyle/>
                    <a:p>
                      <a:pPr algn="r" fontAlgn="b"/>
                      <a:r>
                        <a:rPr lang="en-IN" sz="1100" b="0" i="0" u="none" strike="noStrike">
                          <a:solidFill>
                            <a:srgbClr val="000000"/>
                          </a:solidFill>
                          <a:effectLst/>
                          <a:latin typeface="Calibri" panose="020F0502020204030204" pitchFamily="34" charset="0"/>
                        </a:rPr>
                        <a:t>19050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79410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37.9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37520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73.85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41890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-35.95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243336701"/>
                  </a:ext>
                </a:extLst>
              </a:tr>
              <a:tr h="190500">
                <a:tc>
                  <a:txBody>
                    <a:bodyPr/>
                    <a:lstStyle/>
                    <a:p>
                      <a:pPr algn="r" fontAlgn="b"/>
                      <a:r>
                        <a:rPr lang="en-IN" sz="1100" b="0" i="0" u="none" strike="noStrike">
                          <a:solidFill>
                            <a:srgbClr val="000000"/>
                          </a:solidFill>
                          <a:effectLst/>
                          <a:latin typeface="Calibri" panose="020F0502020204030204" pitchFamily="34" charset="0"/>
                        </a:rPr>
                        <a:t>19100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181121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50649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96.2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130472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-48.2</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114106722"/>
                  </a:ext>
                </a:extLst>
              </a:tr>
              <a:tr h="190500">
                <a:tc>
                  <a:txBody>
                    <a:bodyPr/>
                    <a:lstStyle/>
                    <a:p>
                      <a:pPr algn="r" fontAlgn="b"/>
                      <a:r>
                        <a:rPr lang="en-IN" sz="1100" b="0" i="0" u="none" strike="noStrike">
                          <a:solidFill>
                            <a:srgbClr val="000000"/>
                          </a:solidFill>
                          <a:effectLst/>
                          <a:latin typeface="Calibri" panose="020F0502020204030204" pitchFamily="34" charset="0"/>
                        </a:rPr>
                        <a:t>19150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70171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65.15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8681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61490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-55.85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099006588"/>
                  </a:ext>
                </a:extLst>
              </a:tr>
              <a:tr h="190500">
                <a:tc>
                  <a:txBody>
                    <a:bodyPr/>
                    <a:lstStyle/>
                    <a:p>
                      <a:pPr algn="r" fontAlgn="b"/>
                      <a:r>
                        <a:rPr lang="en-IN" sz="1100" b="0" i="0" u="none" strike="noStrike">
                          <a:solidFill>
                            <a:srgbClr val="000000"/>
                          </a:solidFill>
                          <a:effectLst/>
                          <a:latin typeface="Calibri" panose="020F0502020204030204" pitchFamily="34" charset="0"/>
                        </a:rPr>
                        <a:t>19200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103814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85.6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18139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153.15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85675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-67.55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742288225"/>
                  </a:ext>
                </a:extLst>
              </a:tr>
              <a:tr h="190500">
                <a:tc>
                  <a:txBody>
                    <a:bodyPr/>
                    <a:lstStyle/>
                    <a:p>
                      <a:pPr algn="r" fontAlgn="b"/>
                      <a:r>
                        <a:rPr lang="en-IN" sz="1100" b="0" i="0" u="none" strike="noStrike">
                          <a:solidFill>
                            <a:srgbClr val="000000"/>
                          </a:solidFill>
                          <a:effectLst/>
                          <a:latin typeface="Calibri" panose="020F0502020204030204" pitchFamily="34" charset="0"/>
                        </a:rPr>
                        <a:t>19250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15758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112.2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188.55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13663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-76.35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2392344195"/>
                  </a:ext>
                </a:extLst>
              </a:tr>
              <a:tr h="190500">
                <a:tc>
                  <a:txBody>
                    <a:bodyPr/>
                    <a:lstStyle/>
                    <a:p>
                      <a:pPr algn="r" fontAlgn="b"/>
                      <a:r>
                        <a:rPr lang="en-IN" sz="1100" b="0" i="0" u="none" strike="noStrike">
                          <a:solidFill>
                            <a:srgbClr val="000000"/>
                          </a:solidFill>
                          <a:effectLst/>
                          <a:latin typeface="Calibri" panose="020F0502020204030204" pitchFamily="34" charset="0"/>
                        </a:rPr>
                        <a:t>19300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24030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144.15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2906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228.2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21124</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-84.05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2552835288"/>
                  </a:ext>
                </a:extLst>
              </a:tr>
              <a:tr h="190500">
                <a:tc>
                  <a:txBody>
                    <a:bodyPr/>
                    <a:lstStyle/>
                    <a:p>
                      <a:pPr algn="r" fontAlgn="b"/>
                      <a:r>
                        <a:rPr lang="en-IN" sz="1100" b="0" i="0" u="none" strike="noStrike">
                          <a:solidFill>
                            <a:srgbClr val="000000"/>
                          </a:solidFill>
                          <a:effectLst/>
                          <a:latin typeface="Calibri" panose="020F0502020204030204" pitchFamily="34" charset="0"/>
                        </a:rPr>
                        <a:t>19350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3300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180.2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374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2926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-91.8</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206189605"/>
                  </a:ext>
                </a:extLst>
              </a:tr>
              <a:tr h="190500">
                <a:tc>
                  <a:txBody>
                    <a:bodyPr/>
                    <a:lstStyle/>
                    <a:p>
                      <a:pPr algn="r" fontAlgn="b"/>
                      <a:r>
                        <a:rPr lang="en-IN" sz="1100" b="0" i="0" u="none" strike="noStrike">
                          <a:solidFill>
                            <a:srgbClr val="000000"/>
                          </a:solidFill>
                          <a:effectLst/>
                          <a:latin typeface="Calibri" panose="020F0502020204030204" pitchFamily="34" charset="0"/>
                        </a:rPr>
                        <a:t>19400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5194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220.75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1089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4105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-95.25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700793460"/>
                  </a:ext>
                </a:extLst>
              </a:tr>
              <a:tr h="190500">
                <a:tc>
                  <a:txBody>
                    <a:bodyPr/>
                    <a:lstStyle/>
                    <a:p>
                      <a:pPr algn="r" fontAlgn="b"/>
                      <a:r>
                        <a:rPr lang="en-IN" sz="1100" b="0" i="0" u="none" strike="noStrike">
                          <a:solidFill>
                            <a:srgbClr val="000000"/>
                          </a:solidFill>
                          <a:effectLst/>
                          <a:latin typeface="Calibri" panose="020F0502020204030204" pitchFamily="34" charset="0"/>
                        </a:rPr>
                        <a:t>19450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267.6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362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302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-94.4</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183164812"/>
                  </a:ext>
                </a:extLst>
              </a:tr>
              <a:tr h="190500">
                <a:tc>
                  <a:txBody>
                    <a:bodyPr/>
                    <a:lstStyle/>
                    <a:p>
                      <a:pPr algn="r" fontAlgn="b"/>
                      <a:r>
                        <a:rPr lang="en-IN" sz="1100" b="0" i="0" u="none" strike="noStrike">
                          <a:solidFill>
                            <a:srgbClr val="000000"/>
                          </a:solidFill>
                          <a:effectLst/>
                          <a:latin typeface="Calibri" panose="020F0502020204030204" pitchFamily="34" charset="0"/>
                        </a:rPr>
                        <a:t>19500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2564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314.95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1113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411.95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1451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-97</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743747568"/>
                  </a:ext>
                </a:extLst>
              </a:tr>
            </a:tbl>
          </a:graphicData>
        </a:graphic>
      </p:graphicFrame>
    </p:spTree>
    <p:extLst>
      <p:ext uri="{BB962C8B-B14F-4D97-AF65-F5344CB8AC3E}">
        <p14:creationId xmlns:p14="http://schemas.microsoft.com/office/powerpoint/2010/main" val="229220961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30-06-2023</a:t>
            </a:r>
            <a:endParaRPr lang="en-IN" dirty="0"/>
          </a:p>
        </p:txBody>
      </p:sp>
      <p:pic>
        <p:nvPicPr>
          <p:cNvPr id="5" name="Picture 4">
            <a:extLst>
              <a:ext uri="{FF2B5EF4-FFF2-40B4-BE49-F238E27FC236}">
                <a16:creationId xmlns:a16="http://schemas.microsoft.com/office/drawing/2014/main" id="{4DAC4C5E-DFF0-BEA6-74A8-AEE4DCE9C2A4}"/>
              </a:ext>
            </a:extLst>
          </p:cNvPr>
          <p:cNvPicPr>
            <a:picLocks noChangeAspect="1"/>
          </p:cNvPicPr>
          <p:nvPr/>
        </p:nvPicPr>
        <p:blipFill>
          <a:blip r:embed="rId3"/>
          <a:stretch>
            <a:fillRect/>
          </a:stretch>
        </p:blipFill>
        <p:spPr>
          <a:xfrm>
            <a:off x="0" y="1031928"/>
            <a:ext cx="12192000" cy="5325085"/>
          </a:xfrm>
          <a:prstGeom prst="rect">
            <a:avLst/>
          </a:prstGeom>
        </p:spPr>
      </p:pic>
    </p:spTree>
    <p:extLst>
      <p:ext uri="{BB962C8B-B14F-4D97-AF65-F5344CB8AC3E}">
        <p14:creationId xmlns:p14="http://schemas.microsoft.com/office/powerpoint/2010/main" val="3596482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30-06-2023</a:t>
            </a:r>
            <a:endParaRPr lang="en-IN" dirty="0"/>
          </a:p>
        </p:txBody>
      </p:sp>
      <p:pic>
        <p:nvPicPr>
          <p:cNvPr id="5" name="Picture 4">
            <a:extLst>
              <a:ext uri="{FF2B5EF4-FFF2-40B4-BE49-F238E27FC236}">
                <a16:creationId xmlns:a16="http://schemas.microsoft.com/office/drawing/2014/main" id="{8DBB5F5D-06DF-C128-9C0C-E70F41B4F359}"/>
              </a:ext>
            </a:extLst>
          </p:cNvPr>
          <p:cNvPicPr>
            <a:picLocks noChangeAspect="1"/>
          </p:cNvPicPr>
          <p:nvPr/>
        </p:nvPicPr>
        <p:blipFill>
          <a:blip r:embed="rId3"/>
          <a:stretch>
            <a:fillRect/>
          </a:stretch>
        </p:blipFill>
        <p:spPr>
          <a:xfrm>
            <a:off x="186813" y="1018916"/>
            <a:ext cx="11749548" cy="5667019"/>
          </a:xfrm>
          <a:prstGeom prst="rect">
            <a:avLst/>
          </a:prstGeom>
        </p:spPr>
      </p:pic>
    </p:spTree>
    <p:extLst>
      <p:ext uri="{BB962C8B-B14F-4D97-AF65-F5344CB8AC3E}">
        <p14:creationId xmlns:p14="http://schemas.microsoft.com/office/powerpoint/2010/main" val="37768427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8C34-31F1-FA65-53D7-3E44EBA3751D}"/>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0840B0B-C339-EA08-BD9A-74EC0889221B}"/>
              </a:ext>
            </a:extLst>
          </p:cNvPr>
          <p:cNvSpPr>
            <a:spLocks noGrp="1"/>
          </p:cNvSpPr>
          <p:nvPr>
            <p:ph idx="1"/>
          </p:nvPr>
        </p:nvSpPr>
        <p:spPr>
          <a:xfrm>
            <a:off x="838200" y="1376516"/>
            <a:ext cx="10515600" cy="4800447"/>
          </a:xfrm>
        </p:spPr>
        <p:txBody>
          <a:bodyPr/>
          <a:lstStyle/>
          <a:p>
            <a:r>
              <a:rPr lang="en-US" dirty="0"/>
              <a:t>Market will be bullish tomorrow as the last 45 mins and the over all data is showing bullish view on all the strike prices.</a:t>
            </a:r>
          </a:p>
          <a:p>
            <a:r>
              <a:rPr lang="en-US" dirty="0"/>
              <a:t>Market may open gap up.</a:t>
            </a:r>
          </a:p>
        </p:txBody>
      </p:sp>
    </p:spTree>
    <p:extLst>
      <p:ext uri="{BB962C8B-B14F-4D97-AF65-F5344CB8AC3E}">
        <p14:creationId xmlns:p14="http://schemas.microsoft.com/office/powerpoint/2010/main" val="33295439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395749" y="138983"/>
            <a:ext cx="10515600" cy="743239"/>
          </a:xfrm>
        </p:spPr>
        <p:txBody>
          <a:bodyPr/>
          <a:lstStyle/>
          <a:p>
            <a:r>
              <a:rPr lang="en-US" dirty="0"/>
              <a:t>03-07-2023</a:t>
            </a:r>
            <a:endParaRPr lang="en-IN" dirty="0"/>
          </a:p>
        </p:txBody>
      </p:sp>
      <p:graphicFrame>
        <p:nvGraphicFramePr>
          <p:cNvPr id="3" name="Table 2">
            <a:extLst>
              <a:ext uri="{FF2B5EF4-FFF2-40B4-BE49-F238E27FC236}">
                <a16:creationId xmlns:a16="http://schemas.microsoft.com/office/drawing/2014/main" id="{F306AFE8-8E42-CA5F-7D0B-52FDB9148D2B}"/>
              </a:ext>
            </a:extLst>
          </p:cNvPr>
          <p:cNvGraphicFramePr>
            <a:graphicFrameLocks noGrp="1"/>
          </p:cNvGraphicFramePr>
          <p:nvPr>
            <p:extLst>
              <p:ext uri="{D42A27DB-BD31-4B8C-83A1-F6EECF244321}">
                <p14:modId xmlns:p14="http://schemas.microsoft.com/office/powerpoint/2010/main" val="3179824618"/>
              </p:ext>
            </p:extLst>
          </p:nvPr>
        </p:nvGraphicFramePr>
        <p:xfrm>
          <a:off x="147484" y="882222"/>
          <a:ext cx="11444748" cy="2667000"/>
        </p:xfrm>
        <a:graphic>
          <a:graphicData uri="http://schemas.openxmlformats.org/drawingml/2006/table">
            <a:tbl>
              <a:tblPr/>
              <a:tblGrid>
                <a:gridCol w="916246">
                  <a:extLst>
                    <a:ext uri="{9D8B030D-6E8A-4147-A177-3AD203B41FA5}">
                      <a16:colId xmlns:a16="http://schemas.microsoft.com/office/drawing/2014/main" val="740898243"/>
                    </a:ext>
                  </a:extLst>
                </a:gridCol>
                <a:gridCol w="1565948">
                  <a:extLst>
                    <a:ext uri="{9D8B030D-6E8A-4147-A177-3AD203B41FA5}">
                      <a16:colId xmlns:a16="http://schemas.microsoft.com/office/drawing/2014/main" val="734425592"/>
                    </a:ext>
                  </a:extLst>
                </a:gridCol>
                <a:gridCol w="1649243">
                  <a:extLst>
                    <a:ext uri="{9D8B030D-6E8A-4147-A177-3AD203B41FA5}">
                      <a16:colId xmlns:a16="http://schemas.microsoft.com/office/drawing/2014/main" val="1445146994"/>
                    </a:ext>
                  </a:extLst>
                </a:gridCol>
                <a:gridCol w="1582607">
                  <a:extLst>
                    <a:ext uri="{9D8B030D-6E8A-4147-A177-3AD203B41FA5}">
                      <a16:colId xmlns:a16="http://schemas.microsoft.com/office/drawing/2014/main" val="3669418882"/>
                    </a:ext>
                  </a:extLst>
                </a:gridCol>
                <a:gridCol w="1665902">
                  <a:extLst>
                    <a:ext uri="{9D8B030D-6E8A-4147-A177-3AD203B41FA5}">
                      <a16:colId xmlns:a16="http://schemas.microsoft.com/office/drawing/2014/main" val="2408641754"/>
                    </a:ext>
                  </a:extLst>
                </a:gridCol>
                <a:gridCol w="1182790">
                  <a:extLst>
                    <a:ext uri="{9D8B030D-6E8A-4147-A177-3AD203B41FA5}">
                      <a16:colId xmlns:a16="http://schemas.microsoft.com/office/drawing/2014/main" val="3268689427"/>
                    </a:ext>
                  </a:extLst>
                </a:gridCol>
                <a:gridCol w="1732539">
                  <a:extLst>
                    <a:ext uri="{9D8B030D-6E8A-4147-A177-3AD203B41FA5}">
                      <a16:colId xmlns:a16="http://schemas.microsoft.com/office/drawing/2014/main" val="1414215215"/>
                    </a:ext>
                  </a:extLst>
                </a:gridCol>
                <a:gridCol w="1149473">
                  <a:extLst>
                    <a:ext uri="{9D8B030D-6E8A-4147-A177-3AD203B41FA5}">
                      <a16:colId xmlns:a16="http://schemas.microsoft.com/office/drawing/2014/main" val="509811121"/>
                    </a:ext>
                  </a:extLst>
                </a:gridCol>
              </a:tblGrid>
              <a:tr h="190500">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CE_OI_03:32:39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CE_LTP_03:32:39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CE_OI_09:25:55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CE_LTP_09:25:55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902512158"/>
                  </a:ext>
                </a:extLst>
              </a:tr>
              <a:tr h="190500">
                <a:tc>
                  <a:txBody>
                    <a:bodyPr/>
                    <a:lstStyle/>
                    <a:p>
                      <a:pPr algn="r" fontAlgn="b"/>
                      <a:r>
                        <a:rPr lang="en-IN" sz="1100" b="0" i="0" u="none" strike="noStrike">
                          <a:solidFill>
                            <a:srgbClr val="000000"/>
                          </a:solidFill>
                          <a:effectLst/>
                          <a:latin typeface="Calibri" panose="020F0502020204030204" pitchFamily="34" charset="0"/>
                        </a:rPr>
                        <a:t>19000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37582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347.8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46784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298.55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-9202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49.25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3224744370"/>
                  </a:ext>
                </a:extLst>
              </a:tr>
              <a:tr h="190500">
                <a:tc>
                  <a:txBody>
                    <a:bodyPr/>
                    <a:lstStyle/>
                    <a:p>
                      <a:pPr algn="r" fontAlgn="b"/>
                      <a:r>
                        <a:rPr lang="en-IN" sz="1100" b="0" i="0" u="none" strike="noStrike">
                          <a:solidFill>
                            <a:srgbClr val="000000"/>
                          </a:solidFill>
                          <a:effectLst/>
                          <a:latin typeface="Calibri" panose="020F0502020204030204" pitchFamily="34" charset="0"/>
                        </a:rPr>
                        <a:t>19050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9157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298.1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15705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252.15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-6548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45.95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2289114322"/>
                  </a:ext>
                </a:extLst>
              </a:tr>
              <a:tr h="190500">
                <a:tc>
                  <a:txBody>
                    <a:bodyPr/>
                    <a:lstStyle/>
                    <a:p>
                      <a:pPr algn="r" fontAlgn="b"/>
                      <a:r>
                        <a:rPr lang="en-IN" sz="1100" b="0" i="0" u="none" strike="noStrike">
                          <a:solidFill>
                            <a:srgbClr val="000000"/>
                          </a:solidFill>
                          <a:effectLst/>
                          <a:latin typeface="Calibri" panose="020F0502020204030204" pitchFamily="34" charset="0"/>
                        </a:rPr>
                        <a:t>19100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33649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251.7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68574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208.75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-34925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42.95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1906108142"/>
                  </a:ext>
                </a:extLst>
              </a:tr>
              <a:tr h="190500">
                <a:tc>
                  <a:txBody>
                    <a:bodyPr/>
                    <a:lstStyle/>
                    <a:p>
                      <a:pPr algn="r" fontAlgn="b"/>
                      <a:r>
                        <a:rPr lang="en-IN" sz="1100" b="0" i="0" u="none" strike="noStrike">
                          <a:solidFill>
                            <a:srgbClr val="000000"/>
                          </a:solidFill>
                          <a:effectLst/>
                          <a:latin typeface="Calibri" panose="020F0502020204030204" pitchFamily="34" charset="0"/>
                        </a:rPr>
                        <a:t>19150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17559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38073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-20514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40</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2491268815"/>
                  </a:ext>
                </a:extLst>
              </a:tr>
              <a:tr h="190500">
                <a:tc>
                  <a:txBody>
                    <a:bodyPr/>
                    <a:lstStyle/>
                    <a:p>
                      <a:pPr algn="r" fontAlgn="b"/>
                      <a:r>
                        <a:rPr lang="en-IN" sz="1100" b="0" i="0" u="none" strike="noStrike">
                          <a:solidFill>
                            <a:srgbClr val="000000"/>
                          </a:solidFill>
                          <a:effectLst/>
                          <a:latin typeface="Calibri" panose="020F0502020204030204" pitchFamily="34" charset="0"/>
                        </a:rPr>
                        <a:t>19200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65431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165.25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137376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130.55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-71945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34.7</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313387246"/>
                  </a:ext>
                </a:extLst>
              </a:tr>
              <a:tr h="190500">
                <a:tc>
                  <a:txBody>
                    <a:bodyPr/>
                    <a:lstStyle/>
                    <a:p>
                      <a:pPr algn="r" fontAlgn="b"/>
                      <a:r>
                        <a:rPr lang="en-IN" sz="1100" b="0" i="0" u="none" strike="noStrike">
                          <a:solidFill>
                            <a:srgbClr val="000000"/>
                          </a:solidFill>
                          <a:effectLst/>
                          <a:latin typeface="Calibri" panose="020F0502020204030204" pitchFamily="34" charset="0"/>
                        </a:rPr>
                        <a:t>19250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40888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125.95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77910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-37022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28.65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covering</a:t>
                      </a:r>
                    </a:p>
                  </a:txBody>
                  <a:tcPr marL="9525" marR="9525" marT="9525" marB="0" anchor="b">
                    <a:lnL>
                      <a:noFill/>
                    </a:lnL>
                    <a:lnR>
                      <a:noFill/>
                    </a:lnR>
                    <a:lnT>
                      <a:noFill/>
                    </a:lnT>
                    <a:lnB>
                      <a:noFill/>
                    </a:lnB>
                  </a:tcPr>
                </a:tc>
                <a:extLst>
                  <a:ext uri="{0D108BD9-81ED-4DB2-BD59-A6C34878D82A}">
                    <a16:rowId xmlns:a16="http://schemas.microsoft.com/office/drawing/2014/main" val="317629887"/>
                  </a:ext>
                </a:extLst>
              </a:tr>
              <a:tr h="190500">
                <a:tc>
                  <a:txBody>
                    <a:bodyPr/>
                    <a:lstStyle/>
                    <a:p>
                      <a:pPr algn="r" fontAlgn="b"/>
                      <a:r>
                        <a:rPr lang="en-IN" sz="1100" b="0" i="0" u="none" strike="noStrike">
                          <a:solidFill>
                            <a:srgbClr val="000000"/>
                          </a:solidFill>
                          <a:effectLst/>
                          <a:latin typeface="Calibri" panose="020F0502020204030204" pitchFamily="34" charset="0"/>
                        </a:rPr>
                        <a:t>19300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201718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152228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70.05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49490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21.95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4013682029"/>
                  </a:ext>
                </a:extLst>
              </a:tr>
              <a:tr h="190500">
                <a:tc>
                  <a:txBody>
                    <a:bodyPr/>
                    <a:lstStyle/>
                    <a:p>
                      <a:pPr algn="r" fontAlgn="b"/>
                      <a:r>
                        <a:rPr lang="en-IN" sz="1100" b="0" i="0" u="none" strike="noStrike" dirty="0">
                          <a:solidFill>
                            <a:srgbClr val="000000"/>
                          </a:solidFill>
                          <a:effectLst/>
                          <a:latin typeface="Calibri" panose="020F0502020204030204" pitchFamily="34" charset="0"/>
                        </a:rPr>
                        <a:t>19350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84735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64.95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73550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47.5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11185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17.45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2812385648"/>
                  </a:ext>
                </a:extLst>
              </a:tr>
              <a:tr h="190500">
                <a:tc>
                  <a:txBody>
                    <a:bodyPr/>
                    <a:lstStyle/>
                    <a:p>
                      <a:pPr algn="r" fontAlgn="b"/>
                      <a:r>
                        <a:rPr lang="en-IN" sz="1100" b="0" i="0" u="none" strike="noStrike">
                          <a:solidFill>
                            <a:srgbClr val="000000"/>
                          </a:solidFill>
                          <a:effectLst/>
                          <a:latin typeface="Calibri" panose="020F0502020204030204" pitchFamily="34" charset="0"/>
                        </a:rPr>
                        <a:t>19400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151359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42.85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143463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30.75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7896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12.1</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3133662069"/>
                  </a:ext>
                </a:extLst>
              </a:tr>
              <a:tr h="190500">
                <a:tc>
                  <a:txBody>
                    <a:bodyPr/>
                    <a:lstStyle/>
                    <a:p>
                      <a:pPr algn="r" fontAlgn="b"/>
                      <a:r>
                        <a:rPr lang="en-IN" sz="1100" b="0" i="0" u="none" strike="noStrike">
                          <a:solidFill>
                            <a:srgbClr val="000000"/>
                          </a:solidFill>
                          <a:effectLst/>
                          <a:latin typeface="Calibri" panose="020F0502020204030204" pitchFamily="34" charset="0"/>
                        </a:rPr>
                        <a:t>19450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85127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84723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404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8.6</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2892572042"/>
                  </a:ext>
                </a:extLst>
              </a:tr>
              <a:tr h="190500">
                <a:tc>
                  <a:txBody>
                    <a:bodyPr/>
                    <a:lstStyle/>
                    <a:p>
                      <a:pPr algn="r" fontAlgn="b"/>
                      <a:r>
                        <a:rPr lang="en-IN" sz="1100" b="0" i="0" u="none" strike="noStrike" dirty="0">
                          <a:solidFill>
                            <a:srgbClr val="000000"/>
                          </a:solidFill>
                          <a:effectLst/>
                          <a:latin typeface="Calibri" panose="020F0502020204030204" pitchFamily="34" charset="0"/>
                        </a:rPr>
                        <a:t>19500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210566</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153271</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11.95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57295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5.05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2585225983"/>
                  </a:ext>
                </a:extLst>
              </a:tr>
              <a:tr h="190500">
                <a:tc>
                  <a:txBody>
                    <a:bodyPr/>
                    <a:lstStyle/>
                    <a:p>
                      <a:pPr algn="r" fontAlgn="b"/>
                      <a:r>
                        <a:rPr lang="en-IN" sz="1100" b="0" i="0" u="none" strike="noStrike">
                          <a:solidFill>
                            <a:srgbClr val="000000"/>
                          </a:solidFill>
                          <a:effectLst/>
                          <a:latin typeface="Calibri" panose="020F0502020204030204" pitchFamily="34" charset="0"/>
                        </a:rPr>
                        <a:t>19550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85840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36692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49148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2867957020"/>
                  </a:ext>
                </a:extLst>
              </a:tr>
              <a:tr h="190500">
                <a:tc>
                  <a:txBody>
                    <a:bodyPr/>
                    <a:lstStyle/>
                    <a:p>
                      <a:pPr algn="r" fontAlgn="b"/>
                      <a:r>
                        <a:rPr lang="en-IN" sz="1100" b="0" i="0" u="none" strike="noStrike">
                          <a:solidFill>
                            <a:srgbClr val="000000"/>
                          </a:solidFill>
                          <a:effectLst/>
                          <a:latin typeface="Calibri" panose="020F0502020204030204" pitchFamily="34" charset="0"/>
                        </a:rPr>
                        <a:t>19600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113340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71519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41821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1.55</a:t>
                      </a:r>
                    </a:p>
                  </a:txBody>
                  <a:tcPr marL="9525" marR="9525" marT="9525" marB="0" anchor="b">
                    <a:lnL>
                      <a:noFill/>
                    </a:lnL>
                    <a:lnR>
                      <a:noFill/>
                    </a:lnR>
                    <a:lnT>
                      <a:noFill/>
                    </a:lnT>
                    <a:lnB>
                      <a:noFill/>
                    </a:lnB>
                  </a:tcPr>
                </a:tc>
                <a:tc>
                  <a:txBody>
                    <a:bodyPr/>
                    <a:lstStyle/>
                    <a:p>
                      <a:pPr algn="l" fontAlgn="b"/>
                      <a:r>
                        <a:rPr lang="en-IN" sz="1100" b="1" i="0" u="none" strike="noStrike" dirty="0">
                          <a:solidFill>
                            <a:srgbClr val="00B050"/>
                          </a:solidFill>
                          <a:effectLst/>
                          <a:latin typeface="Calibri" panose="020F0502020204030204" pitchFamily="34" charset="0"/>
                        </a:rPr>
                        <a:t>Long Buildup</a:t>
                      </a:r>
                    </a:p>
                  </a:txBody>
                  <a:tcPr marL="9525" marR="9525" marT="9525" marB="0" anchor="b">
                    <a:lnL>
                      <a:noFill/>
                    </a:lnL>
                    <a:lnR>
                      <a:noFill/>
                    </a:lnR>
                    <a:lnT>
                      <a:noFill/>
                    </a:lnT>
                    <a:lnB>
                      <a:noFill/>
                    </a:lnB>
                  </a:tcPr>
                </a:tc>
                <a:extLst>
                  <a:ext uri="{0D108BD9-81ED-4DB2-BD59-A6C34878D82A}">
                    <a16:rowId xmlns:a16="http://schemas.microsoft.com/office/drawing/2014/main" val="2716312993"/>
                  </a:ext>
                </a:extLst>
              </a:tr>
            </a:tbl>
          </a:graphicData>
        </a:graphic>
      </p:graphicFrame>
      <p:graphicFrame>
        <p:nvGraphicFramePr>
          <p:cNvPr id="6" name="Table 5">
            <a:extLst>
              <a:ext uri="{FF2B5EF4-FFF2-40B4-BE49-F238E27FC236}">
                <a16:creationId xmlns:a16="http://schemas.microsoft.com/office/drawing/2014/main" id="{C6A438C1-7EA1-E610-E52F-06CB09BDC233}"/>
              </a:ext>
            </a:extLst>
          </p:cNvPr>
          <p:cNvGraphicFramePr>
            <a:graphicFrameLocks noGrp="1"/>
          </p:cNvGraphicFramePr>
          <p:nvPr>
            <p:extLst>
              <p:ext uri="{D42A27DB-BD31-4B8C-83A1-F6EECF244321}">
                <p14:modId xmlns:p14="http://schemas.microsoft.com/office/powerpoint/2010/main" val="1790107925"/>
              </p:ext>
            </p:extLst>
          </p:nvPr>
        </p:nvGraphicFramePr>
        <p:xfrm>
          <a:off x="147483" y="3700182"/>
          <a:ext cx="11523408" cy="2667000"/>
        </p:xfrm>
        <a:graphic>
          <a:graphicData uri="http://schemas.openxmlformats.org/drawingml/2006/table">
            <a:tbl>
              <a:tblPr/>
              <a:tblGrid>
                <a:gridCol w="921202">
                  <a:extLst>
                    <a:ext uri="{9D8B030D-6E8A-4147-A177-3AD203B41FA5}">
                      <a16:colId xmlns:a16="http://schemas.microsoft.com/office/drawing/2014/main" val="181694418"/>
                    </a:ext>
                  </a:extLst>
                </a:gridCol>
                <a:gridCol w="1574419">
                  <a:extLst>
                    <a:ext uri="{9D8B030D-6E8A-4147-A177-3AD203B41FA5}">
                      <a16:colId xmlns:a16="http://schemas.microsoft.com/office/drawing/2014/main" val="3707658222"/>
                    </a:ext>
                  </a:extLst>
                </a:gridCol>
                <a:gridCol w="1658165">
                  <a:extLst>
                    <a:ext uri="{9D8B030D-6E8A-4147-A177-3AD203B41FA5}">
                      <a16:colId xmlns:a16="http://schemas.microsoft.com/office/drawing/2014/main" val="2744097793"/>
                    </a:ext>
                  </a:extLst>
                </a:gridCol>
                <a:gridCol w="1591168">
                  <a:extLst>
                    <a:ext uri="{9D8B030D-6E8A-4147-A177-3AD203B41FA5}">
                      <a16:colId xmlns:a16="http://schemas.microsoft.com/office/drawing/2014/main" val="2522127088"/>
                    </a:ext>
                  </a:extLst>
                </a:gridCol>
                <a:gridCol w="1674914">
                  <a:extLst>
                    <a:ext uri="{9D8B030D-6E8A-4147-A177-3AD203B41FA5}">
                      <a16:colId xmlns:a16="http://schemas.microsoft.com/office/drawing/2014/main" val="3862338178"/>
                    </a:ext>
                  </a:extLst>
                </a:gridCol>
                <a:gridCol w="1189189">
                  <a:extLst>
                    <a:ext uri="{9D8B030D-6E8A-4147-A177-3AD203B41FA5}">
                      <a16:colId xmlns:a16="http://schemas.microsoft.com/office/drawing/2014/main" val="3990810306"/>
                    </a:ext>
                  </a:extLst>
                </a:gridCol>
                <a:gridCol w="1741911">
                  <a:extLst>
                    <a:ext uri="{9D8B030D-6E8A-4147-A177-3AD203B41FA5}">
                      <a16:colId xmlns:a16="http://schemas.microsoft.com/office/drawing/2014/main" val="2473997513"/>
                    </a:ext>
                  </a:extLst>
                </a:gridCol>
                <a:gridCol w="1172440">
                  <a:extLst>
                    <a:ext uri="{9D8B030D-6E8A-4147-A177-3AD203B41FA5}">
                      <a16:colId xmlns:a16="http://schemas.microsoft.com/office/drawing/2014/main" val="3782486184"/>
                    </a:ext>
                  </a:extLst>
                </a:gridCol>
              </a:tblGrid>
              <a:tr h="190500">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PE_OI_03:32:39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PE_LTP_03:32:39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PE_OI_09:25:55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PE_LTP_09:25:55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3454372163"/>
                  </a:ext>
                </a:extLst>
              </a:tr>
              <a:tr h="190500">
                <a:tc>
                  <a:txBody>
                    <a:bodyPr/>
                    <a:lstStyle/>
                    <a:p>
                      <a:pPr algn="r" fontAlgn="b"/>
                      <a:r>
                        <a:rPr lang="en-IN" sz="1100" b="0" i="0" u="none" strike="noStrike">
                          <a:solidFill>
                            <a:srgbClr val="000000"/>
                          </a:solidFill>
                          <a:effectLst/>
                          <a:latin typeface="Calibri" panose="020F0502020204030204" pitchFamily="34" charset="0"/>
                        </a:rPr>
                        <a:t>19000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193689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222780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-29091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196831041"/>
                  </a:ext>
                </a:extLst>
              </a:tr>
              <a:tr h="190500">
                <a:tc>
                  <a:txBody>
                    <a:bodyPr/>
                    <a:lstStyle/>
                    <a:p>
                      <a:pPr algn="r" fontAlgn="b"/>
                      <a:r>
                        <a:rPr lang="en-IN" sz="1100" b="0" i="0" u="none" strike="noStrike">
                          <a:solidFill>
                            <a:srgbClr val="000000"/>
                          </a:solidFill>
                          <a:effectLst/>
                          <a:latin typeface="Calibri" panose="020F0502020204030204" pitchFamily="34" charset="0"/>
                        </a:rPr>
                        <a:t>19050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62868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74722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-11854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-3.65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2569347762"/>
                  </a:ext>
                </a:extLst>
              </a:tr>
              <a:tr h="190500">
                <a:tc>
                  <a:txBody>
                    <a:bodyPr/>
                    <a:lstStyle/>
                    <a:p>
                      <a:pPr algn="r" fontAlgn="b"/>
                      <a:r>
                        <a:rPr lang="en-IN" sz="1100" b="0" i="0" u="none" strike="noStrike">
                          <a:solidFill>
                            <a:srgbClr val="000000"/>
                          </a:solidFill>
                          <a:effectLst/>
                          <a:latin typeface="Calibri" panose="020F0502020204030204" pitchFamily="34" charset="0"/>
                        </a:rPr>
                        <a:t>19100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152214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184283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-32069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-6.45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983767862"/>
                  </a:ext>
                </a:extLst>
              </a:tr>
              <a:tr h="190500">
                <a:tc>
                  <a:txBody>
                    <a:bodyPr/>
                    <a:lstStyle/>
                    <a:p>
                      <a:pPr algn="r" fontAlgn="b"/>
                      <a:r>
                        <a:rPr lang="en-IN" sz="1100" b="0" i="0" u="none" strike="noStrike">
                          <a:solidFill>
                            <a:srgbClr val="000000"/>
                          </a:solidFill>
                          <a:effectLst/>
                          <a:latin typeface="Calibri" panose="020F0502020204030204" pitchFamily="34" charset="0"/>
                        </a:rPr>
                        <a:t>19150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72831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69646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-10.3</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3476708192"/>
                  </a:ext>
                </a:extLst>
              </a:tr>
              <a:tr h="190500">
                <a:tc>
                  <a:txBody>
                    <a:bodyPr/>
                    <a:lstStyle/>
                    <a:p>
                      <a:pPr algn="r" fontAlgn="b"/>
                      <a:r>
                        <a:rPr lang="en-IN" sz="1100" b="0" i="0" u="none" strike="noStrike">
                          <a:solidFill>
                            <a:srgbClr val="000000"/>
                          </a:solidFill>
                          <a:effectLst/>
                          <a:latin typeface="Calibri" panose="020F0502020204030204" pitchFamily="34" charset="0"/>
                        </a:rPr>
                        <a:t>19200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158887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33.2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144219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48.35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14668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-15.15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2214275789"/>
                  </a:ext>
                </a:extLst>
              </a:tr>
              <a:tr h="190500">
                <a:tc>
                  <a:txBody>
                    <a:bodyPr/>
                    <a:lstStyle/>
                    <a:p>
                      <a:pPr algn="r" fontAlgn="b"/>
                      <a:r>
                        <a:rPr lang="en-IN" sz="1100" b="0" i="0" u="none" strike="noStrike">
                          <a:solidFill>
                            <a:srgbClr val="000000"/>
                          </a:solidFill>
                          <a:effectLst/>
                          <a:latin typeface="Calibri" panose="020F0502020204030204" pitchFamily="34" charset="0"/>
                        </a:rPr>
                        <a:t>19250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65251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43.75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55600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65.45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9651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-21.7</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3818668921"/>
                  </a:ext>
                </a:extLst>
              </a:tr>
              <a:tr h="190500">
                <a:tc>
                  <a:txBody>
                    <a:bodyPr/>
                    <a:lstStyle/>
                    <a:p>
                      <a:pPr algn="r" fontAlgn="b"/>
                      <a:r>
                        <a:rPr lang="en-IN" sz="1100" b="0" i="0" u="none" strike="noStrike">
                          <a:solidFill>
                            <a:srgbClr val="000000"/>
                          </a:solidFill>
                          <a:effectLst/>
                          <a:latin typeface="Calibri" panose="020F0502020204030204" pitchFamily="34" charset="0"/>
                        </a:rPr>
                        <a:t>19300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198160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51656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88.1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146504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-28.1</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1188174863"/>
                  </a:ext>
                </a:extLst>
              </a:tr>
              <a:tr h="190500">
                <a:tc>
                  <a:txBody>
                    <a:bodyPr/>
                    <a:lstStyle/>
                    <a:p>
                      <a:pPr algn="r" fontAlgn="b"/>
                      <a:r>
                        <a:rPr lang="en-IN" sz="1100" b="0" i="0" u="none" strike="noStrike" dirty="0">
                          <a:solidFill>
                            <a:srgbClr val="000000"/>
                          </a:solidFill>
                          <a:effectLst/>
                          <a:latin typeface="Calibri" panose="020F0502020204030204" pitchFamily="34" charset="0"/>
                        </a:rPr>
                        <a:t>19350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30245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82.4</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8739</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116.1</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21506</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-33.7</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1883248569"/>
                  </a:ext>
                </a:extLst>
              </a:tr>
              <a:tr h="190500">
                <a:tc>
                  <a:txBody>
                    <a:bodyPr/>
                    <a:lstStyle/>
                    <a:p>
                      <a:pPr algn="r" fontAlgn="b"/>
                      <a:r>
                        <a:rPr lang="en-IN" sz="1100" b="0" i="0" u="none" strike="noStrike">
                          <a:solidFill>
                            <a:srgbClr val="000000"/>
                          </a:solidFill>
                          <a:effectLst/>
                          <a:latin typeface="Calibri" panose="020F0502020204030204" pitchFamily="34" charset="0"/>
                        </a:rPr>
                        <a:t>19400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39619</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110.65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16618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149.4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23001</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-38.75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2969488545"/>
                  </a:ext>
                </a:extLst>
              </a:tr>
              <a:tr h="190500">
                <a:tc>
                  <a:txBody>
                    <a:bodyPr/>
                    <a:lstStyle/>
                    <a:p>
                      <a:pPr algn="r" fontAlgn="b"/>
                      <a:r>
                        <a:rPr lang="en-IN" sz="1100" b="0" i="0" u="none" strike="noStrike">
                          <a:solidFill>
                            <a:srgbClr val="000000"/>
                          </a:solidFill>
                          <a:effectLst/>
                          <a:latin typeface="Calibri" panose="020F0502020204030204" pitchFamily="34" charset="0"/>
                        </a:rPr>
                        <a:t>19450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1369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187.55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2206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-42.55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669358922"/>
                  </a:ext>
                </a:extLst>
              </a:tr>
              <a:tr h="190500">
                <a:tc>
                  <a:txBody>
                    <a:bodyPr/>
                    <a:lstStyle/>
                    <a:p>
                      <a:pPr algn="r" fontAlgn="b"/>
                      <a:r>
                        <a:rPr lang="en-IN" sz="1100" b="0" i="0" u="none" strike="noStrike" dirty="0">
                          <a:solidFill>
                            <a:srgbClr val="000000"/>
                          </a:solidFill>
                          <a:effectLst/>
                          <a:latin typeface="Calibri" panose="020F0502020204030204" pitchFamily="34" charset="0"/>
                        </a:rPr>
                        <a:t>19500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15045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185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4855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229.9</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10190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-44.9</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140700092"/>
                  </a:ext>
                </a:extLst>
              </a:tr>
              <a:tr h="190500">
                <a:tc>
                  <a:txBody>
                    <a:bodyPr/>
                    <a:lstStyle/>
                    <a:p>
                      <a:pPr algn="r" fontAlgn="b"/>
                      <a:r>
                        <a:rPr lang="en-IN" sz="1100" b="0" i="0" u="none" strike="noStrike">
                          <a:solidFill>
                            <a:srgbClr val="000000"/>
                          </a:solidFill>
                          <a:effectLst/>
                          <a:latin typeface="Calibri" panose="020F0502020204030204" pitchFamily="34" charset="0"/>
                        </a:rPr>
                        <a:t>19550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1009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275.35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684</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-46.85</a:t>
                      </a:r>
                    </a:p>
                  </a:txBody>
                  <a:tcPr marL="9525" marR="9525" marT="9525" marB="0" anchor="b">
                    <a:lnL>
                      <a:noFill/>
                    </a:lnL>
                    <a:lnR>
                      <a:noFill/>
                    </a:lnR>
                    <a:lnT>
                      <a:noFill/>
                    </a:lnT>
                    <a:lnB>
                      <a:noFill/>
                    </a:lnB>
                  </a:tcPr>
                </a:tc>
                <a:tc>
                  <a:txBody>
                    <a:bodyPr/>
                    <a:lstStyle/>
                    <a:p>
                      <a:pPr algn="l" fontAlgn="b"/>
                      <a:r>
                        <a:rPr lang="en-IN" sz="1100" b="1" i="0" u="none" strike="noStrike">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1377195997"/>
                  </a:ext>
                </a:extLst>
              </a:tr>
              <a:tr h="190500">
                <a:tc>
                  <a:txBody>
                    <a:bodyPr/>
                    <a:lstStyle/>
                    <a:p>
                      <a:pPr algn="r" fontAlgn="b"/>
                      <a:r>
                        <a:rPr lang="en-IN" sz="1100" b="0" i="0" u="none" strike="noStrike">
                          <a:solidFill>
                            <a:srgbClr val="000000"/>
                          </a:solidFill>
                          <a:effectLst/>
                          <a:latin typeface="Calibri" panose="020F0502020204030204" pitchFamily="34" charset="0"/>
                        </a:rPr>
                        <a:t>19600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2358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273.05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914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321.8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1444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-48.75</a:t>
                      </a:r>
                    </a:p>
                  </a:txBody>
                  <a:tcPr marL="9525" marR="9525" marT="9525" marB="0" anchor="b">
                    <a:lnL>
                      <a:noFill/>
                    </a:lnL>
                    <a:lnR>
                      <a:noFill/>
                    </a:lnR>
                    <a:lnT>
                      <a:noFill/>
                    </a:lnT>
                    <a:lnB>
                      <a:noFill/>
                    </a:lnB>
                  </a:tcPr>
                </a:tc>
                <a:tc>
                  <a:txBody>
                    <a:bodyPr/>
                    <a:lstStyle/>
                    <a:p>
                      <a:pPr algn="l" fontAlgn="b"/>
                      <a:r>
                        <a:rPr lang="en-IN" sz="1100" b="1" i="0" u="none" strike="noStrike" dirty="0">
                          <a:solidFill>
                            <a:srgbClr val="00B05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1660342194"/>
                  </a:ext>
                </a:extLst>
              </a:tr>
            </a:tbl>
          </a:graphicData>
        </a:graphic>
      </p:graphicFrame>
    </p:spTree>
    <p:extLst>
      <p:ext uri="{BB962C8B-B14F-4D97-AF65-F5344CB8AC3E}">
        <p14:creationId xmlns:p14="http://schemas.microsoft.com/office/powerpoint/2010/main" val="21452914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03-07-2023</a:t>
            </a:r>
            <a:endParaRPr lang="en-IN" dirty="0"/>
          </a:p>
        </p:txBody>
      </p:sp>
      <p:pic>
        <p:nvPicPr>
          <p:cNvPr id="4" name="Picture 3">
            <a:extLst>
              <a:ext uri="{FF2B5EF4-FFF2-40B4-BE49-F238E27FC236}">
                <a16:creationId xmlns:a16="http://schemas.microsoft.com/office/drawing/2014/main" id="{B5B494CB-12EC-C2C0-4633-135510B99142}"/>
              </a:ext>
            </a:extLst>
          </p:cNvPr>
          <p:cNvPicPr>
            <a:picLocks noChangeAspect="1"/>
          </p:cNvPicPr>
          <p:nvPr/>
        </p:nvPicPr>
        <p:blipFill>
          <a:blip r:embed="rId3"/>
          <a:stretch>
            <a:fillRect/>
          </a:stretch>
        </p:blipFill>
        <p:spPr>
          <a:xfrm>
            <a:off x="0" y="1203928"/>
            <a:ext cx="12192000" cy="4646787"/>
          </a:xfrm>
          <a:prstGeom prst="rect">
            <a:avLst/>
          </a:prstGeom>
        </p:spPr>
      </p:pic>
    </p:spTree>
    <p:extLst>
      <p:ext uri="{BB962C8B-B14F-4D97-AF65-F5344CB8AC3E}">
        <p14:creationId xmlns:p14="http://schemas.microsoft.com/office/powerpoint/2010/main" val="208245774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03-07-2023</a:t>
            </a:r>
            <a:endParaRPr lang="en-IN" dirty="0"/>
          </a:p>
        </p:txBody>
      </p:sp>
      <p:pic>
        <p:nvPicPr>
          <p:cNvPr id="4" name="Picture 3">
            <a:extLst>
              <a:ext uri="{FF2B5EF4-FFF2-40B4-BE49-F238E27FC236}">
                <a16:creationId xmlns:a16="http://schemas.microsoft.com/office/drawing/2014/main" id="{A6C5F5BD-02C0-DEC5-96B0-169FE4D05128}"/>
              </a:ext>
            </a:extLst>
          </p:cNvPr>
          <p:cNvPicPr>
            <a:picLocks noChangeAspect="1"/>
          </p:cNvPicPr>
          <p:nvPr/>
        </p:nvPicPr>
        <p:blipFill>
          <a:blip r:embed="rId3"/>
          <a:stretch>
            <a:fillRect/>
          </a:stretch>
        </p:blipFill>
        <p:spPr>
          <a:xfrm>
            <a:off x="0" y="1108364"/>
            <a:ext cx="12192000" cy="5299259"/>
          </a:xfrm>
          <a:prstGeom prst="rect">
            <a:avLst/>
          </a:prstGeom>
        </p:spPr>
      </p:pic>
    </p:spTree>
    <p:extLst>
      <p:ext uri="{BB962C8B-B14F-4D97-AF65-F5344CB8AC3E}">
        <p14:creationId xmlns:p14="http://schemas.microsoft.com/office/powerpoint/2010/main" val="12568195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8C34-31F1-FA65-53D7-3E44EBA3751D}"/>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0840B0B-C339-EA08-BD9A-74EC0889221B}"/>
              </a:ext>
            </a:extLst>
          </p:cNvPr>
          <p:cNvSpPr>
            <a:spLocks noGrp="1"/>
          </p:cNvSpPr>
          <p:nvPr>
            <p:ph idx="1"/>
          </p:nvPr>
        </p:nvSpPr>
        <p:spPr>
          <a:xfrm>
            <a:off x="838200" y="1376516"/>
            <a:ext cx="10515600" cy="4800447"/>
          </a:xfrm>
        </p:spPr>
        <p:txBody>
          <a:bodyPr/>
          <a:lstStyle/>
          <a:p>
            <a:r>
              <a:rPr lang="en-US" dirty="0"/>
              <a:t>Bullish sign as both the Over all data and the end 45 mins data is consistent.</a:t>
            </a:r>
          </a:p>
          <a:p>
            <a:r>
              <a:rPr lang="en-US" dirty="0"/>
              <a:t>Market may open gap up.</a:t>
            </a:r>
          </a:p>
        </p:txBody>
      </p:sp>
    </p:spTree>
    <p:extLst>
      <p:ext uri="{BB962C8B-B14F-4D97-AF65-F5344CB8AC3E}">
        <p14:creationId xmlns:p14="http://schemas.microsoft.com/office/powerpoint/2010/main" val="8544726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395749" y="138983"/>
            <a:ext cx="10515600" cy="743239"/>
          </a:xfrm>
        </p:spPr>
        <p:txBody>
          <a:bodyPr/>
          <a:lstStyle/>
          <a:p>
            <a:r>
              <a:rPr lang="en-US" dirty="0"/>
              <a:t>04-07-2023</a:t>
            </a:r>
            <a:endParaRPr lang="en-IN" dirty="0"/>
          </a:p>
        </p:txBody>
      </p:sp>
      <p:graphicFrame>
        <p:nvGraphicFramePr>
          <p:cNvPr id="4" name="Table 3">
            <a:extLst>
              <a:ext uri="{FF2B5EF4-FFF2-40B4-BE49-F238E27FC236}">
                <a16:creationId xmlns:a16="http://schemas.microsoft.com/office/drawing/2014/main" id="{C77E267C-2F01-D8C7-CE07-8DD98FE646B8}"/>
              </a:ext>
            </a:extLst>
          </p:cNvPr>
          <p:cNvGraphicFramePr>
            <a:graphicFrameLocks noGrp="1"/>
          </p:cNvGraphicFramePr>
          <p:nvPr>
            <p:extLst>
              <p:ext uri="{D42A27DB-BD31-4B8C-83A1-F6EECF244321}">
                <p14:modId xmlns:p14="http://schemas.microsoft.com/office/powerpoint/2010/main" val="245279536"/>
              </p:ext>
            </p:extLst>
          </p:nvPr>
        </p:nvGraphicFramePr>
        <p:xfrm>
          <a:off x="395750" y="882222"/>
          <a:ext cx="11638936" cy="2667000"/>
        </p:xfrm>
        <a:graphic>
          <a:graphicData uri="http://schemas.openxmlformats.org/drawingml/2006/table">
            <a:tbl>
              <a:tblPr/>
              <a:tblGrid>
                <a:gridCol w="928752">
                  <a:extLst>
                    <a:ext uri="{9D8B030D-6E8A-4147-A177-3AD203B41FA5}">
                      <a16:colId xmlns:a16="http://schemas.microsoft.com/office/drawing/2014/main" val="1096814822"/>
                    </a:ext>
                  </a:extLst>
                </a:gridCol>
                <a:gridCol w="1587319">
                  <a:extLst>
                    <a:ext uri="{9D8B030D-6E8A-4147-A177-3AD203B41FA5}">
                      <a16:colId xmlns:a16="http://schemas.microsoft.com/office/drawing/2014/main" val="2601264775"/>
                    </a:ext>
                  </a:extLst>
                </a:gridCol>
                <a:gridCol w="1671752">
                  <a:extLst>
                    <a:ext uri="{9D8B030D-6E8A-4147-A177-3AD203B41FA5}">
                      <a16:colId xmlns:a16="http://schemas.microsoft.com/office/drawing/2014/main" val="140110154"/>
                    </a:ext>
                  </a:extLst>
                </a:gridCol>
                <a:gridCol w="1604205">
                  <a:extLst>
                    <a:ext uri="{9D8B030D-6E8A-4147-A177-3AD203B41FA5}">
                      <a16:colId xmlns:a16="http://schemas.microsoft.com/office/drawing/2014/main" val="3530881774"/>
                    </a:ext>
                  </a:extLst>
                </a:gridCol>
                <a:gridCol w="1688637">
                  <a:extLst>
                    <a:ext uri="{9D8B030D-6E8A-4147-A177-3AD203B41FA5}">
                      <a16:colId xmlns:a16="http://schemas.microsoft.com/office/drawing/2014/main" val="340501817"/>
                    </a:ext>
                  </a:extLst>
                </a:gridCol>
                <a:gridCol w="1198933">
                  <a:extLst>
                    <a:ext uri="{9D8B030D-6E8A-4147-A177-3AD203B41FA5}">
                      <a16:colId xmlns:a16="http://schemas.microsoft.com/office/drawing/2014/main" val="440367117"/>
                    </a:ext>
                  </a:extLst>
                </a:gridCol>
                <a:gridCol w="1756183">
                  <a:extLst>
                    <a:ext uri="{9D8B030D-6E8A-4147-A177-3AD203B41FA5}">
                      <a16:colId xmlns:a16="http://schemas.microsoft.com/office/drawing/2014/main" val="3658262718"/>
                    </a:ext>
                  </a:extLst>
                </a:gridCol>
                <a:gridCol w="1203155">
                  <a:extLst>
                    <a:ext uri="{9D8B030D-6E8A-4147-A177-3AD203B41FA5}">
                      <a16:colId xmlns:a16="http://schemas.microsoft.com/office/drawing/2014/main" val="1418454182"/>
                    </a:ext>
                  </a:extLst>
                </a:gridCol>
              </a:tblGrid>
              <a:tr h="190500">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CE_OI_03:30:29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CE_LTP_03:30:29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CE_OI_09:28:47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CE_LTP_09:28:47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1097186487"/>
                  </a:ext>
                </a:extLst>
              </a:tr>
              <a:tr h="190500">
                <a:tc>
                  <a:txBody>
                    <a:bodyPr/>
                    <a:lstStyle/>
                    <a:p>
                      <a:pPr algn="r" fontAlgn="b"/>
                      <a:r>
                        <a:rPr lang="en-IN" sz="1100" b="0" i="0" u="none" strike="noStrike">
                          <a:solidFill>
                            <a:srgbClr val="000000"/>
                          </a:solidFill>
                          <a:effectLst/>
                          <a:latin typeface="Calibri" panose="020F0502020204030204" pitchFamily="34" charset="0"/>
                        </a:rPr>
                        <a:t>19100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21312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291.7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28253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295.2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-6941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4218259384"/>
                  </a:ext>
                </a:extLst>
              </a:tr>
              <a:tr h="190500">
                <a:tc>
                  <a:txBody>
                    <a:bodyPr/>
                    <a:lstStyle/>
                    <a:p>
                      <a:pPr algn="r" fontAlgn="b"/>
                      <a:r>
                        <a:rPr lang="en-IN" sz="1100" b="0" i="0" u="none" strike="noStrike">
                          <a:solidFill>
                            <a:srgbClr val="000000"/>
                          </a:solidFill>
                          <a:effectLst/>
                          <a:latin typeface="Calibri" panose="020F0502020204030204" pitchFamily="34" charset="0"/>
                        </a:rPr>
                        <a:t>19150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11712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244.75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14153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-2441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3700249964"/>
                  </a:ext>
                </a:extLst>
              </a:tr>
              <a:tr h="190500">
                <a:tc>
                  <a:txBody>
                    <a:bodyPr/>
                    <a:lstStyle/>
                    <a:p>
                      <a:pPr algn="r" fontAlgn="b"/>
                      <a:r>
                        <a:rPr lang="en-IN" sz="1100" b="0" i="0" u="none" strike="noStrike">
                          <a:solidFill>
                            <a:srgbClr val="000000"/>
                          </a:solidFill>
                          <a:effectLst/>
                          <a:latin typeface="Calibri" panose="020F0502020204030204" pitchFamily="34" charset="0"/>
                        </a:rPr>
                        <a:t>19200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33686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198.1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56192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203.05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-22506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-4.95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2266115053"/>
                  </a:ext>
                </a:extLst>
              </a:tr>
              <a:tr h="190500">
                <a:tc>
                  <a:txBody>
                    <a:bodyPr/>
                    <a:lstStyle/>
                    <a:p>
                      <a:pPr algn="r" fontAlgn="b"/>
                      <a:r>
                        <a:rPr lang="en-IN" sz="1100" b="0" i="0" u="none" strike="noStrike">
                          <a:solidFill>
                            <a:srgbClr val="000000"/>
                          </a:solidFill>
                          <a:effectLst/>
                          <a:latin typeface="Calibri" panose="020F0502020204030204" pitchFamily="34" charset="0"/>
                        </a:rPr>
                        <a:t>19250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24457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152.7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33357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160.05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-8900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-7.35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2523349249"/>
                  </a:ext>
                </a:extLst>
              </a:tr>
              <a:tr h="190500">
                <a:tc>
                  <a:txBody>
                    <a:bodyPr/>
                    <a:lstStyle/>
                    <a:p>
                      <a:pPr algn="r" fontAlgn="b"/>
                      <a:r>
                        <a:rPr lang="en-IN" sz="1100" b="0" i="0" u="none" strike="noStrike">
                          <a:solidFill>
                            <a:srgbClr val="000000"/>
                          </a:solidFill>
                          <a:effectLst/>
                          <a:latin typeface="Calibri" panose="020F0502020204030204" pitchFamily="34" charset="0"/>
                        </a:rPr>
                        <a:t>19300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75815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144427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121.15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-68612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-8.15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1186798679"/>
                  </a:ext>
                </a:extLst>
              </a:tr>
              <a:tr h="190500">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19350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57120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78.35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69303</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87.5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-12183</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-9.15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highlight>
                            <a:srgbClr val="FFFF00"/>
                          </a:highligh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3120269212"/>
                  </a:ext>
                </a:extLst>
              </a:tr>
              <a:tr h="190500">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19400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209615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50.55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195656</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59.7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13959</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-9.15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highlight>
                            <a:srgbClr val="FFFF00"/>
                          </a:highligh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1163374883"/>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19450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104000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31.15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98941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38.85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5059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-7.7</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highlight>
                            <a:srgbClr val="FFFF00"/>
                          </a:highligh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439178137"/>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19500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202453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18.3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200585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1868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-5.7</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highlight>
                            <a:srgbClr val="FFFF00"/>
                          </a:highligh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3388315322"/>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19550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145126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9.9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89226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14.2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55900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-4.3</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highlight>
                            <a:srgbClr val="FFFF00"/>
                          </a:highligh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314233796"/>
                  </a:ext>
                </a:extLst>
              </a:tr>
              <a:tr h="190500">
                <a:tc>
                  <a:txBody>
                    <a:bodyPr/>
                    <a:lstStyle/>
                    <a:p>
                      <a:pPr algn="r" fontAlgn="b"/>
                      <a:r>
                        <a:rPr lang="en-IN" sz="1100" b="0" i="0" u="none" strike="noStrike">
                          <a:solidFill>
                            <a:srgbClr val="000000"/>
                          </a:solidFill>
                          <a:effectLst/>
                          <a:latin typeface="Calibri" panose="020F0502020204030204" pitchFamily="34" charset="0"/>
                        </a:rPr>
                        <a:t>19600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136938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121989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14949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2778912409"/>
                  </a:ext>
                </a:extLst>
              </a:tr>
              <a:tr h="190500">
                <a:tc>
                  <a:txBody>
                    <a:bodyPr/>
                    <a:lstStyle/>
                    <a:p>
                      <a:pPr algn="r" fontAlgn="b"/>
                      <a:r>
                        <a:rPr lang="en-IN" sz="1100" b="0" i="0" u="none" strike="noStrike">
                          <a:solidFill>
                            <a:srgbClr val="000000"/>
                          </a:solidFill>
                          <a:effectLst/>
                          <a:latin typeface="Calibri" panose="020F0502020204030204" pitchFamily="34" charset="0"/>
                        </a:rPr>
                        <a:t>19650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50284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39718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10566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1864178761"/>
                  </a:ext>
                </a:extLst>
              </a:tr>
              <a:tr h="190500">
                <a:tc>
                  <a:txBody>
                    <a:bodyPr/>
                    <a:lstStyle/>
                    <a:p>
                      <a:pPr algn="r" fontAlgn="b"/>
                      <a:r>
                        <a:rPr lang="en-IN" sz="1100" b="0" i="0" u="none" strike="noStrike">
                          <a:solidFill>
                            <a:srgbClr val="000000"/>
                          </a:solidFill>
                          <a:effectLst/>
                          <a:latin typeface="Calibri" panose="020F0502020204030204" pitchFamily="34" charset="0"/>
                        </a:rPr>
                        <a:t>19700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113326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89463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23863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latin typeface="Calibri" panose="020F0502020204030204" pitchFamily="34" charset="0"/>
                        </a:rPr>
                        <a:t>Shot Build up</a:t>
                      </a:r>
                    </a:p>
                  </a:txBody>
                  <a:tcPr marL="9525" marR="9525" marT="9525" marB="0" anchor="b">
                    <a:lnL>
                      <a:noFill/>
                    </a:lnL>
                    <a:lnR>
                      <a:noFill/>
                    </a:lnR>
                    <a:lnT>
                      <a:noFill/>
                    </a:lnT>
                    <a:lnB>
                      <a:noFill/>
                    </a:lnB>
                  </a:tcPr>
                </a:tc>
                <a:extLst>
                  <a:ext uri="{0D108BD9-81ED-4DB2-BD59-A6C34878D82A}">
                    <a16:rowId xmlns:a16="http://schemas.microsoft.com/office/drawing/2014/main" val="2220278609"/>
                  </a:ext>
                </a:extLst>
              </a:tr>
            </a:tbl>
          </a:graphicData>
        </a:graphic>
      </p:graphicFrame>
      <p:graphicFrame>
        <p:nvGraphicFramePr>
          <p:cNvPr id="5" name="Table 4">
            <a:extLst>
              <a:ext uri="{FF2B5EF4-FFF2-40B4-BE49-F238E27FC236}">
                <a16:creationId xmlns:a16="http://schemas.microsoft.com/office/drawing/2014/main" id="{0706CE10-F092-E186-BCBE-207318C0EF7E}"/>
              </a:ext>
            </a:extLst>
          </p:cNvPr>
          <p:cNvGraphicFramePr>
            <a:graphicFrameLocks noGrp="1"/>
          </p:cNvGraphicFramePr>
          <p:nvPr>
            <p:extLst>
              <p:ext uri="{D42A27DB-BD31-4B8C-83A1-F6EECF244321}">
                <p14:modId xmlns:p14="http://schemas.microsoft.com/office/powerpoint/2010/main" val="2548670878"/>
              </p:ext>
            </p:extLst>
          </p:nvPr>
        </p:nvGraphicFramePr>
        <p:xfrm>
          <a:off x="395748" y="3729678"/>
          <a:ext cx="11638936" cy="2667000"/>
        </p:xfrm>
        <a:graphic>
          <a:graphicData uri="http://schemas.openxmlformats.org/drawingml/2006/table">
            <a:tbl>
              <a:tblPr/>
              <a:tblGrid>
                <a:gridCol w="928751">
                  <a:extLst>
                    <a:ext uri="{9D8B030D-6E8A-4147-A177-3AD203B41FA5}">
                      <a16:colId xmlns:a16="http://schemas.microsoft.com/office/drawing/2014/main" val="1318700889"/>
                    </a:ext>
                  </a:extLst>
                </a:gridCol>
                <a:gridCol w="1587319">
                  <a:extLst>
                    <a:ext uri="{9D8B030D-6E8A-4147-A177-3AD203B41FA5}">
                      <a16:colId xmlns:a16="http://schemas.microsoft.com/office/drawing/2014/main" val="45779521"/>
                    </a:ext>
                  </a:extLst>
                </a:gridCol>
                <a:gridCol w="1671751">
                  <a:extLst>
                    <a:ext uri="{9D8B030D-6E8A-4147-A177-3AD203B41FA5}">
                      <a16:colId xmlns:a16="http://schemas.microsoft.com/office/drawing/2014/main" val="1801275920"/>
                    </a:ext>
                  </a:extLst>
                </a:gridCol>
                <a:gridCol w="1604205">
                  <a:extLst>
                    <a:ext uri="{9D8B030D-6E8A-4147-A177-3AD203B41FA5}">
                      <a16:colId xmlns:a16="http://schemas.microsoft.com/office/drawing/2014/main" val="3920978237"/>
                    </a:ext>
                  </a:extLst>
                </a:gridCol>
                <a:gridCol w="1688638">
                  <a:extLst>
                    <a:ext uri="{9D8B030D-6E8A-4147-A177-3AD203B41FA5}">
                      <a16:colId xmlns:a16="http://schemas.microsoft.com/office/drawing/2014/main" val="2303066684"/>
                    </a:ext>
                  </a:extLst>
                </a:gridCol>
                <a:gridCol w="1198933">
                  <a:extLst>
                    <a:ext uri="{9D8B030D-6E8A-4147-A177-3AD203B41FA5}">
                      <a16:colId xmlns:a16="http://schemas.microsoft.com/office/drawing/2014/main" val="3016190478"/>
                    </a:ext>
                  </a:extLst>
                </a:gridCol>
                <a:gridCol w="1756184">
                  <a:extLst>
                    <a:ext uri="{9D8B030D-6E8A-4147-A177-3AD203B41FA5}">
                      <a16:colId xmlns:a16="http://schemas.microsoft.com/office/drawing/2014/main" val="1314616303"/>
                    </a:ext>
                  </a:extLst>
                </a:gridCol>
                <a:gridCol w="1203155">
                  <a:extLst>
                    <a:ext uri="{9D8B030D-6E8A-4147-A177-3AD203B41FA5}">
                      <a16:colId xmlns:a16="http://schemas.microsoft.com/office/drawing/2014/main" val="3786503946"/>
                    </a:ext>
                  </a:extLst>
                </a:gridCol>
              </a:tblGrid>
              <a:tr h="190500">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PE_OI_03:30:29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PE_LTP_03:30:29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PE_OI_09:28:47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PE_LTP_09:28:47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977267141"/>
                  </a:ext>
                </a:extLst>
              </a:tr>
              <a:tr h="190500">
                <a:tc>
                  <a:txBody>
                    <a:bodyPr/>
                    <a:lstStyle/>
                    <a:p>
                      <a:pPr algn="r" fontAlgn="b"/>
                      <a:r>
                        <a:rPr lang="en-IN" sz="1100" b="0" i="0" u="none" strike="noStrike">
                          <a:solidFill>
                            <a:srgbClr val="000000"/>
                          </a:solidFill>
                          <a:effectLst/>
                          <a:latin typeface="Calibri" panose="020F0502020204030204" pitchFamily="34" charset="0"/>
                        </a:rPr>
                        <a:t>19100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150053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146468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-7.15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972357835"/>
                  </a:ext>
                </a:extLst>
              </a:tr>
              <a:tr h="190500">
                <a:tc>
                  <a:txBody>
                    <a:bodyPr/>
                    <a:lstStyle/>
                    <a:p>
                      <a:pPr algn="r" fontAlgn="b"/>
                      <a:r>
                        <a:rPr lang="en-IN" sz="1100" b="0" i="0" u="none" strike="noStrike">
                          <a:solidFill>
                            <a:srgbClr val="000000"/>
                          </a:solidFill>
                          <a:effectLst/>
                          <a:latin typeface="Calibri" panose="020F0502020204030204" pitchFamily="34" charset="0"/>
                        </a:rPr>
                        <a:t>19150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67772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73074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-5302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-7.8</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3696861507"/>
                  </a:ext>
                </a:extLst>
              </a:tr>
              <a:tr h="190500">
                <a:tc>
                  <a:txBody>
                    <a:bodyPr/>
                    <a:lstStyle/>
                    <a:p>
                      <a:pPr algn="r" fontAlgn="b"/>
                      <a:r>
                        <a:rPr lang="en-IN" sz="1100" b="0" i="0" u="none" strike="noStrike">
                          <a:solidFill>
                            <a:srgbClr val="000000"/>
                          </a:solidFill>
                          <a:effectLst/>
                          <a:latin typeface="Calibri" panose="020F0502020204030204" pitchFamily="34" charset="0"/>
                        </a:rPr>
                        <a:t>19200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146821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157493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-10672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-9.15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1840760583"/>
                  </a:ext>
                </a:extLst>
              </a:tr>
              <a:tr h="190500">
                <a:tc>
                  <a:txBody>
                    <a:bodyPr/>
                    <a:lstStyle/>
                    <a:p>
                      <a:pPr algn="r" fontAlgn="b"/>
                      <a:r>
                        <a:rPr lang="en-IN" sz="1100" b="0" i="0" u="none" strike="noStrike">
                          <a:solidFill>
                            <a:srgbClr val="000000"/>
                          </a:solidFill>
                          <a:effectLst/>
                          <a:latin typeface="Calibri" panose="020F0502020204030204" pitchFamily="34" charset="0"/>
                        </a:rPr>
                        <a:t>19250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89709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70510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19199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-10.15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519333489"/>
                  </a:ext>
                </a:extLst>
              </a:tr>
              <a:tr h="190500">
                <a:tc>
                  <a:txBody>
                    <a:bodyPr/>
                    <a:lstStyle/>
                    <a:p>
                      <a:pPr algn="r" fontAlgn="b"/>
                      <a:r>
                        <a:rPr lang="en-IN" sz="1100" b="0" i="0" u="none" strike="noStrike" dirty="0">
                          <a:solidFill>
                            <a:srgbClr val="000000"/>
                          </a:solidFill>
                          <a:effectLst/>
                          <a:latin typeface="Calibri" panose="020F0502020204030204" pitchFamily="34" charset="0"/>
                        </a:rPr>
                        <a:t>19300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213575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220773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40.6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-7198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-11.2</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872006903"/>
                  </a:ext>
                </a:extLst>
              </a:tr>
              <a:tr h="190500">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19350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76904</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44.6</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63027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57.25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13877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-12.65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B050"/>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481615352"/>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19400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121752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66.6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115936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80.15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5816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-13.55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B050"/>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247082529"/>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19450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19209</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96.9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17764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109.2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1445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-12.3</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523191074"/>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19500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28044</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134.4</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28590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144.75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-546</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-10.35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highlight>
                            <a:srgbClr val="FFFF00"/>
                          </a:highligh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1720208697"/>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19550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2673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176</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2476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184.5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197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-8.5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B050"/>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760432742"/>
                  </a:ext>
                </a:extLst>
              </a:tr>
              <a:tr h="190500">
                <a:tc>
                  <a:txBody>
                    <a:bodyPr/>
                    <a:lstStyle/>
                    <a:p>
                      <a:pPr algn="r" fontAlgn="b"/>
                      <a:r>
                        <a:rPr lang="en-IN" sz="1100" b="0" i="0" u="none" strike="noStrike">
                          <a:solidFill>
                            <a:srgbClr val="000000"/>
                          </a:solidFill>
                          <a:effectLst/>
                          <a:latin typeface="Calibri" panose="020F0502020204030204" pitchFamily="34" charset="0"/>
                        </a:rPr>
                        <a:t>19600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5672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221.55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5387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229.7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285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-8.15</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730993557"/>
                  </a:ext>
                </a:extLst>
              </a:tr>
              <a:tr h="190500">
                <a:tc>
                  <a:txBody>
                    <a:bodyPr/>
                    <a:lstStyle/>
                    <a:p>
                      <a:pPr algn="r" fontAlgn="b"/>
                      <a:r>
                        <a:rPr lang="en-IN" sz="1100" b="0" i="0" u="none" strike="noStrike">
                          <a:solidFill>
                            <a:srgbClr val="000000"/>
                          </a:solidFill>
                          <a:effectLst/>
                          <a:latin typeface="Calibri" panose="020F0502020204030204" pitchFamily="34" charset="0"/>
                        </a:rPr>
                        <a:t>19650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517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270.35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746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275.05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-4.7</a:t>
                      </a:r>
                    </a:p>
                  </a:txBody>
                  <a:tcPr marL="9525" marR="9525" marT="9525" marB="0" anchor="b">
                    <a:lnL>
                      <a:noFill/>
                    </a:lnL>
                    <a:lnR>
                      <a:noFill/>
                    </a:lnR>
                    <a:lnT>
                      <a:noFill/>
                    </a:lnT>
                    <a:lnB>
                      <a:noFill/>
                    </a:lnB>
                  </a:tcPr>
                </a:tc>
                <a:tc>
                  <a:txBody>
                    <a:bodyPr/>
                    <a:lstStyle/>
                    <a:p>
                      <a:pPr algn="l" fontAlgn="b"/>
                      <a:r>
                        <a:rPr lang="en-IN" sz="1100" b="0" i="0" u="none" strike="noStrike">
                          <a:solidFill>
                            <a:srgbClr val="00B050"/>
                          </a:solidFill>
                          <a:effectLst/>
                          <a:latin typeface="Calibri" panose="020F0502020204030204" pitchFamily="34" charset="0"/>
                        </a:rPr>
                        <a:t>Long Covering</a:t>
                      </a:r>
                    </a:p>
                  </a:txBody>
                  <a:tcPr marL="9525" marR="9525" marT="9525" marB="0" anchor="b">
                    <a:lnL>
                      <a:noFill/>
                    </a:lnL>
                    <a:lnR>
                      <a:noFill/>
                    </a:lnR>
                    <a:lnT>
                      <a:noFill/>
                    </a:lnT>
                    <a:lnB>
                      <a:noFill/>
                    </a:lnB>
                  </a:tcPr>
                </a:tc>
                <a:extLst>
                  <a:ext uri="{0D108BD9-81ED-4DB2-BD59-A6C34878D82A}">
                    <a16:rowId xmlns:a16="http://schemas.microsoft.com/office/drawing/2014/main" val="1092673690"/>
                  </a:ext>
                </a:extLst>
              </a:tr>
              <a:tr h="190500">
                <a:tc>
                  <a:txBody>
                    <a:bodyPr/>
                    <a:lstStyle/>
                    <a:p>
                      <a:pPr algn="r" fontAlgn="b"/>
                      <a:r>
                        <a:rPr lang="en-IN" sz="1100" b="0" i="0" u="none" strike="noStrike">
                          <a:solidFill>
                            <a:srgbClr val="000000"/>
                          </a:solidFill>
                          <a:effectLst/>
                          <a:latin typeface="Calibri" panose="020F0502020204030204" pitchFamily="34" charset="0"/>
                        </a:rPr>
                        <a:t>19700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1788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318.05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937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322.9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851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-4.85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00B05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609993532"/>
                  </a:ext>
                </a:extLst>
              </a:tr>
            </a:tbl>
          </a:graphicData>
        </a:graphic>
      </p:graphicFrame>
    </p:spTree>
    <p:extLst>
      <p:ext uri="{BB962C8B-B14F-4D97-AF65-F5344CB8AC3E}">
        <p14:creationId xmlns:p14="http://schemas.microsoft.com/office/powerpoint/2010/main" val="38918364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04-07-2023</a:t>
            </a:r>
            <a:endParaRPr lang="en-IN" dirty="0"/>
          </a:p>
        </p:txBody>
      </p:sp>
      <p:pic>
        <p:nvPicPr>
          <p:cNvPr id="5" name="Picture 4">
            <a:extLst>
              <a:ext uri="{FF2B5EF4-FFF2-40B4-BE49-F238E27FC236}">
                <a16:creationId xmlns:a16="http://schemas.microsoft.com/office/drawing/2014/main" id="{21A62968-D27E-F5A9-EC17-623197222907}"/>
              </a:ext>
            </a:extLst>
          </p:cNvPr>
          <p:cNvPicPr>
            <a:picLocks noChangeAspect="1"/>
          </p:cNvPicPr>
          <p:nvPr/>
        </p:nvPicPr>
        <p:blipFill>
          <a:blip r:embed="rId3"/>
          <a:stretch>
            <a:fillRect/>
          </a:stretch>
        </p:blipFill>
        <p:spPr>
          <a:xfrm>
            <a:off x="206478" y="1108364"/>
            <a:ext cx="11353800" cy="5619374"/>
          </a:xfrm>
          <a:prstGeom prst="rect">
            <a:avLst/>
          </a:prstGeom>
        </p:spPr>
      </p:pic>
    </p:spTree>
    <p:extLst>
      <p:ext uri="{BB962C8B-B14F-4D97-AF65-F5344CB8AC3E}">
        <p14:creationId xmlns:p14="http://schemas.microsoft.com/office/powerpoint/2010/main" val="188422712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04-07-2023</a:t>
            </a:r>
            <a:endParaRPr lang="en-IN" dirty="0"/>
          </a:p>
        </p:txBody>
      </p:sp>
      <p:pic>
        <p:nvPicPr>
          <p:cNvPr id="5" name="Picture 4">
            <a:extLst>
              <a:ext uri="{FF2B5EF4-FFF2-40B4-BE49-F238E27FC236}">
                <a16:creationId xmlns:a16="http://schemas.microsoft.com/office/drawing/2014/main" id="{D8015620-8CDA-3028-6914-3A242043D6B8}"/>
              </a:ext>
            </a:extLst>
          </p:cNvPr>
          <p:cNvPicPr>
            <a:picLocks noChangeAspect="1"/>
          </p:cNvPicPr>
          <p:nvPr/>
        </p:nvPicPr>
        <p:blipFill>
          <a:blip r:embed="rId3"/>
          <a:stretch>
            <a:fillRect/>
          </a:stretch>
        </p:blipFill>
        <p:spPr>
          <a:xfrm>
            <a:off x="0" y="1038762"/>
            <a:ext cx="12192000" cy="5665377"/>
          </a:xfrm>
          <a:prstGeom prst="rect">
            <a:avLst/>
          </a:prstGeom>
        </p:spPr>
      </p:pic>
    </p:spTree>
    <p:extLst>
      <p:ext uri="{BB962C8B-B14F-4D97-AF65-F5344CB8AC3E}">
        <p14:creationId xmlns:p14="http://schemas.microsoft.com/office/powerpoint/2010/main" val="7919252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8C34-31F1-FA65-53D7-3E44EBA3751D}"/>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0840B0B-C339-EA08-BD9A-74EC0889221B}"/>
              </a:ext>
            </a:extLst>
          </p:cNvPr>
          <p:cNvSpPr>
            <a:spLocks noGrp="1"/>
          </p:cNvSpPr>
          <p:nvPr>
            <p:ph idx="1"/>
          </p:nvPr>
        </p:nvSpPr>
        <p:spPr>
          <a:xfrm>
            <a:off x="838200" y="1376516"/>
            <a:ext cx="10515600" cy="4800447"/>
          </a:xfrm>
        </p:spPr>
        <p:txBody>
          <a:bodyPr/>
          <a:lstStyle/>
          <a:p>
            <a:r>
              <a:rPr lang="en-US" dirty="0"/>
              <a:t>Sentiment on the Overall OI is the bearish on the call side also the OI is high giving the sign of the heavy involvement compared to the Put side also on put side the sentiment is bullish but the OI is less-&gt; Vote Bearish.</a:t>
            </a:r>
          </a:p>
          <a:p>
            <a:r>
              <a:rPr lang="en-US" dirty="0"/>
              <a:t>In final 45 minutes there is shot build up on the 19400, 19500, 19550 on call side which shows the confidence on the call side where as on the put side the there is shot covering on 19300, 19400 -&gt; Vote Bearish.</a:t>
            </a:r>
          </a:p>
          <a:p>
            <a:r>
              <a:rPr lang="en-US" dirty="0"/>
              <a:t>Over all vote is bearish</a:t>
            </a:r>
          </a:p>
          <a:p>
            <a:r>
              <a:rPr lang="en-US" dirty="0"/>
              <a:t>Market may not open gap up or gap down but over all movement is bearish </a:t>
            </a:r>
            <a:r>
              <a:rPr lang="en-US"/>
              <a:t>in nature.</a:t>
            </a:r>
            <a:endParaRPr lang="en-US" dirty="0"/>
          </a:p>
        </p:txBody>
      </p:sp>
    </p:spTree>
    <p:extLst>
      <p:ext uri="{BB962C8B-B14F-4D97-AF65-F5344CB8AC3E}">
        <p14:creationId xmlns:p14="http://schemas.microsoft.com/office/powerpoint/2010/main" val="303920077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395749" y="138983"/>
            <a:ext cx="10515600" cy="743239"/>
          </a:xfrm>
        </p:spPr>
        <p:txBody>
          <a:bodyPr/>
          <a:lstStyle/>
          <a:p>
            <a:r>
              <a:rPr lang="en-US" dirty="0"/>
              <a:t>05-07-2023</a:t>
            </a:r>
            <a:endParaRPr lang="en-IN" dirty="0"/>
          </a:p>
        </p:txBody>
      </p:sp>
      <p:graphicFrame>
        <p:nvGraphicFramePr>
          <p:cNvPr id="3" name="Table 2">
            <a:extLst>
              <a:ext uri="{FF2B5EF4-FFF2-40B4-BE49-F238E27FC236}">
                <a16:creationId xmlns:a16="http://schemas.microsoft.com/office/drawing/2014/main" id="{BED5B7D5-9A14-AD28-B12D-282BD20C964C}"/>
              </a:ext>
            </a:extLst>
          </p:cNvPr>
          <p:cNvGraphicFramePr>
            <a:graphicFrameLocks noGrp="1"/>
          </p:cNvGraphicFramePr>
          <p:nvPr>
            <p:extLst>
              <p:ext uri="{D42A27DB-BD31-4B8C-83A1-F6EECF244321}">
                <p14:modId xmlns:p14="http://schemas.microsoft.com/office/powerpoint/2010/main" val="1570681380"/>
              </p:ext>
            </p:extLst>
          </p:nvPr>
        </p:nvGraphicFramePr>
        <p:xfrm>
          <a:off x="395748" y="1044477"/>
          <a:ext cx="11625015" cy="2667000"/>
        </p:xfrm>
        <a:graphic>
          <a:graphicData uri="http://schemas.openxmlformats.org/drawingml/2006/table">
            <a:tbl>
              <a:tblPr/>
              <a:tblGrid>
                <a:gridCol w="915683">
                  <a:extLst>
                    <a:ext uri="{9D8B030D-6E8A-4147-A177-3AD203B41FA5}">
                      <a16:colId xmlns:a16="http://schemas.microsoft.com/office/drawing/2014/main" val="569247486"/>
                    </a:ext>
                  </a:extLst>
                </a:gridCol>
                <a:gridCol w="1564986">
                  <a:extLst>
                    <a:ext uri="{9D8B030D-6E8A-4147-A177-3AD203B41FA5}">
                      <a16:colId xmlns:a16="http://schemas.microsoft.com/office/drawing/2014/main" val="2811012432"/>
                    </a:ext>
                  </a:extLst>
                </a:gridCol>
                <a:gridCol w="1648230">
                  <a:extLst>
                    <a:ext uri="{9D8B030D-6E8A-4147-A177-3AD203B41FA5}">
                      <a16:colId xmlns:a16="http://schemas.microsoft.com/office/drawing/2014/main" val="1403723143"/>
                    </a:ext>
                  </a:extLst>
                </a:gridCol>
                <a:gridCol w="1581635">
                  <a:extLst>
                    <a:ext uri="{9D8B030D-6E8A-4147-A177-3AD203B41FA5}">
                      <a16:colId xmlns:a16="http://schemas.microsoft.com/office/drawing/2014/main" val="2437279892"/>
                    </a:ext>
                  </a:extLst>
                </a:gridCol>
                <a:gridCol w="1664878">
                  <a:extLst>
                    <a:ext uri="{9D8B030D-6E8A-4147-A177-3AD203B41FA5}">
                      <a16:colId xmlns:a16="http://schemas.microsoft.com/office/drawing/2014/main" val="2565996593"/>
                    </a:ext>
                  </a:extLst>
                </a:gridCol>
                <a:gridCol w="1182064">
                  <a:extLst>
                    <a:ext uri="{9D8B030D-6E8A-4147-A177-3AD203B41FA5}">
                      <a16:colId xmlns:a16="http://schemas.microsoft.com/office/drawing/2014/main" val="2154439401"/>
                    </a:ext>
                  </a:extLst>
                </a:gridCol>
                <a:gridCol w="1731474">
                  <a:extLst>
                    <a:ext uri="{9D8B030D-6E8A-4147-A177-3AD203B41FA5}">
                      <a16:colId xmlns:a16="http://schemas.microsoft.com/office/drawing/2014/main" val="241153381"/>
                    </a:ext>
                  </a:extLst>
                </a:gridCol>
                <a:gridCol w="1336065">
                  <a:extLst>
                    <a:ext uri="{9D8B030D-6E8A-4147-A177-3AD203B41FA5}">
                      <a16:colId xmlns:a16="http://schemas.microsoft.com/office/drawing/2014/main" val="3889645526"/>
                    </a:ext>
                  </a:extLst>
                </a:gridCol>
              </a:tblGrid>
              <a:tr h="190500">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CE_OI_03:33:08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CE_LTP_03:33:08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CE_OI_09:28:25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CE_LTP_09:28:25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1979458858"/>
                  </a:ext>
                </a:extLst>
              </a:tr>
              <a:tr h="190500">
                <a:tc>
                  <a:txBody>
                    <a:bodyPr/>
                    <a:lstStyle/>
                    <a:p>
                      <a:pPr algn="r" fontAlgn="b"/>
                      <a:r>
                        <a:rPr lang="en-IN" sz="1100" b="0" i="0" u="none" strike="noStrike">
                          <a:solidFill>
                            <a:srgbClr val="000000"/>
                          </a:solidFill>
                          <a:effectLst/>
                          <a:latin typeface="Calibri" panose="020F0502020204030204" pitchFamily="34" charset="0"/>
                        </a:rPr>
                        <a:t>19100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15155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311.25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21611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313.8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-6456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2898759075"/>
                  </a:ext>
                </a:extLst>
              </a:tr>
              <a:tr h="190500">
                <a:tc>
                  <a:txBody>
                    <a:bodyPr/>
                    <a:lstStyle/>
                    <a:p>
                      <a:pPr algn="r" fontAlgn="b"/>
                      <a:r>
                        <a:rPr lang="en-IN" sz="1100" b="0" i="0" u="none" strike="noStrike">
                          <a:solidFill>
                            <a:srgbClr val="000000"/>
                          </a:solidFill>
                          <a:effectLst/>
                          <a:latin typeface="Calibri" panose="020F0502020204030204" pitchFamily="34" charset="0"/>
                        </a:rPr>
                        <a:t>19150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10069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262.2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11954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267.1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-4.9</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1446482776"/>
                  </a:ext>
                </a:extLst>
              </a:tr>
              <a:tr h="190500">
                <a:tc>
                  <a:txBody>
                    <a:bodyPr/>
                    <a:lstStyle/>
                    <a:p>
                      <a:pPr algn="r" fontAlgn="b"/>
                      <a:r>
                        <a:rPr lang="en-IN" sz="1100" b="0" i="0" u="none" strike="noStrike">
                          <a:solidFill>
                            <a:srgbClr val="000000"/>
                          </a:solidFill>
                          <a:effectLst/>
                          <a:latin typeface="Calibri" panose="020F0502020204030204" pitchFamily="34" charset="0"/>
                        </a:rPr>
                        <a:t>19200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30624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213.2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34790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221.2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-4166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1362510467"/>
                  </a:ext>
                </a:extLst>
              </a:tr>
              <a:tr h="190500">
                <a:tc>
                  <a:txBody>
                    <a:bodyPr/>
                    <a:lstStyle/>
                    <a:p>
                      <a:pPr algn="r" fontAlgn="b"/>
                      <a:r>
                        <a:rPr lang="en-IN" sz="1100" b="0" i="0" u="none" strike="noStrike">
                          <a:solidFill>
                            <a:srgbClr val="000000"/>
                          </a:solidFill>
                          <a:effectLst/>
                          <a:latin typeface="Calibri" panose="020F0502020204030204" pitchFamily="34" charset="0"/>
                        </a:rPr>
                        <a:t>19250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19765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166.05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25122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175.35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-5357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-9.3</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3241718459"/>
                  </a:ext>
                </a:extLst>
              </a:tr>
              <a:tr h="190500">
                <a:tc>
                  <a:txBody>
                    <a:bodyPr/>
                    <a:lstStyle/>
                    <a:p>
                      <a:pPr algn="r" fontAlgn="b"/>
                      <a:r>
                        <a:rPr lang="en-IN" sz="1100" b="0" i="0" u="none" strike="noStrike">
                          <a:solidFill>
                            <a:srgbClr val="000000"/>
                          </a:solidFill>
                          <a:effectLst/>
                          <a:latin typeface="Calibri" panose="020F0502020204030204" pitchFamily="34" charset="0"/>
                        </a:rPr>
                        <a:t>19300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64975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122.55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79786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135.35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-14811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-12.8</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480879098"/>
                  </a:ext>
                </a:extLst>
              </a:tr>
              <a:tr h="190500">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19350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54349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82.45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76327</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98.65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-21978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-16.2</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highlight>
                            <a:srgbClr val="FFFF00"/>
                          </a:highligh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343650330"/>
                  </a:ext>
                </a:extLst>
              </a:tr>
              <a:tr h="190500">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19400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246020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50.65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258040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67.55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-12020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-16.9</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highlight>
                            <a:srgbClr val="FFFF00"/>
                          </a:highligh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1440850296"/>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19450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149578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28.45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118454</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44.05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31124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-15.6</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4104646958"/>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19500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267720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14.5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231490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25.55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36230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-11.05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123933578"/>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19550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206681</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6.6</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158888</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14.65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47793</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-8.05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3068680602"/>
                  </a:ext>
                </a:extLst>
              </a:tr>
              <a:tr h="190500">
                <a:tc>
                  <a:txBody>
                    <a:bodyPr/>
                    <a:lstStyle/>
                    <a:p>
                      <a:pPr algn="r" fontAlgn="b"/>
                      <a:r>
                        <a:rPr lang="en-IN" sz="1100" b="0" i="0" u="none" strike="noStrike">
                          <a:solidFill>
                            <a:srgbClr val="000000"/>
                          </a:solidFill>
                          <a:effectLst/>
                          <a:latin typeface="Calibri" panose="020F0502020204030204" pitchFamily="34" charset="0"/>
                        </a:rPr>
                        <a:t>19600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170988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151746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19242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2288193900"/>
                  </a:ext>
                </a:extLst>
              </a:tr>
              <a:tr h="190500">
                <a:tc>
                  <a:txBody>
                    <a:bodyPr/>
                    <a:lstStyle/>
                    <a:p>
                      <a:pPr algn="r" fontAlgn="b"/>
                      <a:r>
                        <a:rPr lang="en-IN" sz="1100" b="0" i="0" u="none" strike="noStrike">
                          <a:solidFill>
                            <a:srgbClr val="000000"/>
                          </a:solidFill>
                          <a:effectLst/>
                          <a:latin typeface="Calibri" panose="020F0502020204030204" pitchFamily="34" charset="0"/>
                        </a:rPr>
                        <a:t>19650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74288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2.15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61652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12636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-2.95</a:t>
                      </a:r>
                    </a:p>
                  </a:txBody>
                  <a:tcPr marL="9525" marR="9525" marT="9525" marB="0" anchor="b">
                    <a:lnL>
                      <a:noFill/>
                    </a:lnL>
                    <a:lnR>
                      <a:noFill/>
                    </a:lnR>
                    <a:lnT>
                      <a:noFill/>
                    </a:lnT>
                    <a:lnB>
                      <a:noFill/>
                    </a:lnB>
                  </a:tcPr>
                </a:tc>
                <a:tc>
                  <a:txBody>
                    <a:bodyPr/>
                    <a:lstStyle/>
                    <a:p>
                      <a:pPr algn="l" fontAlgn="b"/>
                      <a:r>
                        <a:rPr lang="en-IN" sz="1100" b="0" i="0" u="none" strike="noStrike">
                          <a:solidFill>
                            <a:srgbClr val="FF0000"/>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827443313"/>
                  </a:ext>
                </a:extLst>
              </a:tr>
              <a:tr h="190500">
                <a:tc>
                  <a:txBody>
                    <a:bodyPr/>
                    <a:lstStyle/>
                    <a:p>
                      <a:pPr algn="r" fontAlgn="b"/>
                      <a:r>
                        <a:rPr lang="en-IN" sz="1100" b="0" i="0" u="none" strike="noStrike">
                          <a:solidFill>
                            <a:srgbClr val="000000"/>
                          </a:solidFill>
                          <a:effectLst/>
                          <a:latin typeface="Calibri" panose="020F0502020204030204" pitchFamily="34" charset="0"/>
                        </a:rPr>
                        <a:t>19700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130625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143179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-12554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FF0000"/>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688702451"/>
                  </a:ext>
                </a:extLst>
              </a:tr>
            </a:tbl>
          </a:graphicData>
        </a:graphic>
      </p:graphicFrame>
      <p:graphicFrame>
        <p:nvGraphicFramePr>
          <p:cNvPr id="6" name="Table 5">
            <a:extLst>
              <a:ext uri="{FF2B5EF4-FFF2-40B4-BE49-F238E27FC236}">
                <a16:creationId xmlns:a16="http://schemas.microsoft.com/office/drawing/2014/main" id="{9ED0FCC7-6D5E-ED21-5BA3-193B17098C24}"/>
              </a:ext>
            </a:extLst>
          </p:cNvPr>
          <p:cNvGraphicFramePr>
            <a:graphicFrameLocks noGrp="1"/>
          </p:cNvGraphicFramePr>
          <p:nvPr>
            <p:extLst>
              <p:ext uri="{D42A27DB-BD31-4B8C-83A1-F6EECF244321}">
                <p14:modId xmlns:p14="http://schemas.microsoft.com/office/powerpoint/2010/main" val="3261742233"/>
              </p:ext>
            </p:extLst>
          </p:nvPr>
        </p:nvGraphicFramePr>
        <p:xfrm>
          <a:off x="395748" y="4052017"/>
          <a:ext cx="11511999" cy="2667000"/>
        </p:xfrm>
        <a:graphic>
          <a:graphicData uri="http://schemas.openxmlformats.org/drawingml/2006/table">
            <a:tbl>
              <a:tblPr/>
              <a:tblGrid>
                <a:gridCol w="906781">
                  <a:extLst>
                    <a:ext uri="{9D8B030D-6E8A-4147-A177-3AD203B41FA5}">
                      <a16:colId xmlns:a16="http://schemas.microsoft.com/office/drawing/2014/main" val="1236848601"/>
                    </a:ext>
                  </a:extLst>
                </a:gridCol>
                <a:gridCol w="1549772">
                  <a:extLst>
                    <a:ext uri="{9D8B030D-6E8A-4147-A177-3AD203B41FA5}">
                      <a16:colId xmlns:a16="http://schemas.microsoft.com/office/drawing/2014/main" val="4167304949"/>
                    </a:ext>
                  </a:extLst>
                </a:gridCol>
                <a:gridCol w="1632206">
                  <a:extLst>
                    <a:ext uri="{9D8B030D-6E8A-4147-A177-3AD203B41FA5}">
                      <a16:colId xmlns:a16="http://schemas.microsoft.com/office/drawing/2014/main" val="3714572649"/>
                    </a:ext>
                  </a:extLst>
                </a:gridCol>
                <a:gridCol w="1566258">
                  <a:extLst>
                    <a:ext uri="{9D8B030D-6E8A-4147-A177-3AD203B41FA5}">
                      <a16:colId xmlns:a16="http://schemas.microsoft.com/office/drawing/2014/main" val="174036499"/>
                    </a:ext>
                  </a:extLst>
                </a:gridCol>
                <a:gridCol w="1648693">
                  <a:extLst>
                    <a:ext uri="{9D8B030D-6E8A-4147-A177-3AD203B41FA5}">
                      <a16:colId xmlns:a16="http://schemas.microsoft.com/office/drawing/2014/main" val="1658221291"/>
                    </a:ext>
                  </a:extLst>
                </a:gridCol>
                <a:gridCol w="1170572">
                  <a:extLst>
                    <a:ext uri="{9D8B030D-6E8A-4147-A177-3AD203B41FA5}">
                      <a16:colId xmlns:a16="http://schemas.microsoft.com/office/drawing/2014/main" val="83805926"/>
                    </a:ext>
                  </a:extLst>
                </a:gridCol>
                <a:gridCol w="1714641">
                  <a:extLst>
                    <a:ext uri="{9D8B030D-6E8A-4147-A177-3AD203B41FA5}">
                      <a16:colId xmlns:a16="http://schemas.microsoft.com/office/drawing/2014/main" val="1497411080"/>
                    </a:ext>
                  </a:extLst>
                </a:gridCol>
                <a:gridCol w="1323076">
                  <a:extLst>
                    <a:ext uri="{9D8B030D-6E8A-4147-A177-3AD203B41FA5}">
                      <a16:colId xmlns:a16="http://schemas.microsoft.com/office/drawing/2014/main" val="3025818382"/>
                    </a:ext>
                  </a:extLst>
                </a:gridCol>
              </a:tblGrid>
              <a:tr h="190500">
                <a:tc>
                  <a:txBody>
                    <a:bodyPr/>
                    <a:lstStyle/>
                    <a:p>
                      <a:pPr algn="l" fontAlgn="b"/>
                      <a:r>
                        <a:rPr lang="en-IN" sz="1100" b="0" i="0" u="none" strike="noStrike">
                          <a:solidFill>
                            <a:srgbClr val="000000"/>
                          </a:solidFill>
                          <a:effectLst/>
                          <a:latin typeface="Calibri" panose="020F0502020204030204" pitchFamily="34" charset="0"/>
                        </a:rPr>
                        <a:t>strikePrice</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PE_OI_03:33:08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PE_LTP_03:33:08 PM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PE_OI_09:28:25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PE_LTP_09:28:25 AM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Change_in_OI</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Change_in_Premium</a:t>
                      </a:r>
                    </a:p>
                  </a:txBody>
                  <a:tcPr marL="9525" marR="9525" marT="9525" marB="0" anchor="b">
                    <a:lnL>
                      <a:noFill/>
                    </a:lnL>
                    <a:lnR>
                      <a:noFill/>
                    </a:lnR>
                    <a:lnT>
                      <a:noFill/>
                    </a:lnT>
                    <a:lnB>
                      <a:noFill/>
                    </a:lnB>
                  </a:tcPr>
                </a:tc>
                <a:tc>
                  <a:txBody>
                    <a:bodyPr/>
                    <a:lstStyle/>
                    <a:p>
                      <a:pPr algn="l" fontAlgn="b"/>
                      <a:r>
                        <a:rPr lang="en-IN" sz="1100" b="0" i="0" u="none" strike="noStrike">
                          <a:solidFill>
                            <a:srgbClr val="000000"/>
                          </a:solidFill>
                          <a:effectLst/>
                          <a:latin typeface="Calibri" panose="020F0502020204030204" pitchFamily="34" charset="0"/>
                        </a:rPr>
                        <a:t>Conclusion</a:t>
                      </a:r>
                    </a:p>
                  </a:txBody>
                  <a:tcPr marL="9525" marR="9525" marT="9525" marB="0" anchor="b">
                    <a:lnL>
                      <a:noFill/>
                    </a:lnL>
                    <a:lnR>
                      <a:noFill/>
                    </a:lnR>
                    <a:lnT>
                      <a:noFill/>
                    </a:lnT>
                    <a:lnB>
                      <a:noFill/>
                    </a:lnB>
                  </a:tcPr>
                </a:tc>
                <a:extLst>
                  <a:ext uri="{0D108BD9-81ED-4DB2-BD59-A6C34878D82A}">
                    <a16:rowId xmlns:a16="http://schemas.microsoft.com/office/drawing/2014/main" val="2888953390"/>
                  </a:ext>
                </a:extLst>
              </a:tr>
              <a:tr h="190500">
                <a:tc>
                  <a:txBody>
                    <a:bodyPr/>
                    <a:lstStyle/>
                    <a:p>
                      <a:pPr algn="r" fontAlgn="b"/>
                      <a:r>
                        <a:rPr lang="en-IN" sz="1100" b="0" i="0" u="none" strike="noStrike">
                          <a:solidFill>
                            <a:srgbClr val="000000"/>
                          </a:solidFill>
                          <a:effectLst/>
                          <a:latin typeface="Calibri" panose="020F0502020204030204" pitchFamily="34" charset="0"/>
                        </a:rPr>
                        <a:t>19100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147039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3.85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161059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-14020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-3.55</a:t>
                      </a:r>
                    </a:p>
                  </a:txBody>
                  <a:tcPr marL="9525" marR="9525" marT="9525" marB="0" anchor="b">
                    <a:lnL>
                      <a:noFill/>
                    </a:lnL>
                    <a:lnR>
                      <a:noFill/>
                    </a:lnR>
                    <a:lnT>
                      <a:noFill/>
                    </a:lnT>
                    <a:lnB>
                      <a:noFill/>
                    </a:lnB>
                  </a:tcPr>
                </a:tc>
                <a:tc>
                  <a:txBody>
                    <a:bodyPr/>
                    <a:lstStyle/>
                    <a:p>
                      <a:pPr algn="l" fontAlgn="b"/>
                      <a:r>
                        <a:rPr lang="en-IN" sz="1100" b="0" i="0" u="none" strike="noStrike">
                          <a:solidFill>
                            <a:srgbClr val="70AD47"/>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1943779416"/>
                  </a:ext>
                </a:extLst>
              </a:tr>
              <a:tr h="190500">
                <a:tc>
                  <a:txBody>
                    <a:bodyPr/>
                    <a:lstStyle/>
                    <a:p>
                      <a:pPr algn="r" fontAlgn="b"/>
                      <a:r>
                        <a:rPr lang="en-IN" sz="1100" b="0" i="0" u="none" strike="noStrike">
                          <a:solidFill>
                            <a:srgbClr val="000000"/>
                          </a:solidFill>
                          <a:effectLst/>
                          <a:latin typeface="Calibri" panose="020F0502020204030204" pitchFamily="34" charset="0"/>
                        </a:rPr>
                        <a:t>19150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93301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80173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9.55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13128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-5.55</a:t>
                      </a:r>
                    </a:p>
                  </a:txBody>
                  <a:tcPr marL="9525" marR="9525" marT="9525" marB="0" anchor="b">
                    <a:lnL>
                      <a:noFill/>
                    </a:lnL>
                    <a:lnR>
                      <a:noFill/>
                    </a:lnR>
                    <a:lnT>
                      <a:noFill/>
                    </a:lnT>
                    <a:lnB>
                      <a:noFill/>
                    </a:lnB>
                  </a:tcPr>
                </a:tc>
                <a:tc>
                  <a:txBody>
                    <a:bodyPr/>
                    <a:lstStyle/>
                    <a:p>
                      <a:pPr algn="l" fontAlgn="b"/>
                      <a:r>
                        <a:rPr lang="en-IN" sz="1100" b="0" i="0" u="none" strike="noStrike">
                          <a:solidFill>
                            <a:srgbClr val="70AD47"/>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814484358"/>
                  </a:ext>
                </a:extLst>
              </a:tr>
              <a:tr h="190500">
                <a:tc>
                  <a:txBody>
                    <a:bodyPr/>
                    <a:lstStyle/>
                    <a:p>
                      <a:pPr algn="r" fontAlgn="b"/>
                      <a:r>
                        <a:rPr lang="en-IN" sz="1100" b="0" i="0" u="none" strike="noStrike">
                          <a:solidFill>
                            <a:srgbClr val="000000"/>
                          </a:solidFill>
                          <a:effectLst/>
                          <a:latin typeface="Calibri" panose="020F0502020204030204" pitchFamily="34" charset="0"/>
                        </a:rPr>
                        <a:t>19200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latin typeface="Calibri" panose="020F0502020204030204" pitchFamily="34" charset="0"/>
                        </a:rPr>
                        <a:t>187261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172805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14456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-7.25</a:t>
                      </a:r>
                    </a:p>
                  </a:txBody>
                  <a:tcPr marL="9525" marR="9525" marT="9525" marB="0" anchor="b">
                    <a:lnL>
                      <a:noFill/>
                    </a:lnL>
                    <a:lnR>
                      <a:noFill/>
                    </a:lnR>
                    <a:lnT>
                      <a:noFill/>
                    </a:lnT>
                    <a:lnB>
                      <a:noFill/>
                    </a:lnB>
                  </a:tcPr>
                </a:tc>
                <a:tc>
                  <a:txBody>
                    <a:bodyPr/>
                    <a:lstStyle/>
                    <a:p>
                      <a:pPr algn="l" fontAlgn="b"/>
                      <a:r>
                        <a:rPr lang="en-IN" sz="1100" b="0" i="0" u="none" strike="noStrike">
                          <a:solidFill>
                            <a:srgbClr val="70AD47"/>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349104136"/>
                  </a:ext>
                </a:extLst>
              </a:tr>
              <a:tr h="190500">
                <a:tc>
                  <a:txBody>
                    <a:bodyPr/>
                    <a:lstStyle/>
                    <a:p>
                      <a:pPr algn="r" fontAlgn="b"/>
                      <a:r>
                        <a:rPr lang="en-IN" sz="1100" b="0" i="0" u="none" strike="noStrike">
                          <a:solidFill>
                            <a:srgbClr val="000000"/>
                          </a:solidFill>
                          <a:effectLst/>
                          <a:latin typeface="Calibri" panose="020F0502020204030204" pitchFamily="34" charset="0"/>
                        </a:rPr>
                        <a:t>19250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117102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8.55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111614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18.65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5488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-10.1</a:t>
                      </a:r>
                    </a:p>
                  </a:txBody>
                  <a:tcPr marL="9525" marR="9525" marT="9525" marB="0" anchor="b">
                    <a:lnL>
                      <a:noFill/>
                    </a:lnL>
                    <a:lnR>
                      <a:noFill/>
                    </a:lnR>
                    <a:lnT>
                      <a:noFill/>
                    </a:lnT>
                    <a:lnB>
                      <a:noFill/>
                    </a:lnB>
                  </a:tcPr>
                </a:tc>
                <a:tc>
                  <a:txBody>
                    <a:bodyPr/>
                    <a:lstStyle/>
                    <a:p>
                      <a:pPr algn="l" fontAlgn="b"/>
                      <a:r>
                        <a:rPr lang="en-IN" sz="1100" b="0" i="0" u="none" strike="noStrike">
                          <a:solidFill>
                            <a:srgbClr val="70AD47"/>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249560297"/>
                  </a:ext>
                </a:extLst>
              </a:tr>
              <a:tr h="190500">
                <a:tc>
                  <a:txBody>
                    <a:bodyPr/>
                    <a:lstStyle/>
                    <a:p>
                      <a:pPr algn="r" fontAlgn="b"/>
                      <a:r>
                        <a:rPr lang="en-IN" sz="1100" b="0" i="0" u="none" strike="noStrike">
                          <a:solidFill>
                            <a:srgbClr val="000000"/>
                          </a:solidFill>
                          <a:effectLst/>
                          <a:latin typeface="Calibri" panose="020F0502020204030204" pitchFamily="34" charset="0"/>
                        </a:rPr>
                        <a:t>19300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256296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259286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27.95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-2990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-13.7</a:t>
                      </a:r>
                    </a:p>
                  </a:txBody>
                  <a:tcPr marL="9525" marR="9525" marT="9525" marB="0" anchor="b">
                    <a:lnL>
                      <a:noFill/>
                    </a:lnL>
                    <a:lnR>
                      <a:noFill/>
                    </a:lnR>
                    <a:lnT>
                      <a:noFill/>
                    </a:lnT>
                    <a:lnB>
                      <a:noFill/>
                    </a:lnB>
                  </a:tcPr>
                </a:tc>
                <a:tc>
                  <a:txBody>
                    <a:bodyPr/>
                    <a:lstStyle/>
                    <a:p>
                      <a:pPr algn="l" fontAlgn="b"/>
                      <a:r>
                        <a:rPr lang="en-IN" sz="1100" b="0" i="0" u="none" strike="noStrike">
                          <a:solidFill>
                            <a:srgbClr val="70AD47"/>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1065189822"/>
                  </a:ext>
                </a:extLst>
              </a:tr>
              <a:tr h="190500">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19350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167329</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24.7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130662</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41.15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36667</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-16.45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70AD47"/>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507738284"/>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19400</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183795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41.8</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163581</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61.4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20214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-19.6</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70AD47"/>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2821487888"/>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19450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33116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69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29384</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86.35</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3732</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-17.35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70AD47"/>
                          </a:solidFill>
                          <a:effectLst/>
                          <a:highlight>
                            <a:srgbClr val="FFFF00"/>
                          </a:highligh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124725863"/>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19500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35911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106.1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41225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119.6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-5314</a:t>
                      </a:r>
                    </a:p>
                  </a:txBody>
                  <a:tcPr marL="9525" marR="9525" marT="9525" marB="0" anchor="b">
                    <a:lnL>
                      <a:noFill/>
                    </a:lnL>
                    <a:lnR>
                      <a:noFill/>
                    </a:lnR>
                    <a:lnT>
                      <a:noFill/>
                    </a:lnT>
                    <a:lnB>
                      <a:noFill/>
                    </a:lnB>
                  </a:tcPr>
                </a:tc>
                <a:tc>
                  <a:txBody>
                    <a:bodyPr/>
                    <a:lstStyle/>
                    <a:p>
                      <a:pPr algn="r" fontAlgn="b"/>
                      <a:r>
                        <a:rPr lang="en-IN" sz="1100" b="0" i="0" u="none" strike="noStrike" dirty="0">
                          <a:solidFill>
                            <a:srgbClr val="000000"/>
                          </a:solidFill>
                          <a:effectLst/>
                          <a:highlight>
                            <a:srgbClr val="FFFF00"/>
                          </a:highlight>
                          <a:latin typeface="Calibri" panose="020F0502020204030204" pitchFamily="34" charset="0"/>
                        </a:rPr>
                        <a:t>-13.5</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70AD47"/>
                          </a:solidFill>
                          <a:effectLst/>
                          <a:highlight>
                            <a:srgbClr val="FFFF00"/>
                          </a:highligh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3214320500"/>
                  </a:ext>
                </a:extLst>
              </a:tr>
              <a:tr h="190500">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19550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6040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149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6642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157.4</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-602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highlight>
                            <a:srgbClr val="FFFF00"/>
                          </a:highlight>
                          <a:latin typeface="Calibri" panose="020F0502020204030204" pitchFamily="34" charset="0"/>
                        </a:rPr>
                        <a:t>-8.4</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70AD47"/>
                          </a:solidFill>
                          <a:effectLst/>
                          <a:highlight>
                            <a:srgbClr val="FFFF00"/>
                          </a:highligh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1614973290"/>
                  </a:ext>
                </a:extLst>
              </a:tr>
              <a:tr h="190500">
                <a:tc>
                  <a:txBody>
                    <a:bodyPr/>
                    <a:lstStyle/>
                    <a:p>
                      <a:pPr algn="r" fontAlgn="b"/>
                      <a:r>
                        <a:rPr lang="en-IN" sz="1100" b="0" i="0" u="none" strike="noStrike">
                          <a:solidFill>
                            <a:srgbClr val="000000"/>
                          </a:solidFill>
                          <a:effectLst/>
                          <a:latin typeface="Calibri" panose="020F0502020204030204" pitchFamily="34" charset="0"/>
                        </a:rPr>
                        <a:t>19600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6301</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195.05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6759</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200.6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-5.55</a:t>
                      </a:r>
                    </a:p>
                  </a:txBody>
                  <a:tcPr marL="9525" marR="9525" marT="9525" marB="0" anchor="b">
                    <a:lnL>
                      <a:noFill/>
                    </a:lnL>
                    <a:lnR>
                      <a:noFill/>
                    </a:lnR>
                    <a:lnT>
                      <a:noFill/>
                    </a:lnT>
                    <a:lnB>
                      <a:noFill/>
                    </a:lnB>
                  </a:tcPr>
                </a:tc>
                <a:tc>
                  <a:txBody>
                    <a:bodyPr/>
                    <a:lstStyle/>
                    <a:p>
                      <a:pPr algn="l" fontAlgn="b"/>
                      <a:r>
                        <a:rPr lang="en-IN" sz="1100" b="0" i="0" u="none" strike="noStrike">
                          <a:solidFill>
                            <a:srgbClr val="70AD47"/>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3172871635"/>
                  </a:ext>
                </a:extLst>
              </a:tr>
              <a:tr h="190500">
                <a:tc>
                  <a:txBody>
                    <a:bodyPr/>
                    <a:lstStyle/>
                    <a:p>
                      <a:pPr algn="r" fontAlgn="b"/>
                      <a:r>
                        <a:rPr lang="en-IN" sz="1100" b="0" i="0" u="none" strike="noStrike">
                          <a:solidFill>
                            <a:srgbClr val="000000"/>
                          </a:solidFill>
                          <a:effectLst/>
                          <a:latin typeface="Calibri" panose="020F0502020204030204" pitchFamily="34" charset="0"/>
                        </a:rPr>
                        <a:t>19650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740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244.55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688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248.65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52</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-4.1</a:t>
                      </a:r>
                    </a:p>
                  </a:txBody>
                  <a:tcPr marL="9525" marR="9525" marT="9525" marB="0" anchor="b">
                    <a:lnL>
                      <a:noFill/>
                    </a:lnL>
                    <a:lnR>
                      <a:noFill/>
                    </a:lnR>
                    <a:lnT>
                      <a:noFill/>
                    </a:lnT>
                    <a:lnB>
                      <a:noFill/>
                    </a:lnB>
                  </a:tcPr>
                </a:tc>
                <a:tc>
                  <a:txBody>
                    <a:bodyPr/>
                    <a:lstStyle/>
                    <a:p>
                      <a:pPr algn="l" fontAlgn="b"/>
                      <a:r>
                        <a:rPr lang="en-IN" sz="1100" b="0" i="0" u="none" strike="noStrike">
                          <a:solidFill>
                            <a:srgbClr val="70AD47"/>
                          </a:solidFill>
                          <a:effectLst/>
                          <a:latin typeface="Calibri" panose="020F0502020204030204" pitchFamily="34" charset="0"/>
                        </a:rPr>
                        <a:t>Shot Buildup</a:t>
                      </a:r>
                    </a:p>
                  </a:txBody>
                  <a:tcPr marL="9525" marR="9525" marT="9525" marB="0" anchor="b">
                    <a:lnL>
                      <a:noFill/>
                    </a:lnL>
                    <a:lnR>
                      <a:noFill/>
                    </a:lnR>
                    <a:lnT>
                      <a:noFill/>
                    </a:lnT>
                    <a:lnB>
                      <a:noFill/>
                    </a:lnB>
                  </a:tcPr>
                </a:tc>
                <a:extLst>
                  <a:ext uri="{0D108BD9-81ED-4DB2-BD59-A6C34878D82A}">
                    <a16:rowId xmlns:a16="http://schemas.microsoft.com/office/drawing/2014/main" val="1460967715"/>
                  </a:ext>
                </a:extLst>
              </a:tr>
              <a:tr h="190500">
                <a:tc>
                  <a:txBody>
                    <a:bodyPr/>
                    <a:lstStyle/>
                    <a:p>
                      <a:pPr algn="r" fontAlgn="b"/>
                      <a:r>
                        <a:rPr lang="en-IN" sz="1100" b="0" i="0" u="none" strike="noStrike">
                          <a:solidFill>
                            <a:srgbClr val="000000"/>
                          </a:solidFill>
                          <a:effectLst/>
                          <a:latin typeface="Calibri" panose="020F0502020204030204" pitchFamily="34" charset="0"/>
                        </a:rPr>
                        <a:t>19700</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1455</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292.6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2013</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296</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-558</a:t>
                      </a:r>
                    </a:p>
                  </a:txBody>
                  <a:tcPr marL="9525" marR="9525" marT="9525" marB="0" anchor="b">
                    <a:lnL>
                      <a:noFill/>
                    </a:lnL>
                    <a:lnR>
                      <a:noFill/>
                    </a:lnR>
                    <a:lnT>
                      <a:noFill/>
                    </a:lnT>
                    <a:lnB>
                      <a:noFill/>
                    </a:lnB>
                  </a:tcPr>
                </a:tc>
                <a:tc>
                  <a:txBody>
                    <a:bodyPr/>
                    <a:lstStyle/>
                    <a:p>
                      <a:pPr algn="r" fontAlgn="b"/>
                      <a:r>
                        <a:rPr lang="en-IN" sz="1100" b="0" i="0" u="none" strike="noStrike">
                          <a:solidFill>
                            <a:srgbClr val="000000"/>
                          </a:solidFill>
                          <a:effectLst/>
                          <a:latin typeface="Calibri" panose="020F0502020204030204" pitchFamily="34" charset="0"/>
                        </a:rPr>
                        <a:t>-3.4</a:t>
                      </a:r>
                    </a:p>
                  </a:txBody>
                  <a:tcPr marL="9525" marR="9525" marT="9525" marB="0" anchor="b">
                    <a:lnL>
                      <a:noFill/>
                    </a:lnL>
                    <a:lnR>
                      <a:noFill/>
                    </a:lnR>
                    <a:lnT>
                      <a:noFill/>
                    </a:lnT>
                    <a:lnB>
                      <a:noFill/>
                    </a:lnB>
                  </a:tcPr>
                </a:tc>
                <a:tc>
                  <a:txBody>
                    <a:bodyPr/>
                    <a:lstStyle/>
                    <a:p>
                      <a:pPr algn="l" fontAlgn="b"/>
                      <a:r>
                        <a:rPr lang="en-IN" sz="1100" b="0" i="0" u="none" strike="noStrike" dirty="0">
                          <a:solidFill>
                            <a:srgbClr val="70AD47"/>
                          </a:solidFill>
                          <a:effectLst/>
                          <a:latin typeface="Calibri" panose="020F0502020204030204" pitchFamily="34" charset="0"/>
                        </a:rPr>
                        <a:t>Long Unwinding</a:t>
                      </a:r>
                    </a:p>
                  </a:txBody>
                  <a:tcPr marL="9525" marR="9525" marT="9525" marB="0" anchor="b">
                    <a:lnL>
                      <a:noFill/>
                    </a:lnL>
                    <a:lnR>
                      <a:noFill/>
                    </a:lnR>
                    <a:lnT>
                      <a:noFill/>
                    </a:lnT>
                    <a:lnB>
                      <a:noFill/>
                    </a:lnB>
                  </a:tcPr>
                </a:tc>
                <a:extLst>
                  <a:ext uri="{0D108BD9-81ED-4DB2-BD59-A6C34878D82A}">
                    <a16:rowId xmlns:a16="http://schemas.microsoft.com/office/drawing/2014/main" val="2774990897"/>
                  </a:ext>
                </a:extLst>
              </a:tr>
            </a:tbl>
          </a:graphicData>
        </a:graphic>
      </p:graphicFrame>
    </p:spTree>
    <p:extLst>
      <p:ext uri="{BB962C8B-B14F-4D97-AF65-F5344CB8AC3E}">
        <p14:creationId xmlns:p14="http://schemas.microsoft.com/office/powerpoint/2010/main" val="34445498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05-07-2023</a:t>
            </a:r>
            <a:endParaRPr lang="en-IN" dirty="0"/>
          </a:p>
        </p:txBody>
      </p:sp>
      <p:pic>
        <p:nvPicPr>
          <p:cNvPr id="4" name="Picture 3">
            <a:extLst>
              <a:ext uri="{FF2B5EF4-FFF2-40B4-BE49-F238E27FC236}">
                <a16:creationId xmlns:a16="http://schemas.microsoft.com/office/drawing/2014/main" id="{5392E009-3C9A-9DD4-7B31-E985E53A034E}"/>
              </a:ext>
            </a:extLst>
          </p:cNvPr>
          <p:cNvPicPr>
            <a:picLocks noChangeAspect="1"/>
          </p:cNvPicPr>
          <p:nvPr/>
        </p:nvPicPr>
        <p:blipFill>
          <a:blip r:embed="rId3"/>
          <a:stretch>
            <a:fillRect/>
          </a:stretch>
        </p:blipFill>
        <p:spPr>
          <a:xfrm>
            <a:off x="0" y="1108364"/>
            <a:ext cx="12192000" cy="5548162"/>
          </a:xfrm>
          <a:prstGeom prst="rect">
            <a:avLst/>
          </a:prstGeom>
        </p:spPr>
      </p:pic>
    </p:spTree>
    <p:extLst>
      <p:ext uri="{BB962C8B-B14F-4D97-AF65-F5344CB8AC3E}">
        <p14:creationId xmlns:p14="http://schemas.microsoft.com/office/powerpoint/2010/main" val="12891920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05-07-2023</a:t>
            </a:r>
            <a:endParaRPr lang="en-IN" dirty="0"/>
          </a:p>
        </p:txBody>
      </p:sp>
      <p:pic>
        <p:nvPicPr>
          <p:cNvPr id="4" name="Picture 3">
            <a:extLst>
              <a:ext uri="{FF2B5EF4-FFF2-40B4-BE49-F238E27FC236}">
                <a16:creationId xmlns:a16="http://schemas.microsoft.com/office/drawing/2014/main" id="{2CCC3027-2380-B449-F847-878F37885E81}"/>
              </a:ext>
            </a:extLst>
          </p:cNvPr>
          <p:cNvPicPr>
            <a:picLocks noChangeAspect="1"/>
          </p:cNvPicPr>
          <p:nvPr/>
        </p:nvPicPr>
        <p:blipFill>
          <a:blip r:embed="rId3"/>
          <a:stretch>
            <a:fillRect/>
          </a:stretch>
        </p:blipFill>
        <p:spPr>
          <a:xfrm>
            <a:off x="176942" y="1108364"/>
            <a:ext cx="11583544" cy="4898583"/>
          </a:xfrm>
          <a:prstGeom prst="rect">
            <a:avLst/>
          </a:prstGeom>
        </p:spPr>
      </p:pic>
    </p:spTree>
    <p:extLst>
      <p:ext uri="{BB962C8B-B14F-4D97-AF65-F5344CB8AC3E}">
        <p14:creationId xmlns:p14="http://schemas.microsoft.com/office/powerpoint/2010/main" val="19811498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8C34-31F1-FA65-53D7-3E44EBA3751D}"/>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0840B0B-C339-EA08-BD9A-74EC0889221B}"/>
              </a:ext>
            </a:extLst>
          </p:cNvPr>
          <p:cNvSpPr>
            <a:spLocks noGrp="1"/>
          </p:cNvSpPr>
          <p:nvPr>
            <p:ph idx="1"/>
          </p:nvPr>
        </p:nvSpPr>
        <p:spPr>
          <a:xfrm>
            <a:off x="838200" y="1376516"/>
            <a:ext cx="10515600" cy="4800447"/>
          </a:xfrm>
        </p:spPr>
        <p:txBody>
          <a:bodyPr/>
          <a:lstStyle/>
          <a:p>
            <a:r>
              <a:rPr lang="en-US" dirty="0"/>
              <a:t>Overall market-&gt;Both upside and downside is limited due to the shot build on both side market might not go below 19350 due to the heavy shot build up on the put side and also might not go much above.</a:t>
            </a:r>
            <a:endParaRPr lang="en-IN" dirty="0"/>
          </a:p>
          <a:p>
            <a:r>
              <a:rPr lang="en-US" dirty="0"/>
              <a:t> Last 45 mins-&gt;Last 45 mins shows the change in the opinion of the call and put side traders as the shot pogition of the near atm strike prices is closed and long pogition is made on 19550 on call side and more shot pogition is made on the put side </a:t>
            </a:r>
          </a:p>
          <a:p>
            <a:r>
              <a:rPr lang="en-US" dirty="0"/>
              <a:t>My vote is bullish as I’ll give more weightage to the final 45 mins change in the opinion of call side short sellers during the expiry. </a:t>
            </a:r>
          </a:p>
        </p:txBody>
      </p:sp>
    </p:spTree>
    <p:extLst>
      <p:ext uri="{BB962C8B-B14F-4D97-AF65-F5344CB8AC3E}">
        <p14:creationId xmlns:p14="http://schemas.microsoft.com/office/powerpoint/2010/main" val="5076210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395749" y="138983"/>
            <a:ext cx="10515600" cy="743239"/>
          </a:xfrm>
        </p:spPr>
        <p:txBody>
          <a:bodyPr/>
          <a:lstStyle/>
          <a:p>
            <a:r>
              <a:rPr lang="en-US" dirty="0"/>
              <a:t>05-07-2023</a:t>
            </a:r>
            <a:endParaRPr lang="en-IN" dirty="0"/>
          </a:p>
        </p:txBody>
      </p:sp>
    </p:spTree>
    <p:extLst>
      <p:ext uri="{BB962C8B-B14F-4D97-AF65-F5344CB8AC3E}">
        <p14:creationId xmlns:p14="http://schemas.microsoft.com/office/powerpoint/2010/main" val="25769116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05-07-2023</a:t>
            </a:r>
            <a:endParaRPr lang="en-IN" dirty="0"/>
          </a:p>
        </p:txBody>
      </p:sp>
    </p:spTree>
    <p:extLst>
      <p:ext uri="{BB962C8B-B14F-4D97-AF65-F5344CB8AC3E}">
        <p14:creationId xmlns:p14="http://schemas.microsoft.com/office/powerpoint/2010/main" val="10578402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5C389-034D-CD69-4DE6-A346B91250E4}"/>
              </a:ext>
            </a:extLst>
          </p:cNvPr>
          <p:cNvSpPr>
            <a:spLocks noGrp="1"/>
          </p:cNvSpPr>
          <p:nvPr>
            <p:ph type="title"/>
          </p:nvPr>
        </p:nvSpPr>
        <p:spPr>
          <a:xfrm>
            <a:off x="838200" y="365125"/>
            <a:ext cx="10515600" cy="743239"/>
          </a:xfrm>
        </p:spPr>
        <p:txBody>
          <a:bodyPr/>
          <a:lstStyle/>
          <a:p>
            <a:r>
              <a:rPr lang="en-US" dirty="0"/>
              <a:t>05-07-2023</a:t>
            </a:r>
            <a:endParaRPr lang="en-IN" dirty="0"/>
          </a:p>
        </p:txBody>
      </p:sp>
    </p:spTree>
    <p:extLst>
      <p:ext uri="{BB962C8B-B14F-4D97-AF65-F5344CB8AC3E}">
        <p14:creationId xmlns:p14="http://schemas.microsoft.com/office/powerpoint/2010/main" val="32363464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A8C34-31F1-FA65-53D7-3E44EBA3751D}"/>
              </a:ext>
            </a:extLst>
          </p:cNvPr>
          <p:cNvSpPr>
            <a:spLocks noGrp="1"/>
          </p:cNvSpPr>
          <p:nvPr>
            <p:ph type="title"/>
          </p:nvPr>
        </p:nvSpPr>
        <p:spPr/>
        <p:txBody>
          <a:bodyPr/>
          <a:lstStyle/>
          <a:p>
            <a:r>
              <a:rPr lang="en-US" dirty="0"/>
              <a:t>Conclusion</a:t>
            </a:r>
            <a:endParaRPr lang="en-IN" dirty="0"/>
          </a:p>
        </p:txBody>
      </p:sp>
      <p:sp>
        <p:nvSpPr>
          <p:cNvPr id="3" name="Content Placeholder 2">
            <a:extLst>
              <a:ext uri="{FF2B5EF4-FFF2-40B4-BE49-F238E27FC236}">
                <a16:creationId xmlns:a16="http://schemas.microsoft.com/office/drawing/2014/main" id="{30840B0B-C339-EA08-BD9A-74EC0889221B}"/>
              </a:ext>
            </a:extLst>
          </p:cNvPr>
          <p:cNvSpPr>
            <a:spLocks noGrp="1"/>
          </p:cNvSpPr>
          <p:nvPr>
            <p:ph idx="1"/>
          </p:nvPr>
        </p:nvSpPr>
        <p:spPr>
          <a:xfrm>
            <a:off x="838200" y="1376516"/>
            <a:ext cx="10515600" cy="4800447"/>
          </a:xfrm>
        </p:spPr>
        <p:txBody>
          <a:bodyPr/>
          <a:lstStyle/>
          <a:p>
            <a:r>
              <a:rPr lang="en-US" dirty="0"/>
              <a:t>Overall market-&gt;Both upside and downside is limited due to the shot build on both side market might not go below 19350 due to the heavy shot build up on the put side and also might not go much above.</a:t>
            </a:r>
            <a:endParaRPr lang="en-IN" dirty="0"/>
          </a:p>
          <a:p>
            <a:r>
              <a:rPr lang="en-US" dirty="0"/>
              <a:t> Last 45 mins-&gt;Last 45 mins shows the change in the opinion of the call and put side traders as the shot pogition of the near atm strike prices is closed and long pogition is made on 19550 on call side and more shot pogition is made on the put side </a:t>
            </a:r>
          </a:p>
          <a:p>
            <a:r>
              <a:rPr lang="en-US" dirty="0"/>
              <a:t>My vote is bullish as I’ll give more weightage to the final 45 mins change in the opinion of call side short sellers during the expiry. </a:t>
            </a:r>
          </a:p>
        </p:txBody>
      </p:sp>
    </p:spTree>
    <p:extLst>
      <p:ext uri="{BB962C8B-B14F-4D97-AF65-F5344CB8AC3E}">
        <p14:creationId xmlns:p14="http://schemas.microsoft.com/office/powerpoint/2010/main" val="1229015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8007</TotalTime>
  <Words>3624</Words>
  <Application>Microsoft Office PowerPoint</Application>
  <PresentationFormat>Widescreen</PresentationFormat>
  <Paragraphs>1912</Paragraphs>
  <Slides>61</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61</vt:i4>
      </vt:variant>
    </vt:vector>
  </HeadingPairs>
  <TitlesOfParts>
    <vt:vector size="65" baseType="lpstr">
      <vt:lpstr>Arial</vt:lpstr>
      <vt:lpstr>Calibri</vt:lpstr>
      <vt:lpstr>Calibri Light</vt:lpstr>
      <vt:lpstr>Office Theme</vt:lpstr>
      <vt:lpstr>PowerPoint Presentation</vt:lpstr>
      <vt:lpstr>23-05-2023</vt:lpstr>
      <vt:lpstr>23-05-2023</vt:lpstr>
      <vt:lpstr>23-05-2023</vt:lpstr>
      <vt:lpstr>Conclusion</vt:lpstr>
      <vt:lpstr>PowerPoint Presentation</vt:lpstr>
      <vt:lpstr>24-05-2023</vt:lpstr>
      <vt:lpstr>24-05-2023</vt:lpstr>
      <vt:lpstr>Conclusion</vt:lpstr>
      <vt:lpstr>29-05-2023</vt:lpstr>
      <vt:lpstr>29-05-2023</vt:lpstr>
      <vt:lpstr>29-05-2023</vt:lpstr>
      <vt:lpstr>30-05-2023</vt:lpstr>
      <vt:lpstr>30-05-2023</vt:lpstr>
      <vt:lpstr>30-05-2023</vt:lpstr>
      <vt:lpstr>31-05-2023</vt:lpstr>
      <vt:lpstr>31-05-2023</vt:lpstr>
      <vt:lpstr>31-05-2023</vt:lpstr>
      <vt:lpstr>02-06-2023</vt:lpstr>
      <vt:lpstr>02-06-2023</vt:lpstr>
      <vt:lpstr>02-06-2023</vt:lpstr>
      <vt:lpstr>Conclusion</vt:lpstr>
      <vt:lpstr>05-06-2023</vt:lpstr>
      <vt:lpstr>05-06-2023</vt:lpstr>
      <vt:lpstr>05-06-2023</vt:lpstr>
      <vt:lpstr>06-06-2023</vt:lpstr>
      <vt:lpstr>06-06-2023</vt:lpstr>
      <vt:lpstr>06-06-2023</vt:lpstr>
      <vt:lpstr>07-06-2023</vt:lpstr>
      <vt:lpstr>07-06-2023</vt:lpstr>
      <vt:lpstr>07-06-2023</vt:lpstr>
      <vt:lpstr>09-06-2023</vt:lpstr>
      <vt:lpstr>09-06-2023</vt:lpstr>
      <vt:lpstr>09-06-2023</vt:lpstr>
      <vt:lpstr>12-06-2023</vt:lpstr>
      <vt:lpstr>12-06-2023</vt:lpstr>
      <vt:lpstr>12-06-2023</vt:lpstr>
      <vt:lpstr>13-06-2023</vt:lpstr>
      <vt:lpstr>13-06-2023</vt:lpstr>
      <vt:lpstr>13-06-2023</vt:lpstr>
      <vt:lpstr>Conclusion</vt:lpstr>
      <vt:lpstr>30-06-2023</vt:lpstr>
      <vt:lpstr>30-06-2023</vt:lpstr>
      <vt:lpstr>30-06-2023</vt:lpstr>
      <vt:lpstr>Conclusion</vt:lpstr>
      <vt:lpstr>03-07-2023</vt:lpstr>
      <vt:lpstr>03-07-2023</vt:lpstr>
      <vt:lpstr>03-07-2023</vt:lpstr>
      <vt:lpstr>Conclusion</vt:lpstr>
      <vt:lpstr>04-07-2023</vt:lpstr>
      <vt:lpstr>04-07-2023</vt:lpstr>
      <vt:lpstr>04-07-2023</vt:lpstr>
      <vt:lpstr>Conclusion</vt:lpstr>
      <vt:lpstr>05-07-2023</vt:lpstr>
      <vt:lpstr>05-07-2023</vt:lpstr>
      <vt:lpstr>05-07-2023</vt:lpstr>
      <vt:lpstr>Conclusion</vt:lpstr>
      <vt:lpstr>05-07-2023</vt:lpstr>
      <vt:lpstr>05-07-2023</vt:lpstr>
      <vt:lpstr>05-07-2023</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Ashutosh Dubey</dc:creator>
  <cp:lastModifiedBy>Ashutosh Dubey</cp:lastModifiedBy>
  <cp:revision>44</cp:revision>
  <dcterms:created xsi:type="dcterms:W3CDTF">2023-06-13T16:58:46Z</dcterms:created>
  <dcterms:modified xsi:type="dcterms:W3CDTF">2023-07-06T20:17:21Z</dcterms:modified>
</cp:coreProperties>
</file>