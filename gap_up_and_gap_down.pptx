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297" r:id="rId3"/>
    <p:sldId id="298" r:id="rId4"/>
    <p:sldId id="299" r:id="rId5"/>
    <p:sldId id="300" r:id="rId6"/>
    <p:sldId id="257" r:id="rId7"/>
    <p:sldId id="258" r:id="rId8"/>
    <p:sldId id="259" r:id="rId9"/>
    <p:sldId id="261" r:id="rId10"/>
    <p:sldId id="295" r:id="rId11"/>
    <p:sldId id="262" r:id="rId12"/>
    <p:sldId id="263" r:id="rId13"/>
    <p:sldId id="269" r:id="rId14"/>
    <p:sldId id="270" r:id="rId15"/>
    <p:sldId id="264" r:id="rId16"/>
    <p:sldId id="271" r:id="rId17"/>
    <p:sldId id="272" r:id="rId18"/>
    <p:sldId id="265" r:id="rId19"/>
    <p:sldId id="273" r:id="rId20"/>
    <p:sldId id="274" r:id="rId21"/>
    <p:sldId id="296" r:id="rId22"/>
    <p:sldId id="266"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1" r:id="rId39"/>
    <p:sldId id="290" r:id="rId40"/>
    <p:sldId id="292"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1381" autoAdjust="0"/>
  </p:normalViewPr>
  <p:slideViewPr>
    <p:cSldViewPr snapToGrid="0">
      <p:cViewPr varScale="1">
        <p:scale>
          <a:sx n="104" d="100"/>
          <a:sy n="104" d="100"/>
        </p:scale>
        <p:origin x="81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FD56E-56DF-48FB-8DCA-B278570B0ABD}" type="datetimeFigureOut">
              <a:rPr lang="en-IN" smtClean="0"/>
              <a:t>13-06-2023</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E6D869-3F49-45EE-8D03-CCCEA462AE8D}" type="slidenum">
              <a:rPr lang="en-IN" smtClean="0"/>
              <a:t>‹#›</a:t>
            </a:fld>
            <a:endParaRPr lang="en-IN"/>
          </a:p>
        </p:txBody>
      </p:sp>
    </p:spTree>
    <p:extLst>
      <p:ext uri="{BB962C8B-B14F-4D97-AF65-F5344CB8AC3E}">
        <p14:creationId xmlns:p14="http://schemas.microsoft.com/office/powerpoint/2010/main" val="1608798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covering is going on call side on all strike prices</a:t>
            </a:r>
            <a:endParaRPr lang="en-IN" dirty="0"/>
          </a:p>
        </p:txBody>
      </p:sp>
      <p:sp>
        <p:nvSpPr>
          <p:cNvPr id="4" name="Slide Number Placeholder 3"/>
          <p:cNvSpPr>
            <a:spLocks noGrp="1"/>
          </p:cNvSpPr>
          <p:nvPr>
            <p:ph type="sldNum" sz="quarter" idx="5"/>
          </p:nvPr>
        </p:nvSpPr>
        <p:spPr/>
        <p:txBody>
          <a:bodyPr/>
          <a:lstStyle/>
          <a:p>
            <a:fld id="{15E6D869-3F49-45EE-8D03-CCCEA462AE8D}" type="slidenum">
              <a:rPr lang="en-IN" smtClean="0"/>
              <a:t>7</a:t>
            </a:fld>
            <a:endParaRPr lang="en-IN"/>
          </a:p>
        </p:txBody>
      </p:sp>
    </p:spTree>
    <p:extLst>
      <p:ext uri="{BB962C8B-B14F-4D97-AF65-F5344CB8AC3E}">
        <p14:creationId xmlns:p14="http://schemas.microsoft.com/office/powerpoint/2010/main" val="4087716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18000 and 18100 long covering</a:t>
            </a:r>
          </a:p>
          <a:p>
            <a:pPr marL="171450" indent="-171450">
              <a:buFont typeface="Arial" panose="020B0604020202020204" pitchFamily="34" charset="0"/>
              <a:buChar char="•"/>
            </a:pPr>
            <a:r>
              <a:rPr lang="en-US" dirty="0"/>
              <a:t>18200 and 18300 shot covering is going on</a:t>
            </a:r>
            <a:endParaRPr lang="en-IN" dirty="0"/>
          </a:p>
        </p:txBody>
      </p:sp>
      <p:sp>
        <p:nvSpPr>
          <p:cNvPr id="4" name="Slide Number Placeholder 3"/>
          <p:cNvSpPr>
            <a:spLocks noGrp="1"/>
          </p:cNvSpPr>
          <p:nvPr>
            <p:ph type="sldNum" sz="quarter" idx="5"/>
          </p:nvPr>
        </p:nvSpPr>
        <p:spPr/>
        <p:txBody>
          <a:bodyPr/>
          <a:lstStyle/>
          <a:p>
            <a:fld id="{15E6D869-3F49-45EE-8D03-CCCEA462AE8D}" type="slidenum">
              <a:rPr lang="en-IN" smtClean="0"/>
              <a:t>8</a:t>
            </a:fld>
            <a:endParaRPr lang="en-IN"/>
          </a:p>
        </p:txBody>
      </p:sp>
    </p:spTree>
    <p:extLst>
      <p:ext uri="{BB962C8B-B14F-4D97-AF65-F5344CB8AC3E}">
        <p14:creationId xmlns:p14="http://schemas.microsoft.com/office/powerpoint/2010/main" val="31071416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Shot covering on all the strike prices</a:t>
            </a:r>
            <a:endParaRPr lang="en-IN" dirty="0"/>
          </a:p>
        </p:txBody>
      </p:sp>
      <p:sp>
        <p:nvSpPr>
          <p:cNvPr id="4" name="Slide Number Placeholder 3"/>
          <p:cNvSpPr>
            <a:spLocks noGrp="1"/>
          </p:cNvSpPr>
          <p:nvPr>
            <p:ph type="sldNum" sz="quarter" idx="5"/>
          </p:nvPr>
        </p:nvSpPr>
        <p:spPr/>
        <p:txBody>
          <a:bodyPr/>
          <a:lstStyle/>
          <a:p>
            <a:fld id="{15E6D869-3F49-45EE-8D03-CCCEA462AE8D}" type="slidenum">
              <a:rPr lang="en-IN" smtClean="0"/>
              <a:t>19</a:t>
            </a:fld>
            <a:endParaRPr lang="en-IN"/>
          </a:p>
        </p:txBody>
      </p:sp>
    </p:spTree>
    <p:extLst>
      <p:ext uri="{BB962C8B-B14F-4D97-AF65-F5344CB8AC3E}">
        <p14:creationId xmlns:p14="http://schemas.microsoft.com/office/powerpoint/2010/main" val="21670410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covering on all the strike prices</a:t>
            </a:r>
            <a:endParaRPr lang="en-IN" dirty="0"/>
          </a:p>
        </p:txBody>
      </p:sp>
      <p:sp>
        <p:nvSpPr>
          <p:cNvPr id="4" name="Slide Number Placeholder 3"/>
          <p:cNvSpPr>
            <a:spLocks noGrp="1"/>
          </p:cNvSpPr>
          <p:nvPr>
            <p:ph type="sldNum" sz="quarter" idx="5"/>
          </p:nvPr>
        </p:nvSpPr>
        <p:spPr/>
        <p:txBody>
          <a:bodyPr/>
          <a:lstStyle/>
          <a:p>
            <a:fld id="{15E6D869-3F49-45EE-8D03-CCCEA462AE8D}" type="slidenum">
              <a:rPr lang="en-IN" smtClean="0"/>
              <a:t>20</a:t>
            </a:fld>
            <a:endParaRPr lang="en-IN"/>
          </a:p>
        </p:txBody>
      </p:sp>
    </p:spTree>
    <p:extLst>
      <p:ext uri="{BB962C8B-B14F-4D97-AF65-F5344CB8AC3E}">
        <p14:creationId xmlns:p14="http://schemas.microsoft.com/office/powerpoint/2010/main" val="37472827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Shot covering on the 18700 and the 18800 strike price indicating bullish view </a:t>
            </a:r>
          </a:p>
          <a:p>
            <a:pPr marL="171450" indent="-171450">
              <a:buFont typeface="Arial" panose="020B0604020202020204" pitchFamily="34" charset="0"/>
              <a:buChar char="•"/>
            </a:pPr>
            <a:r>
              <a:rPr lang="en-US" dirty="0"/>
              <a:t>Long build up on the 18900 strike price</a:t>
            </a:r>
            <a:endParaRPr lang="en-IN" dirty="0"/>
          </a:p>
        </p:txBody>
      </p:sp>
      <p:sp>
        <p:nvSpPr>
          <p:cNvPr id="4" name="Slide Number Placeholder 3"/>
          <p:cNvSpPr>
            <a:spLocks noGrp="1"/>
          </p:cNvSpPr>
          <p:nvPr>
            <p:ph type="sldNum" sz="quarter" idx="5"/>
          </p:nvPr>
        </p:nvSpPr>
        <p:spPr/>
        <p:txBody>
          <a:bodyPr/>
          <a:lstStyle/>
          <a:p>
            <a:fld id="{15E6D869-3F49-45EE-8D03-CCCEA462AE8D}" type="slidenum">
              <a:rPr lang="en-IN" smtClean="0"/>
              <a:t>38</a:t>
            </a:fld>
            <a:endParaRPr lang="en-IN"/>
          </a:p>
        </p:txBody>
      </p:sp>
    </p:spTree>
    <p:extLst>
      <p:ext uri="{BB962C8B-B14F-4D97-AF65-F5344CB8AC3E}">
        <p14:creationId xmlns:p14="http://schemas.microsoft.com/office/powerpoint/2010/main" val="2220636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covering on all the strike price indicating bullish view</a:t>
            </a:r>
            <a:endParaRPr lang="en-IN" dirty="0"/>
          </a:p>
        </p:txBody>
      </p:sp>
      <p:sp>
        <p:nvSpPr>
          <p:cNvPr id="4" name="Slide Number Placeholder 3"/>
          <p:cNvSpPr>
            <a:spLocks noGrp="1"/>
          </p:cNvSpPr>
          <p:nvPr>
            <p:ph type="sldNum" sz="quarter" idx="5"/>
          </p:nvPr>
        </p:nvSpPr>
        <p:spPr/>
        <p:txBody>
          <a:bodyPr/>
          <a:lstStyle/>
          <a:p>
            <a:fld id="{15E6D869-3F49-45EE-8D03-CCCEA462AE8D}" type="slidenum">
              <a:rPr lang="en-IN" smtClean="0"/>
              <a:t>39</a:t>
            </a:fld>
            <a:endParaRPr lang="en-IN"/>
          </a:p>
        </p:txBody>
      </p:sp>
    </p:spTree>
    <p:extLst>
      <p:ext uri="{BB962C8B-B14F-4D97-AF65-F5344CB8AC3E}">
        <p14:creationId xmlns:p14="http://schemas.microsoft.com/office/powerpoint/2010/main" val="3213438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12C40-A058-0292-71EF-087AEB325E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C2BFEF5-D99D-80F9-D07F-D15820FCC9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015055-014D-7957-5EA1-F24A0F2F0FE7}"/>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5" name="Footer Placeholder 4">
            <a:extLst>
              <a:ext uri="{FF2B5EF4-FFF2-40B4-BE49-F238E27FC236}">
                <a16:creationId xmlns:a16="http://schemas.microsoft.com/office/drawing/2014/main" id="{06E81223-E704-23B1-509C-E65B50590C4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3BD6991-20E8-6C52-9790-F8EA62458203}"/>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2624800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BD150-A382-8365-018B-69230BAA5AA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BE813D3-5217-060E-4603-5B1C093CC8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86CE5C3-4075-C525-3EE0-BBCC585AB49B}"/>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5" name="Footer Placeholder 4">
            <a:extLst>
              <a:ext uri="{FF2B5EF4-FFF2-40B4-BE49-F238E27FC236}">
                <a16:creationId xmlns:a16="http://schemas.microsoft.com/office/drawing/2014/main" id="{16F807F6-7670-8B34-3AAB-0940DE1319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1F7891-144D-54D0-7B32-0F4EDE32EC59}"/>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17014710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73F75-05B9-EDFE-0D06-32D5957502A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1DA7804-E941-33C9-F3C5-F6F34E133D3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006E3D-A118-ED5F-A7A3-09E2E1D0BBAD}"/>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5" name="Footer Placeholder 4">
            <a:extLst>
              <a:ext uri="{FF2B5EF4-FFF2-40B4-BE49-F238E27FC236}">
                <a16:creationId xmlns:a16="http://schemas.microsoft.com/office/drawing/2014/main" id="{1421491F-AC0D-ECB9-4E96-D070BEC13AF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3184ADC-F7B1-EA8E-5417-94CB244650E3}"/>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1099578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50EFF-8FF0-AEF3-CD84-83D480EE7F9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6D58353-36BA-E8E0-5A4D-9AC2C0D1A59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A2038F7-3272-5980-4651-5F0F8054107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62108A5-0571-6247-365C-99A9A37BE4AC}"/>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6" name="Footer Placeholder 5">
            <a:extLst>
              <a:ext uri="{FF2B5EF4-FFF2-40B4-BE49-F238E27FC236}">
                <a16:creationId xmlns:a16="http://schemas.microsoft.com/office/drawing/2014/main" id="{243A631B-6CBD-2CA3-91F2-4F26C438136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B0B1146-8E56-45BF-44A2-3361C0C70340}"/>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15758187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88CAD-FE35-94B5-233C-755DEF90E90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755E06B-16B9-C95C-394D-89E57BC9F8D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B6E9FD-87A0-44B7-B209-74F3E9BB60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70AB0F7-75A7-CCF7-6FFD-38D8BCC6CB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8CB936-B381-5FB2-6F1F-A42E5C8931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B873197-0617-3453-EC9C-1A57A2F35427}"/>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8" name="Footer Placeholder 7">
            <a:extLst>
              <a:ext uri="{FF2B5EF4-FFF2-40B4-BE49-F238E27FC236}">
                <a16:creationId xmlns:a16="http://schemas.microsoft.com/office/drawing/2014/main" id="{A1D40953-6FAE-B67A-83FA-F56AAF3193AC}"/>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DE0D1DD-5F58-6439-E9B7-3DD2DEB5F0C3}"/>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38708053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E80AB-DC5A-2517-466A-2A552351AF4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81E7DBF-C1DC-E56E-1D13-1B95766042F8}"/>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4" name="Footer Placeholder 3">
            <a:extLst>
              <a:ext uri="{FF2B5EF4-FFF2-40B4-BE49-F238E27FC236}">
                <a16:creationId xmlns:a16="http://schemas.microsoft.com/office/drawing/2014/main" id="{0F0C57F8-9D64-1FEF-2A6B-B3255E35AF1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F2692F2-D2D4-6CA3-D2D2-2B612A0F1379}"/>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3476870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2B61C5-D72D-5496-AFDC-F62E7A0C8167}"/>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3" name="Footer Placeholder 2">
            <a:extLst>
              <a:ext uri="{FF2B5EF4-FFF2-40B4-BE49-F238E27FC236}">
                <a16:creationId xmlns:a16="http://schemas.microsoft.com/office/drawing/2014/main" id="{18A82A5D-CD0E-F00F-97CD-3F69E91D40C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030A5D2-AAF5-7C17-4C9C-AB33C1992E3C}"/>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7681913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8BE59-CB2C-9B8A-EDEE-8AE0EFD384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274680A5-303C-76BF-F515-26F756CD7E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6A9A87A-AE76-75C7-A7DE-8488C9C6F7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9AB705-3724-59CF-5414-BA9D394EF07A}"/>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6" name="Footer Placeholder 5">
            <a:extLst>
              <a:ext uri="{FF2B5EF4-FFF2-40B4-BE49-F238E27FC236}">
                <a16:creationId xmlns:a16="http://schemas.microsoft.com/office/drawing/2014/main" id="{2973D535-A917-081E-3EA7-EC07163848D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74BB170-1E63-651B-11AF-2C3097609FF1}"/>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8098547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9762E-5ABE-3ABB-C010-99043DA7D5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DF77366-28D9-7114-3F91-1605A9A42C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ABA78136-95D6-042E-3247-DFE4311E00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71B804-633F-0F61-487B-1F05F872B48D}"/>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6" name="Footer Placeholder 5">
            <a:extLst>
              <a:ext uri="{FF2B5EF4-FFF2-40B4-BE49-F238E27FC236}">
                <a16:creationId xmlns:a16="http://schemas.microsoft.com/office/drawing/2014/main" id="{8B14A8D6-BD08-2F78-D62A-EB19CC0CD69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734FA61-D8EE-F82B-7A90-2FBE13FC8AF8}"/>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22638044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B98E5-59C2-09FD-B3BC-D15549FAF551}"/>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56A7944-8674-1240-D6C0-B44711D3B71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3940B38-FB29-FA00-9AB8-1BC6534301F1}"/>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5" name="Footer Placeholder 4">
            <a:extLst>
              <a:ext uri="{FF2B5EF4-FFF2-40B4-BE49-F238E27FC236}">
                <a16:creationId xmlns:a16="http://schemas.microsoft.com/office/drawing/2014/main" id="{9104C173-511A-3727-FDB1-537CA4B8D0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4A4F415-4D62-86F7-A961-DC64456C297E}"/>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3124920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116B30-7DC5-9BA1-9C81-8EC8F08F5A8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1B0525E-83AF-8BFC-E1A5-88B621CA5AD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E795315-AC3C-F7D6-F452-FFAAFE73233A}"/>
              </a:ext>
            </a:extLst>
          </p:cNvPr>
          <p:cNvSpPr>
            <a:spLocks noGrp="1"/>
          </p:cNvSpPr>
          <p:nvPr>
            <p:ph type="dt" sz="half" idx="10"/>
          </p:nvPr>
        </p:nvSpPr>
        <p:spPr/>
        <p:txBody>
          <a:bodyPr/>
          <a:lstStyle/>
          <a:p>
            <a:fld id="{E3A55A57-BE11-4E7E-93CB-E03973AA826D}" type="datetimeFigureOut">
              <a:rPr lang="en-IN" smtClean="0"/>
              <a:t>13-06-2023</a:t>
            </a:fld>
            <a:endParaRPr lang="en-IN"/>
          </a:p>
        </p:txBody>
      </p:sp>
      <p:sp>
        <p:nvSpPr>
          <p:cNvPr id="5" name="Footer Placeholder 4">
            <a:extLst>
              <a:ext uri="{FF2B5EF4-FFF2-40B4-BE49-F238E27FC236}">
                <a16:creationId xmlns:a16="http://schemas.microsoft.com/office/drawing/2014/main" id="{A99252D7-543D-E300-8611-7AD82DFB1C1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EEE0055-FCA6-029C-B391-0EA19735CCA7}"/>
              </a:ext>
            </a:extLst>
          </p:cNvPr>
          <p:cNvSpPr>
            <a:spLocks noGrp="1"/>
          </p:cNvSpPr>
          <p:nvPr>
            <p:ph type="sldNum" sz="quarter" idx="12"/>
          </p:nvPr>
        </p:nvSpPr>
        <p:spPr/>
        <p:txBody>
          <a:bodyPr/>
          <a:lstStyle/>
          <a:p>
            <a:fld id="{C175C5F1-1D84-4DD3-B218-8CF7C2935FC4}" type="slidenum">
              <a:rPr lang="en-IN" smtClean="0"/>
              <a:t>‹#›</a:t>
            </a:fld>
            <a:endParaRPr lang="en-IN"/>
          </a:p>
        </p:txBody>
      </p:sp>
    </p:spTree>
    <p:extLst>
      <p:ext uri="{BB962C8B-B14F-4D97-AF65-F5344CB8AC3E}">
        <p14:creationId xmlns:p14="http://schemas.microsoft.com/office/powerpoint/2010/main" val="37894606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4E3DBF-4579-CF55-F1A7-3F8FC221D9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53B766B-5FBA-0981-D76A-8DA65AB778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99F195A-95F8-3706-0497-A5FA2A5E939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A55A57-BE11-4E7E-93CB-E03973AA826D}" type="datetimeFigureOut">
              <a:rPr lang="en-IN" smtClean="0"/>
              <a:t>13-06-2023</a:t>
            </a:fld>
            <a:endParaRPr lang="en-IN"/>
          </a:p>
        </p:txBody>
      </p:sp>
      <p:sp>
        <p:nvSpPr>
          <p:cNvPr id="5" name="Footer Placeholder 4">
            <a:extLst>
              <a:ext uri="{FF2B5EF4-FFF2-40B4-BE49-F238E27FC236}">
                <a16:creationId xmlns:a16="http://schemas.microsoft.com/office/drawing/2014/main" id="{512DCCE5-D1AC-6840-A7BC-832123D599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6CF00C44-E16E-002B-C84B-35ADD322A7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75C5F1-1D84-4DD3-B218-8CF7C2935FC4}" type="slidenum">
              <a:rPr lang="en-IN" smtClean="0"/>
              <a:t>‹#›</a:t>
            </a:fld>
            <a:endParaRPr lang="en-IN"/>
          </a:p>
        </p:txBody>
      </p:sp>
    </p:spTree>
    <p:extLst>
      <p:ext uri="{BB962C8B-B14F-4D97-AF65-F5344CB8AC3E}">
        <p14:creationId xmlns:p14="http://schemas.microsoft.com/office/powerpoint/2010/main" val="39830349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5C483-8F0C-B110-76DB-B95BD84AFBE0}"/>
              </a:ext>
            </a:extLst>
          </p:cNvPr>
          <p:cNvSpPr>
            <a:spLocks noGrp="1"/>
          </p:cNvSpPr>
          <p:nvPr>
            <p:ph type="ctrTitle"/>
          </p:nvPr>
        </p:nvSpPr>
        <p:spPr/>
        <p:txBody>
          <a:bodyPr/>
          <a:lstStyle/>
          <a:p>
            <a:endParaRPr lang="en-IN"/>
          </a:p>
        </p:txBody>
      </p:sp>
      <p:sp>
        <p:nvSpPr>
          <p:cNvPr id="3" name="Subtitle 2">
            <a:extLst>
              <a:ext uri="{FF2B5EF4-FFF2-40B4-BE49-F238E27FC236}">
                <a16:creationId xmlns:a16="http://schemas.microsoft.com/office/drawing/2014/main" id="{8D42AE93-14F1-F05F-17C7-68E42E006A84}"/>
              </a:ext>
            </a:extLst>
          </p:cNvPr>
          <p:cNvSpPr>
            <a:spLocks noGrp="1"/>
          </p:cNvSpPr>
          <p:nvPr>
            <p:ph type="subTitle" idx="1"/>
          </p:nvPr>
        </p:nvSpPr>
        <p:spPr/>
        <p:txBody>
          <a:bodyPr/>
          <a:lstStyle/>
          <a:p>
            <a:endParaRPr lang="en-IN"/>
          </a:p>
        </p:txBody>
      </p:sp>
    </p:spTree>
    <p:extLst>
      <p:ext uri="{BB962C8B-B14F-4D97-AF65-F5344CB8AC3E}">
        <p14:creationId xmlns:p14="http://schemas.microsoft.com/office/powerpoint/2010/main" val="36089687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72236-4238-8650-6A58-49465C4572CC}"/>
              </a:ext>
            </a:extLst>
          </p:cNvPr>
          <p:cNvSpPr>
            <a:spLocks noGrp="1"/>
          </p:cNvSpPr>
          <p:nvPr>
            <p:ph type="title"/>
          </p:nvPr>
        </p:nvSpPr>
        <p:spPr>
          <a:xfrm>
            <a:off x="838200" y="365126"/>
            <a:ext cx="10515600" cy="669348"/>
          </a:xfrm>
        </p:spPr>
        <p:txBody>
          <a:bodyPr>
            <a:normAutofit fontScale="90000"/>
          </a:bodyPr>
          <a:lstStyle/>
          <a:p>
            <a:r>
              <a:rPr lang="en-US" dirty="0"/>
              <a:t>23-05-2023</a:t>
            </a:r>
            <a:endParaRPr lang="en-IN" dirty="0"/>
          </a:p>
        </p:txBody>
      </p:sp>
      <p:graphicFrame>
        <p:nvGraphicFramePr>
          <p:cNvPr id="3" name="Table 2">
            <a:extLst>
              <a:ext uri="{FF2B5EF4-FFF2-40B4-BE49-F238E27FC236}">
                <a16:creationId xmlns:a16="http://schemas.microsoft.com/office/drawing/2014/main" id="{8732F15E-D2E1-1E8B-AA50-8805BA185A18}"/>
              </a:ext>
            </a:extLst>
          </p:cNvPr>
          <p:cNvGraphicFramePr>
            <a:graphicFrameLocks noGrp="1"/>
          </p:cNvGraphicFramePr>
          <p:nvPr>
            <p:extLst>
              <p:ext uri="{D42A27DB-BD31-4B8C-83A1-F6EECF244321}">
                <p14:modId xmlns:p14="http://schemas.microsoft.com/office/powerpoint/2010/main" val="1159608998"/>
              </p:ext>
            </p:extLst>
          </p:nvPr>
        </p:nvGraphicFramePr>
        <p:xfrm>
          <a:off x="1123252" y="1324772"/>
          <a:ext cx="7266952" cy="4669554"/>
        </p:xfrm>
        <a:graphic>
          <a:graphicData uri="http://schemas.openxmlformats.org/drawingml/2006/table">
            <a:tbl>
              <a:tblPr/>
              <a:tblGrid>
                <a:gridCol w="705629">
                  <a:extLst>
                    <a:ext uri="{9D8B030D-6E8A-4147-A177-3AD203B41FA5}">
                      <a16:colId xmlns:a16="http://schemas.microsoft.com/office/drawing/2014/main" val="1410570794"/>
                    </a:ext>
                  </a:extLst>
                </a:gridCol>
                <a:gridCol w="800663">
                  <a:extLst>
                    <a:ext uri="{9D8B030D-6E8A-4147-A177-3AD203B41FA5}">
                      <a16:colId xmlns:a16="http://schemas.microsoft.com/office/drawing/2014/main" val="2655600046"/>
                    </a:ext>
                  </a:extLst>
                </a:gridCol>
                <a:gridCol w="800663">
                  <a:extLst>
                    <a:ext uri="{9D8B030D-6E8A-4147-A177-3AD203B41FA5}">
                      <a16:colId xmlns:a16="http://schemas.microsoft.com/office/drawing/2014/main" val="3202059797"/>
                    </a:ext>
                  </a:extLst>
                </a:gridCol>
                <a:gridCol w="808583">
                  <a:extLst>
                    <a:ext uri="{9D8B030D-6E8A-4147-A177-3AD203B41FA5}">
                      <a16:colId xmlns:a16="http://schemas.microsoft.com/office/drawing/2014/main" val="2280740478"/>
                    </a:ext>
                  </a:extLst>
                </a:gridCol>
                <a:gridCol w="808583">
                  <a:extLst>
                    <a:ext uri="{9D8B030D-6E8A-4147-A177-3AD203B41FA5}">
                      <a16:colId xmlns:a16="http://schemas.microsoft.com/office/drawing/2014/main" val="2124478064"/>
                    </a:ext>
                  </a:extLst>
                </a:gridCol>
                <a:gridCol w="787993">
                  <a:extLst>
                    <a:ext uri="{9D8B030D-6E8A-4147-A177-3AD203B41FA5}">
                      <a16:colId xmlns:a16="http://schemas.microsoft.com/office/drawing/2014/main" val="1711536092"/>
                    </a:ext>
                  </a:extLst>
                </a:gridCol>
                <a:gridCol w="939255">
                  <a:extLst>
                    <a:ext uri="{9D8B030D-6E8A-4147-A177-3AD203B41FA5}">
                      <a16:colId xmlns:a16="http://schemas.microsoft.com/office/drawing/2014/main" val="3195259165"/>
                    </a:ext>
                  </a:extLst>
                </a:gridCol>
                <a:gridCol w="871148">
                  <a:extLst>
                    <a:ext uri="{9D8B030D-6E8A-4147-A177-3AD203B41FA5}">
                      <a16:colId xmlns:a16="http://schemas.microsoft.com/office/drawing/2014/main" val="598209724"/>
                    </a:ext>
                  </a:extLst>
                </a:gridCol>
                <a:gridCol w="744435">
                  <a:extLst>
                    <a:ext uri="{9D8B030D-6E8A-4147-A177-3AD203B41FA5}">
                      <a16:colId xmlns:a16="http://schemas.microsoft.com/office/drawing/2014/main" val="870639905"/>
                    </a:ext>
                  </a:extLst>
                </a:gridCol>
              </a:tblGrid>
              <a:tr h="189189">
                <a:tc>
                  <a:txBody>
                    <a:bodyPr/>
                    <a:lstStyle/>
                    <a:p>
                      <a:pPr marL="0" marR="0" fontAlgn="t">
                        <a:spcBef>
                          <a:spcPts val="0"/>
                        </a:spcBef>
                        <a:spcAft>
                          <a:spcPts val="0"/>
                        </a:spcAft>
                      </a:pPr>
                      <a:r>
                        <a:rPr lang="en-US" sz="1000">
                          <a:solidFill>
                            <a:srgbClr val="FF0000"/>
                          </a:solidFill>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03:16:05 PM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03:16:05 PM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09:37:25 AM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09:37:25 AM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solidFill>
                            <a:srgbClr val="FF0000"/>
                          </a:solidFill>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solidFill>
                            <a:srgbClr val="FF0000"/>
                          </a:solidFill>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3854922390"/>
                  </a:ext>
                </a:extLst>
              </a:tr>
              <a:tr h="189189">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strikePrice</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CE_OI</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CE_LTP</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CE_OI</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CE_LTP</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Change in OI</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Change in LTP</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997391851"/>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18150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17909</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225.35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21181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262.2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-3272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-36.85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Long Covering</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976505498"/>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18200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70275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179.95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102250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215.45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-31975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-35.5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Long Covering</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826446850"/>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18250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27438</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137.05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39782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172.95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-12344</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-35.9</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Long Covering</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396325563"/>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18300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141947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97.6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144895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131.85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-2948</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-34.25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Long Covering</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349181742"/>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18350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75706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65.25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73193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95.7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2513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-30.45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Shot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4087447589"/>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18400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232641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40.05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179357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64.55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53284</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-24.5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Shot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4126784100"/>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18450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121941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22.1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103644</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41.05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18297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-18.95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Shot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4201122477"/>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18500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211805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11.1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197881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23.9</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13924</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-12.8</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Shot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2010699384"/>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18550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128200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5.15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97534</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12.45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30666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-7.3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Shot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2456792225"/>
                  </a:ext>
                </a:extLst>
              </a:tr>
              <a:tr h="189189">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Bearish View</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2797656322"/>
                  </a:ext>
                </a:extLst>
              </a:tr>
              <a:tr h="189189">
                <a:tc>
                  <a:txBody>
                    <a:bodyPr/>
                    <a:lstStyle/>
                    <a:p>
                      <a:pPr marL="0" marR="0" fontAlgn="t">
                        <a:spcBef>
                          <a:spcPts val="0"/>
                        </a:spcBef>
                        <a:spcAft>
                          <a:spcPts val="0"/>
                        </a:spcAft>
                      </a:pPr>
                      <a:r>
                        <a:rPr lang="en-US" sz="1000">
                          <a:solidFill>
                            <a:srgbClr val="FF0000"/>
                          </a:solidFill>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03:16:05 PM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03:16:05 PM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09:37:25 AM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b="1">
                          <a:solidFill>
                            <a:srgbClr val="FF0000"/>
                          </a:solidFill>
                          <a:effectLst/>
                          <a:latin typeface="Calibri" panose="020F0502020204030204" pitchFamily="34" charset="0"/>
                        </a:rPr>
                        <a:t>09:37:25 AM</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solidFill>
                            <a:srgbClr val="FF0000"/>
                          </a:solidFill>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solidFill>
                            <a:srgbClr val="FF0000"/>
                          </a:solidFill>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4165134900"/>
                  </a:ext>
                </a:extLst>
              </a:tr>
              <a:tr h="189189">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strikePrice</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PE_OI</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PE_LTP</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PE_OI</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PE_LTP</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Change in OI</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ctr" fontAlgn="t">
                        <a:spcBef>
                          <a:spcPts val="0"/>
                        </a:spcBef>
                        <a:spcAft>
                          <a:spcPts val="0"/>
                        </a:spcAft>
                      </a:pPr>
                      <a:r>
                        <a:rPr lang="en-IN" sz="1000" b="1">
                          <a:solidFill>
                            <a:srgbClr val="FF0000"/>
                          </a:solidFill>
                          <a:effectLst/>
                          <a:latin typeface="Calibri" panose="020F0502020204030204" pitchFamily="34" charset="0"/>
                        </a:rPr>
                        <a:t>Change in LTP</a:t>
                      </a:r>
                      <a:endParaRPr lang="en-IN" sz="1000">
                        <a:solidFill>
                          <a:srgbClr val="FF0000"/>
                        </a:solidFill>
                        <a:effectLst/>
                        <a:latin typeface="Calibri" panose="020F0502020204030204" pitchFamily="34" charset="0"/>
                      </a:endParaRP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736632923"/>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18150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111010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8.9</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76977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11.6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34033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Shot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384283507"/>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18200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231749</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13.3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250558</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15.55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-18809</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-2.25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Long Covering</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456111968"/>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18250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88316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20.2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95102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21.5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-6786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Long Covering</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3421413812"/>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18300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234142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31.3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208722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30.3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25420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a:solidFill>
                            <a:srgbClr val="000000"/>
                          </a:solidFill>
                          <a:effectLst/>
                          <a:latin typeface="Calibri" panose="020F0502020204030204" pitchFamily="34" charset="0"/>
                        </a:rPr>
                        <a:t>Long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367321527"/>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18350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96266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48.9</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73553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44.2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22713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Long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2576764198"/>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18400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139566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73.65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94342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63.6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45224</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10.05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Long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917763567"/>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18450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24471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105.8</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20078</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89.7</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4393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16.1</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Long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445792894"/>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18500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45743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144.85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42010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122.85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3733</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Long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918959509"/>
                  </a:ext>
                </a:extLst>
              </a:tr>
              <a:tr h="189189">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18550</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6296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188.85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3402</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161.6</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2894</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algn="r" fontAlgn="t">
                        <a:spcBef>
                          <a:spcPts val="0"/>
                        </a:spcBef>
                        <a:spcAft>
                          <a:spcPts val="0"/>
                        </a:spcAft>
                      </a:pPr>
                      <a:r>
                        <a:rPr lang="en-IN" sz="1000">
                          <a:solidFill>
                            <a:srgbClr val="000000"/>
                          </a:solidFill>
                          <a:effectLst/>
                          <a:latin typeface="Calibri" panose="020F0502020204030204" pitchFamily="34" charset="0"/>
                        </a:rPr>
                        <a:t>27.25</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IN" sz="1000" dirty="0">
                          <a:solidFill>
                            <a:srgbClr val="000000"/>
                          </a:solidFill>
                          <a:effectLst/>
                          <a:latin typeface="Calibri" panose="020F0502020204030204" pitchFamily="34" charset="0"/>
                        </a:rPr>
                        <a:t>Long Build Up</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tc>
                  <a:txBody>
                    <a:bodyPr/>
                    <a:lstStyle/>
                    <a:p>
                      <a:pPr marL="0" marR="0" fontAlgn="t">
                        <a:spcBef>
                          <a:spcPts val="0"/>
                        </a:spcBef>
                        <a:spcAft>
                          <a:spcPts val="0"/>
                        </a:spcAft>
                      </a:pPr>
                      <a:r>
                        <a:rPr lang="en-US" sz="1000" dirty="0">
                          <a:effectLst/>
                          <a:latin typeface="Calibri" panose="020F0502020204030204" pitchFamily="34" charset="0"/>
                        </a:rPr>
                        <a:t> </a:t>
                      </a:r>
                    </a:p>
                  </a:txBody>
                  <a:tcPr marL="32998" marR="32998" marT="21999" marB="21999">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tcPr>
                </a:tc>
                <a:extLst>
                  <a:ext uri="{0D108BD9-81ED-4DB2-BD59-A6C34878D82A}">
                    <a16:rowId xmlns:a16="http://schemas.microsoft.com/office/drawing/2014/main" val="1166828811"/>
                  </a:ext>
                </a:extLst>
              </a:tr>
            </a:tbl>
          </a:graphicData>
        </a:graphic>
      </p:graphicFrame>
    </p:spTree>
    <p:extLst>
      <p:ext uri="{BB962C8B-B14F-4D97-AF65-F5344CB8AC3E}">
        <p14:creationId xmlns:p14="http://schemas.microsoft.com/office/powerpoint/2010/main" val="23981829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72236-4238-8650-6A58-49465C4572CC}"/>
              </a:ext>
            </a:extLst>
          </p:cNvPr>
          <p:cNvSpPr>
            <a:spLocks noGrp="1"/>
          </p:cNvSpPr>
          <p:nvPr>
            <p:ph type="title"/>
          </p:nvPr>
        </p:nvSpPr>
        <p:spPr>
          <a:xfrm>
            <a:off x="838200" y="365126"/>
            <a:ext cx="10515600" cy="669348"/>
          </a:xfrm>
        </p:spPr>
        <p:txBody>
          <a:bodyPr>
            <a:normAutofit fontScale="90000"/>
          </a:bodyPr>
          <a:lstStyle/>
          <a:p>
            <a:r>
              <a:rPr lang="en-US" dirty="0"/>
              <a:t>23-05-2023</a:t>
            </a:r>
            <a:endParaRPr lang="en-IN" dirty="0"/>
          </a:p>
        </p:txBody>
      </p:sp>
      <p:pic>
        <p:nvPicPr>
          <p:cNvPr id="4" name="Picture 3">
            <a:extLst>
              <a:ext uri="{FF2B5EF4-FFF2-40B4-BE49-F238E27FC236}">
                <a16:creationId xmlns:a16="http://schemas.microsoft.com/office/drawing/2014/main" id="{7238773E-8600-B54B-4EF5-8ABA9A4302E8}"/>
              </a:ext>
            </a:extLst>
          </p:cNvPr>
          <p:cNvPicPr>
            <a:picLocks noChangeAspect="1"/>
          </p:cNvPicPr>
          <p:nvPr/>
        </p:nvPicPr>
        <p:blipFill>
          <a:blip r:embed="rId2"/>
          <a:stretch>
            <a:fillRect/>
          </a:stretch>
        </p:blipFill>
        <p:spPr>
          <a:xfrm>
            <a:off x="540326" y="1034474"/>
            <a:ext cx="10067637" cy="5300253"/>
          </a:xfrm>
          <a:prstGeom prst="rect">
            <a:avLst/>
          </a:prstGeom>
        </p:spPr>
      </p:pic>
    </p:spTree>
    <p:extLst>
      <p:ext uri="{BB962C8B-B14F-4D97-AF65-F5344CB8AC3E}">
        <p14:creationId xmlns:p14="http://schemas.microsoft.com/office/powerpoint/2010/main" val="2584317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72236-4238-8650-6A58-49465C4572CC}"/>
              </a:ext>
            </a:extLst>
          </p:cNvPr>
          <p:cNvSpPr>
            <a:spLocks noGrp="1"/>
          </p:cNvSpPr>
          <p:nvPr>
            <p:ph type="title"/>
          </p:nvPr>
        </p:nvSpPr>
        <p:spPr>
          <a:xfrm>
            <a:off x="838200" y="365126"/>
            <a:ext cx="10515600" cy="669348"/>
          </a:xfrm>
        </p:spPr>
        <p:txBody>
          <a:bodyPr>
            <a:normAutofit fontScale="90000"/>
          </a:bodyPr>
          <a:lstStyle/>
          <a:p>
            <a:r>
              <a:rPr lang="en-US" dirty="0"/>
              <a:t>23-05-2023</a:t>
            </a:r>
            <a:endParaRPr lang="en-IN" dirty="0"/>
          </a:p>
        </p:txBody>
      </p:sp>
      <p:pic>
        <p:nvPicPr>
          <p:cNvPr id="5121" name="Picture 1" descr="Figure 3 &#10;Premium on Put side VS strike price &#10;PM &#10;73.65 &#10;PM &#10;ata &#10;num &#10;Figure 2 &#10;250000 &#10;200000 &#10;c 150000 &#10;100000 &#10;50000 &#10;+IQI &#10;Maximum 01 on the Put side VS strike price &#10;267426 &#10;244183 &#10;34142 &#10;31749 &#10;159328 &#10;15674 &#10;Strike Price &#10;PM &#10;PM &#10;70 &#10;60 &#10;50 &#10;C 40 &#10;a- 30 &#10;20 &#10;13.3 &#10;10.2 &#10;10 &#10;6.75 &#10;5.8 &#10;+IQI &#10;55.6 &#10;203864 &#10;39566 &#10;31.3 &#10;23.6 &#10;Strike Price ">
            <a:extLst>
              <a:ext uri="{FF2B5EF4-FFF2-40B4-BE49-F238E27FC236}">
                <a16:creationId xmlns:a16="http://schemas.microsoft.com/office/drawing/2014/main" id="{D5C10D0F-C332-BE87-7AFB-00179D7390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3375" y="1175499"/>
            <a:ext cx="11525250" cy="54824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728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4936E-4847-6C58-3293-7BCF0E431EAB}"/>
              </a:ext>
            </a:extLst>
          </p:cNvPr>
          <p:cNvSpPr>
            <a:spLocks noGrp="1"/>
          </p:cNvSpPr>
          <p:nvPr>
            <p:ph type="title"/>
          </p:nvPr>
        </p:nvSpPr>
        <p:spPr>
          <a:xfrm>
            <a:off x="838200" y="365126"/>
            <a:ext cx="10515600" cy="687820"/>
          </a:xfrm>
        </p:spPr>
        <p:txBody>
          <a:bodyPr>
            <a:normAutofit fontScale="90000"/>
          </a:bodyPr>
          <a:lstStyle/>
          <a:p>
            <a:r>
              <a:rPr lang="en-US" dirty="0"/>
              <a:t>Conclusion</a:t>
            </a:r>
            <a:endParaRPr lang="en-IN" dirty="0"/>
          </a:p>
        </p:txBody>
      </p:sp>
    </p:spTree>
    <p:extLst>
      <p:ext uri="{BB962C8B-B14F-4D97-AF65-F5344CB8AC3E}">
        <p14:creationId xmlns:p14="http://schemas.microsoft.com/office/powerpoint/2010/main" val="28625481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30488D26-C640-F74C-23D2-4E06849EDD83}"/>
              </a:ext>
            </a:extLst>
          </p:cNvPr>
          <p:cNvGraphicFramePr>
            <a:graphicFrameLocks noGrp="1"/>
          </p:cNvGraphicFramePr>
          <p:nvPr>
            <p:extLst>
              <p:ext uri="{D42A27DB-BD31-4B8C-83A1-F6EECF244321}">
                <p14:modId xmlns:p14="http://schemas.microsoft.com/office/powerpoint/2010/main" val="270831746"/>
              </p:ext>
            </p:extLst>
          </p:nvPr>
        </p:nvGraphicFramePr>
        <p:xfrm>
          <a:off x="879232" y="1254125"/>
          <a:ext cx="10374924" cy="5067539"/>
        </p:xfrm>
        <a:graphic>
          <a:graphicData uri="http://schemas.openxmlformats.org/drawingml/2006/table">
            <a:tbl>
              <a:tblPr>
                <a:tableStyleId>{5C22544A-7EE6-4342-B048-85BDC9FD1C3A}</a:tableStyleId>
              </a:tblPr>
              <a:tblGrid>
                <a:gridCol w="857548">
                  <a:extLst>
                    <a:ext uri="{9D8B030D-6E8A-4147-A177-3AD203B41FA5}">
                      <a16:colId xmlns:a16="http://schemas.microsoft.com/office/drawing/2014/main" val="3747614864"/>
                    </a:ext>
                  </a:extLst>
                </a:gridCol>
                <a:gridCol w="857548">
                  <a:extLst>
                    <a:ext uri="{9D8B030D-6E8A-4147-A177-3AD203B41FA5}">
                      <a16:colId xmlns:a16="http://schemas.microsoft.com/office/drawing/2014/main" val="1807034855"/>
                    </a:ext>
                  </a:extLst>
                </a:gridCol>
                <a:gridCol w="1152769">
                  <a:extLst>
                    <a:ext uri="{9D8B030D-6E8A-4147-A177-3AD203B41FA5}">
                      <a16:colId xmlns:a16="http://schemas.microsoft.com/office/drawing/2014/main" val="1650737943"/>
                    </a:ext>
                  </a:extLst>
                </a:gridCol>
                <a:gridCol w="843490">
                  <a:extLst>
                    <a:ext uri="{9D8B030D-6E8A-4147-A177-3AD203B41FA5}">
                      <a16:colId xmlns:a16="http://schemas.microsoft.com/office/drawing/2014/main" val="3098863434"/>
                    </a:ext>
                  </a:extLst>
                </a:gridCol>
                <a:gridCol w="843490">
                  <a:extLst>
                    <a:ext uri="{9D8B030D-6E8A-4147-A177-3AD203B41FA5}">
                      <a16:colId xmlns:a16="http://schemas.microsoft.com/office/drawing/2014/main" val="1268883484"/>
                    </a:ext>
                  </a:extLst>
                </a:gridCol>
                <a:gridCol w="899723">
                  <a:extLst>
                    <a:ext uri="{9D8B030D-6E8A-4147-A177-3AD203B41FA5}">
                      <a16:colId xmlns:a16="http://schemas.microsoft.com/office/drawing/2014/main" val="3330075247"/>
                    </a:ext>
                  </a:extLst>
                </a:gridCol>
                <a:gridCol w="984071">
                  <a:extLst>
                    <a:ext uri="{9D8B030D-6E8A-4147-A177-3AD203B41FA5}">
                      <a16:colId xmlns:a16="http://schemas.microsoft.com/office/drawing/2014/main" val="158869974"/>
                    </a:ext>
                  </a:extLst>
                </a:gridCol>
                <a:gridCol w="970013">
                  <a:extLst>
                    <a:ext uri="{9D8B030D-6E8A-4147-A177-3AD203B41FA5}">
                      <a16:colId xmlns:a16="http://schemas.microsoft.com/office/drawing/2014/main" val="1531017541"/>
                    </a:ext>
                  </a:extLst>
                </a:gridCol>
                <a:gridCol w="2966272">
                  <a:extLst>
                    <a:ext uri="{9D8B030D-6E8A-4147-A177-3AD203B41FA5}">
                      <a16:colId xmlns:a16="http://schemas.microsoft.com/office/drawing/2014/main" val="1399463274"/>
                    </a:ext>
                  </a:extLst>
                </a:gridCol>
              </a:tblGrid>
              <a:tr h="163469">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09:23:43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09:23:43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03:32:33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03:32:33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972695812"/>
                  </a:ext>
                </a:extLst>
              </a:tr>
              <a:tr h="163469">
                <a:tc>
                  <a:txBody>
                    <a:bodyPr/>
                    <a:lstStyle/>
                    <a:p>
                      <a:pPr algn="ctr" fontAlgn="t"/>
                      <a:r>
                        <a:rPr lang="en-IN" sz="800" u="none" strike="noStrike">
                          <a:effectLst/>
                        </a:rPr>
                        <a:t>strikePrice</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Conclusion</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214304520"/>
                  </a:ext>
                </a:extLst>
              </a:tr>
              <a:tr h="163469">
                <a:tc>
                  <a:txBody>
                    <a:bodyPr/>
                    <a:lstStyle/>
                    <a:p>
                      <a:pPr algn="r" fontAlgn="b"/>
                      <a:r>
                        <a:rPr lang="en-IN" sz="800" u="none" strike="noStrike">
                          <a:effectLst/>
                        </a:rPr>
                        <a:t>18000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30605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290.75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25720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303.1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-4885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674110694"/>
                  </a:ext>
                </a:extLst>
              </a:tr>
              <a:tr h="163469">
                <a:tc>
                  <a:txBody>
                    <a:bodyPr/>
                    <a:lstStyle/>
                    <a:p>
                      <a:pPr algn="r" fontAlgn="b"/>
                      <a:r>
                        <a:rPr lang="en-IN" sz="800" u="none" strike="noStrike">
                          <a:effectLst/>
                        </a:rPr>
                        <a:t>18050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4841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244.2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3519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-1322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608808975"/>
                  </a:ext>
                </a:extLst>
              </a:tr>
              <a:tr h="163469">
                <a:tc>
                  <a:txBody>
                    <a:bodyPr/>
                    <a:lstStyle/>
                    <a:p>
                      <a:pPr algn="r" fontAlgn="b"/>
                      <a:r>
                        <a:rPr lang="en-IN" sz="800" u="none" strike="noStrike">
                          <a:effectLst/>
                        </a:rPr>
                        <a:t>18100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24992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197.3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22176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-2816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030589629"/>
                  </a:ext>
                </a:extLst>
              </a:tr>
              <a:tr h="163469">
                <a:tc>
                  <a:txBody>
                    <a:bodyPr/>
                    <a:lstStyle/>
                    <a:p>
                      <a:pPr algn="r" fontAlgn="b"/>
                      <a:r>
                        <a:rPr lang="en-IN" sz="800" u="none" strike="noStrike">
                          <a:effectLst/>
                        </a:rPr>
                        <a:t>18150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17358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151.95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16676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157.55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-682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671777132"/>
                  </a:ext>
                </a:extLst>
              </a:tr>
              <a:tr h="163469">
                <a:tc>
                  <a:txBody>
                    <a:bodyPr/>
                    <a:lstStyle/>
                    <a:p>
                      <a:pPr algn="r" fontAlgn="b"/>
                      <a:r>
                        <a:rPr lang="en-IN" sz="800" u="none" strike="noStrike">
                          <a:effectLst/>
                        </a:rPr>
                        <a:t>18200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77797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76420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113.55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-1377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731993034"/>
                  </a:ext>
                </a:extLst>
              </a:tr>
              <a:tr h="163469">
                <a:tc>
                  <a:txBody>
                    <a:bodyPr/>
                    <a:lstStyle/>
                    <a:p>
                      <a:pPr algn="r" fontAlgn="b"/>
                      <a:r>
                        <a:rPr lang="en-IN" sz="800" u="none" strike="noStrike">
                          <a:effectLst/>
                        </a:rPr>
                        <a:t>18250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40664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75.8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57234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74.05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16570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Short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847840815"/>
                  </a:ext>
                </a:extLst>
              </a:tr>
              <a:tr h="163469">
                <a:tc>
                  <a:txBody>
                    <a:bodyPr/>
                    <a:lstStyle/>
                    <a:p>
                      <a:pPr algn="r" fontAlgn="b"/>
                      <a:r>
                        <a:rPr lang="en-IN" sz="800" u="none" strike="noStrike">
                          <a:effectLst/>
                        </a:rPr>
                        <a:t>18300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207594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47.1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246353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42.45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38759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-4.65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Short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42839575"/>
                  </a:ext>
                </a:extLst>
              </a:tr>
              <a:tr h="163469">
                <a:tc>
                  <a:txBody>
                    <a:bodyPr/>
                    <a:lstStyle/>
                    <a:p>
                      <a:pPr algn="r" fontAlgn="b"/>
                      <a:r>
                        <a:rPr lang="en-IN" sz="800" u="none" strike="noStrike">
                          <a:effectLst/>
                        </a:rPr>
                        <a:t>18350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106043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27.15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174086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68043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Short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300784833"/>
                  </a:ext>
                </a:extLst>
              </a:tr>
              <a:tr h="163469">
                <a:tc>
                  <a:txBody>
                    <a:bodyPr/>
                    <a:lstStyle/>
                    <a:p>
                      <a:pPr algn="r" fontAlgn="b"/>
                      <a:r>
                        <a:rPr lang="en-IN" sz="800" u="none" strike="noStrike">
                          <a:effectLst/>
                        </a:rPr>
                        <a:t>18400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239762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298867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59105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Short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044013962"/>
                  </a:ext>
                </a:extLst>
              </a:tr>
              <a:tr h="163469">
                <a:tc>
                  <a:txBody>
                    <a:bodyPr/>
                    <a:lstStyle/>
                    <a:p>
                      <a:pPr algn="r" fontAlgn="b"/>
                      <a:r>
                        <a:rPr lang="en-IN" sz="800" u="none" strike="noStrike">
                          <a:effectLst/>
                        </a:rPr>
                        <a:t>18450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143899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204132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60233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-4.25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Short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569488151"/>
                  </a:ext>
                </a:extLst>
              </a:tr>
              <a:tr h="163469">
                <a:tc>
                  <a:txBody>
                    <a:bodyPr/>
                    <a:lstStyle/>
                    <a:p>
                      <a:pPr algn="r" fontAlgn="b"/>
                      <a:r>
                        <a:rPr lang="en-IN" sz="800" u="none" strike="noStrike">
                          <a:effectLst/>
                        </a:rPr>
                        <a:t>18500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225737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261873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36136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Short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978708472"/>
                  </a:ext>
                </a:extLst>
              </a:tr>
              <a:tr h="817345">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US" sz="800" u="none" strike="noStrike">
                          <a:effectLst/>
                        </a:rPr>
                        <a:t>No clear cut sentiments as both the put and call have the opposite view but since there is more build up on the upper strike prices so the upside is limited (Opening will be sideways)</a:t>
                      </a:r>
                      <a:endParaRPr lang="en-US"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229505301"/>
                  </a:ext>
                </a:extLst>
              </a:tr>
              <a:tr h="163469">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09:23:43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09:23:43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03:32:33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03:32:33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103515406"/>
                  </a:ext>
                </a:extLst>
              </a:tr>
              <a:tr h="163469">
                <a:tc>
                  <a:txBody>
                    <a:bodyPr/>
                    <a:lstStyle/>
                    <a:p>
                      <a:pPr algn="ctr" fontAlgn="t"/>
                      <a:r>
                        <a:rPr lang="en-IN" sz="800" u="none" strike="noStrike">
                          <a:effectLst/>
                        </a:rPr>
                        <a:t>strikePrice</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Conclusion</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473085765"/>
                  </a:ext>
                </a:extLst>
              </a:tr>
              <a:tr h="163469">
                <a:tc>
                  <a:txBody>
                    <a:bodyPr/>
                    <a:lstStyle/>
                    <a:p>
                      <a:pPr algn="r" fontAlgn="b"/>
                      <a:r>
                        <a:rPr lang="en-IN" sz="800" u="none" strike="noStrike">
                          <a:effectLst/>
                        </a:rPr>
                        <a:t>18000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207545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182829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-24716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206785986"/>
                  </a:ext>
                </a:extLst>
              </a:tr>
              <a:tr h="163469">
                <a:tc>
                  <a:txBody>
                    <a:bodyPr/>
                    <a:lstStyle/>
                    <a:p>
                      <a:pPr algn="r" fontAlgn="b"/>
                      <a:r>
                        <a:rPr lang="en-IN" sz="800" u="none" strike="noStrike">
                          <a:effectLst/>
                        </a:rPr>
                        <a:t>18050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78986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66489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-12497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987631423"/>
                  </a:ext>
                </a:extLst>
              </a:tr>
              <a:tr h="163469">
                <a:tc>
                  <a:txBody>
                    <a:bodyPr/>
                    <a:lstStyle/>
                    <a:p>
                      <a:pPr algn="r" fontAlgn="b"/>
                      <a:r>
                        <a:rPr lang="en-IN" sz="800" u="none" strike="noStrike">
                          <a:effectLst/>
                        </a:rPr>
                        <a:t>18100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170153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9.95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178713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8560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-6.15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Build up </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810144664"/>
                  </a:ext>
                </a:extLst>
              </a:tr>
              <a:tr h="163469">
                <a:tc>
                  <a:txBody>
                    <a:bodyPr/>
                    <a:lstStyle/>
                    <a:p>
                      <a:pPr algn="r" fontAlgn="b"/>
                      <a:r>
                        <a:rPr lang="en-IN" sz="800" u="none" strike="noStrike">
                          <a:effectLst/>
                        </a:rPr>
                        <a:t>18150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112547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115735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3188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-8.15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Build up </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896332185"/>
                  </a:ext>
                </a:extLst>
              </a:tr>
              <a:tr h="163469">
                <a:tc>
                  <a:txBody>
                    <a:bodyPr/>
                    <a:lstStyle/>
                    <a:p>
                      <a:pPr algn="r" fontAlgn="b"/>
                      <a:r>
                        <a:rPr lang="en-IN" sz="800" u="none" strike="noStrike">
                          <a:effectLst/>
                        </a:rPr>
                        <a:t>18200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245681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251057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5376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Build up </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837530617"/>
                  </a:ext>
                </a:extLst>
              </a:tr>
              <a:tr h="163469">
                <a:tc>
                  <a:txBody>
                    <a:bodyPr/>
                    <a:lstStyle/>
                    <a:p>
                      <a:pPr algn="r" fontAlgn="b"/>
                      <a:r>
                        <a:rPr lang="en-IN" sz="800" u="none" strike="noStrike">
                          <a:effectLst/>
                        </a:rPr>
                        <a:t>18250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114173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39.4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126187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12014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dirty="0">
                          <a:effectLst/>
                        </a:rPr>
                        <a:t>-16.5</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Build up </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02263215"/>
                  </a:ext>
                </a:extLst>
              </a:tr>
              <a:tr h="163469">
                <a:tc>
                  <a:txBody>
                    <a:bodyPr/>
                    <a:lstStyle/>
                    <a:p>
                      <a:pPr algn="r" fontAlgn="b"/>
                      <a:r>
                        <a:rPr lang="en-IN" sz="800" u="none" strike="noStrike">
                          <a:effectLst/>
                        </a:rPr>
                        <a:t>18300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265001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60.2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233783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40.45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-31218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-19.75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014056585"/>
                  </a:ext>
                </a:extLst>
              </a:tr>
              <a:tr h="163469">
                <a:tc>
                  <a:txBody>
                    <a:bodyPr/>
                    <a:lstStyle/>
                    <a:p>
                      <a:pPr algn="r" fontAlgn="b"/>
                      <a:r>
                        <a:rPr lang="en-IN" sz="800" u="none" strike="noStrike">
                          <a:effectLst/>
                        </a:rPr>
                        <a:t>18350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76278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90.25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46775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69.55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-29503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343703221"/>
                  </a:ext>
                </a:extLst>
              </a:tr>
              <a:tr h="163469">
                <a:tc>
                  <a:txBody>
                    <a:bodyPr/>
                    <a:lstStyle/>
                    <a:p>
                      <a:pPr algn="r" fontAlgn="b"/>
                      <a:r>
                        <a:rPr lang="en-IN" sz="800" u="none" strike="noStrike">
                          <a:effectLst/>
                        </a:rPr>
                        <a:t>18400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94152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69297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-24855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269818738"/>
                  </a:ext>
                </a:extLst>
              </a:tr>
              <a:tr h="163469">
                <a:tc>
                  <a:txBody>
                    <a:bodyPr/>
                    <a:lstStyle/>
                    <a:p>
                      <a:pPr algn="r" fontAlgn="b"/>
                      <a:r>
                        <a:rPr lang="en-IN" sz="800" u="none" strike="noStrike">
                          <a:effectLst/>
                        </a:rPr>
                        <a:t>18450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14273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170.05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10340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150.75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-3933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-19.3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586448540"/>
                  </a:ext>
                </a:extLst>
              </a:tr>
              <a:tr h="163469">
                <a:tc>
                  <a:txBody>
                    <a:bodyPr/>
                    <a:lstStyle/>
                    <a:p>
                      <a:pPr algn="r" fontAlgn="b"/>
                      <a:r>
                        <a:rPr lang="en-IN" sz="800" u="none" strike="noStrike">
                          <a:effectLst/>
                        </a:rPr>
                        <a:t>18500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36818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217.65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28732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-8086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-17.65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dirty="0">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525630584"/>
                  </a:ext>
                </a:extLst>
              </a:tr>
            </a:tbl>
          </a:graphicData>
        </a:graphic>
      </p:graphicFrame>
      <p:sp>
        <p:nvSpPr>
          <p:cNvPr id="5" name="TextBox 4">
            <a:extLst>
              <a:ext uri="{FF2B5EF4-FFF2-40B4-BE49-F238E27FC236}">
                <a16:creationId xmlns:a16="http://schemas.microsoft.com/office/drawing/2014/main" id="{D169AF76-573F-2260-F81F-0EEF77D91537}"/>
              </a:ext>
            </a:extLst>
          </p:cNvPr>
          <p:cNvSpPr txBox="1"/>
          <p:nvPr/>
        </p:nvSpPr>
        <p:spPr>
          <a:xfrm>
            <a:off x="650631" y="325315"/>
            <a:ext cx="8097715" cy="707886"/>
          </a:xfrm>
          <a:prstGeom prst="rect">
            <a:avLst/>
          </a:prstGeom>
          <a:noFill/>
        </p:spPr>
        <p:txBody>
          <a:bodyPr wrap="square" rtlCol="0">
            <a:spAutoFit/>
          </a:bodyPr>
          <a:lstStyle/>
          <a:p>
            <a:r>
              <a:rPr lang="en-US" sz="4000" dirty="0"/>
              <a:t>24-05-2023</a:t>
            </a:r>
            <a:endParaRPr lang="en-IN" sz="4000" dirty="0"/>
          </a:p>
        </p:txBody>
      </p:sp>
    </p:spTree>
    <p:extLst>
      <p:ext uri="{BB962C8B-B14F-4D97-AF65-F5344CB8AC3E}">
        <p14:creationId xmlns:p14="http://schemas.microsoft.com/office/powerpoint/2010/main" val="532057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A61E3-E6F4-D8BF-24E9-6E49E199A810}"/>
              </a:ext>
            </a:extLst>
          </p:cNvPr>
          <p:cNvSpPr>
            <a:spLocks noGrp="1"/>
          </p:cNvSpPr>
          <p:nvPr>
            <p:ph type="title"/>
          </p:nvPr>
        </p:nvSpPr>
        <p:spPr>
          <a:xfrm>
            <a:off x="838200" y="365125"/>
            <a:ext cx="10515600" cy="610821"/>
          </a:xfrm>
        </p:spPr>
        <p:txBody>
          <a:bodyPr>
            <a:normAutofit fontScale="90000"/>
          </a:bodyPr>
          <a:lstStyle/>
          <a:p>
            <a:r>
              <a:rPr lang="en-US" sz="4400" dirty="0"/>
              <a:t>24-05-2023</a:t>
            </a:r>
            <a:endParaRPr lang="en-IN" dirty="0"/>
          </a:p>
        </p:txBody>
      </p:sp>
      <p:pic>
        <p:nvPicPr>
          <p:cNvPr id="5" name="Picture 4">
            <a:extLst>
              <a:ext uri="{FF2B5EF4-FFF2-40B4-BE49-F238E27FC236}">
                <a16:creationId xmlns:a16="http://schemas.microsoft.com/office/drawing/2014/main" id="{25748188-41B2-027F-87BB-9072648D3D8B}"/>
              </a:ext>
            </a:extLst>
          </p:cNvPr>
          <p:cNvPicPr>
            <a:picLocks noChangeAspect="1"/>
          </p:cNvPicPr>
          <p:nvPr/>
        </p:nvPicPr>
        <p:blipFill>
          <a:blip r:embed="rId3"/>
          <a:stretch>
            <a:fillRect/>
          </a:stretch>
        </p:blipFill>
        <p:spPr>
          <a:xfrm>
            <a:off x="0" y="1394660"/>
            <a:ext cx="12192000" cy="4965496"/>
          </a:xfrm>
          <a:prstGeom prst="rect">
            <a:avLst/>
          </a:prstGeom>
        </p:spPr>
      </p:pic>
    </p:spTree>
    <p:extLst>
      <p:ext uri="{BB962C8B-B14F-4D97-AF65-F5344CB8AC3E}">
        <p14:creationId xmlns:p14="http://schemas.microsoft.com/office/powerpoint/2010/main" val="9498325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8AE4F-72B9-B1FA-6B6E-0B82B387052B}"/>
              </a:ext>
            </a:extLst>
          </p:cNvPr>
          <p:cNvSpPr>
            <a:spLocks noGrp="1"/>
          </p:cNvSpPr>
          <p:nvPr>
            <p:ph type="title"/>
          </p:nvPr>
        </p:nvSpPr>
        <p:spPr>
          <a:xfrm>
            <a:off x="838200" y="365126"/>
            <a:ext cx="10515600" cy="584444"/>
          </a:xfrm>
        </p:spPr>
        <p:txBody>
          <a:bodyPr>
            <a:normAutofit fontScale="90000"/>
          </a:bodyPr>
          <a:lstStyle/>
          <a:p>
            <a:r>
              <a:rPr lang="en-US" sz="4400" dirty="0"/>
              <a:t>24-05-2023</a:t>
            </a:r>
            <a:endParaRPr lang="en-IN" dirty="0"/>
          </a:p>
        </p:txBody>
      </p:sp>
      <p:pic>
        <p:nvPicPr>
          <p:cNvPr id="5" name="Picture 4">
            <a:extLst>
              <a:ext uri="{FF2B5EF4-FFF2-40B4-BE49-F238E27FC236}">
                <a16:creationId xmlns:a16="http://schemas.microsoft.com/office/drawing/2014/main" id="{8FF012B8-DBF8-2F41-FED5-7AC70FA14B1A}"/>
              </a:ext>
            </a:extLst>
          </p:cNvPr>
          <p:cNvPicPr>
            <a:picLocks noChangeAspect="1"/>
          </p:cNvPicPr>
          <p:nvPr/>
        </p:nvPicPr>
        <p:blipFill>
          <a:blip r:embed="rId3"/>
          <a:stretch>
            <a:fillRect/>
          </a:stretch>
        </p:blipFill>
        <p:spPr>
          <a:xfrm>
            <a:off x="0" y="949570"/>
            <a:ext cx="12192000" cy="5618524"/>
          </a:xfrm>
          <a:prstGeom prst="rect">
            <a:avLst/>
          </a:prstGeom>
        </p:spPr>
      </p:pic>
    </p:spTree>
    <p:extLst>
      <p:ext uri="{BB962C8B-B14F-4D97-AF65-F5344CB8AC3E}">
        <p14:creationId xmlns:p14="http://schemas.microsoft.com/office/powerpoint/2010/main" val="20194926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72236-4238-8650-6A58-49465C4572CC}"/>
              </a:ext>
            </a:extLst>
          </p:cNvPr>
          <p:cNvSpPr>
            <a:spLocks noGrp="1"/>
          </p:cNvSpPr>
          <p:nvPr>
            <p:ph type="title"/>
          </p:nvPr>
        </p:nvSpPr>
        <p:spPr>
          <a:xfrm>
            <a:off x="838200" y="365126"/>
            <a:ext cx="10515600" cy="669348"/>
          </a:xfrm>
        </p:spPr>
        <p:txBody>
          <a:bodyPr>
            <a:normAutofit fontScale="90000"/>
          </a:bodyPr>
          <a:lstStyle/>
          <a:p>
            <a:r>
              <a:rPr lang="en-US" dirty="0"/>
              <a:t>29-05-2023</a:t>
            </a:r>
            <a:endParaRPr lang="en-IN" dirty="0"/>
          </a:p>
        </p:txBody>
      </p:sp>
    </p:spTree>
    <p:extLst>
      <p:ext uri="{BB962C8B-B14F-4D97-AF65-F5344CB8AC3E}">
        <p14:creationId xmlns:p14="http://schemas.microsoft.com/office/powerpoint/2010/main" val="7996915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72236-4238-8650-6A58-49465C4572CC}"/>
              </a:ext>
            </a:extLst>
          </p:cNvPr>
          <p:cNvSpPr>
            <a:spLocks noGrp="1"/>
          </p:cNvSpPr>
          <p:nvPr>
            <p:ph type="title"/>
          </p:nvPr>
        </p:nvSpPr>
        <p:spPr>
          <a:xfrm>
            <a:off x="838200" y="365126"/>
            <a:ext cx="10515600" cy="669348"/>
          </a:xfrm>
        </p:spPr>
        <p:txBody>
          <a:bodyPr>
            <a:normAutofit fontScale="90000"/>
          </a:bodyPr>
          <a:lstStyle/>
          <a:p>
            <a:r>
              <a:rPr lang="en-US" dirty="0"/>
              <a:t>29-05-2023</a:t>
            </a:r>
            <a:endParaRPr lang="en-IN" dirty="0"/>
          </a:p>
        </p:txBody>
      </p:sp>
    </p:spTree>
    <p:extLst>
      <p:ext uri="{BB962C8B-B14F-4D97-AF65-F5344CB8AC3E}">
        <p14:creationId xmlns:p14="http://schemas.microsoft.com/office/powerpoint/2010/main" val="37091754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69515-66AA-2323-211B-518320665C1B}"/>
              </a:ext>
            </a:extLst>
          </p:cNvPr>
          <p:cNvSpPr>
            <a:spLocks noGrp="1"/>
          </p:cNvSpPr>
          <p:nvPr>
            <p:ph type="title"/>
          </p:nvPr>
        </p:nvSpPr>
        <p:spPr>
          <a:xfrm>
            <a:off x="838200" y="365125"/>
            <a:ext cx="10515600" cy="540039"/>
          </a:xfrm>
        </p:spPr>
        <p:txBody>
          <a:bodyPr>
            <a:normAutofit fontScale="90000"/>
          </a:bodyPr>
          <a:lstStyle/>
          <a:p>
            <a:r>
              <a:rPr lang="en-US" dirty="0"/>
              <a:t>29-05-2023</a:t>
            </a:r>
            <a:endParaRPr lang="en-IN" dirty="0"/>
          </a:p>
        </p:txBody>
      </p:sp>
    </p:spTree>
    <p:extLst>
      <p:ext uri="{BB962C8B-B14F-4D97-AF65-F5344CB8AC3E}">
        <p14:creationId xmlns:p14="http://schemas.microsoft.com/office/powerpoint/2010/main" val="1679785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DA28C-CC61-AA73-9A1C-B33008B08B19}"/>
              </a:ext>
            </a:extLst>
          </p:cNvPr>
          <p:cNvSpPr>
            <a:spLocks noGrp="1"/>
          </p:cNvSpPr>
          <p:nvPr>
            <p:ph type="title"/>
          </p:nvPr>
        </p:nvSpPr>
        <p:spPr>
          <a:xfrm>
            <a:off x="838200" y="365125"/>
            <a:ext cx="10515600" cy="660111"/>
          </a:xfrm>
        </p:spPr>
        <p:txBody>
          <a:bodyPr>
            <a:normAutofit fontScale="90000"/>
          </a:bodyPr>
          <a:lstStyle/>
          <a:p>
            <a:r>
              <a:rPr lang="en-US" dirty="0"/>
              <a:t>30-05-2023</a:t>
            </a:r>
            <a:endParaRPr lang="en-IN" dirty="0"/>
          </a:p>
        </p:txBody>
      </p:sp>
    </p:spTree>
    <p:extLst>
      <p:ext uri="{BB962C8B-B14F-4D97-AF65-F5344CB8AC3E}">
        <p14:creationId xmlns:p14="http://schemas.microsoft.com/office/powerpoint/2010/main" val="1685026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DA28C-CC61-AA73-9A1C-B33008B08B19}"/>
              </a:ext>
            </a:extLst>
          </p:cNvPr>
          <p:cNvSpPr>
            <a:spLocks noGrp="1"/>
          </p:cNvSpPr>
          <p:nvPr>
            <p:ph type="title"/>
          </p:nvPr>
        </p:nvSpPr>
        <p:spPr>
          <a:xfrm>
            <a:off x="838200" y="365125"/>
            <a:ext cx="10515600" cy="660111"/>
          </a:xfrm>
        </p:spPr>
        <p:txBody>
          <a:bodyPr>
            <a:normAutofit fontScale="90000"/>
          </a:bodyPr>
          <a:lstStyle/>
          <a:p>
            <a:r>
              <a:rPr lang="en-US" dirty="0"/>
              <a:t>30-05-2023</a:t>
            </a:r>
            <a:endParaRPr lang="en-IN" dirty="0"/>
          </a:p>
        </p:txBody>
      </p:sp>
    </p:spTree>
    <p:extLst>
      <p:ext uri="{BB962C8B-B14F-4D97-AF65-F5344CB8AC3E}">
        <p14:creationId xmlns:p14="http://schemas.microsoft.com/office/powerpoint/2010/main" val="37973743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DA28C-CC61-AA73-9A1C-B33008B08B19}"/>
              </a:ext>
            </a:extLst>
          </p:cNvPr>
          <p:cNvSpPr>
            <a:spLocks noGrp="1"/>
          </p:cNvSpPr>
          <p:nvPr>
            <p:ph type="title"/>
          </p:nvPr>
        </p:nvSpPr>
        <p:spPr>
          <a:xfrm>
            <a:off x="838200" y="365125"/>
            <a:ext cx="10515600" cy="660111"/>
          </a:xfrm>
        </p:spPr>
        <p:txBody>
          <a:bodyPr>
            <a:normAutofit fontScale="90000"/>
          </a:bodyPr>
          <a:lstStyle/>
          <a:p>
            <a:r>
              <a:rPr lang="en-US" dirty="0"/>
              <a:t>30-05-2023</a:t>
            </a:r>
            <a:endParaRPr lang="en-IN" dirty="0"/>
          </a:p>
        </p:txBody>
      </p:sp>
    </p:spTree>
    <p:extLst>
      <p:ext uri="{BB962C8B-B14F-4D97-AF65-F5344CB8AC3E}">
        <p14:creationId xmlns:p14="http://schemas.microsoft.com/office/powerpoint/2010/main" val="29012581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91BD2-4C18-E994-BDF0-358B715D66AE}"/>
              </a:ext>
            </a:extLst>
          </p:cNvPr>
          <p:cNvSpPr>
            <a:spLocks noGrp="1"/>
          </p:cNvSpPr>
          <p:nvPr>
            <p:ph type="title"/>
          </p:nvPr>
        </p:nvSpPr>
        <p:spPr>
          <a:xfrm>
            <a:off x="838200" y="365125"/>
            <a:ext cx="10515600" cy="650875"/>
          </a:xfrm>
        </p:spPr>
        <p:txBody>
          <a:bodyPr>
            <a:normAutofit fontScale="90000"/>
          </a:bodyPr>
          <a:lstStyle/>
          <a:p>
            <a:r>
              <a:rPr lang="en-US" dirty="0"/>
              <a:t>31-05-2023</a:t>
            </a:r>
            <a:endParaRPr lang="en-IN" dirty="0"/>
          </a:p>
        </p:txBody>
      </p:sp>
    </p:spTree>
    <p:extLst>
      <p:ext uri="{BB962C8B-B14F-4D97-AF65-F5344CB8AC3E}">
        <p14:creationId xmlns:p14="http://schemas.microsoft.com/office/powerpoint/2010/main" val="13126354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91BD2-4C18-E994-BDF0-358B715D66AE}"/>
              </a:ext>
            </a:extLst>
          </p:cNvPr>
          <p:cNvSpPr>
            <a:spLocks noGrp="1"/>
          </p:cNvSpPr>
          <p:nvPr>
            <p:ph type="title"/>
          </p:nvPr>
        </p:nvSpPr>
        <p:spPr>
          <a:xfrm>
            <a:off x="838200" y="365125"/>
            <a:ext cx="10515600" cy="650875"/>
          </a:xfrm>
        </p:spPr>
        <p:txBody>
          <a:bodyPr>
            <a:normAutofit fontScale="90000"/>
          </a:bodyPr>
          <a:lstStyle/>
          <a:p>
            <a:r>
              <a:rPr lang="en-US" dirty="0"/>
              <a:t>31-05-2023</a:t>
            </a:r>
            <a:endParaRPr lang="en-IN" dirty="0"/>
          </a:p>
        </p:txBody>
      </p:sp>
    </p:spTree>
    <p:extLst>
      <p:ext uri="{BB962C8B-B14F-4D97-AF65-F5344CB8AC3E}">
        <p14:creationId xmlns:p14="http://schemas.microsoft.com/office/powerpoint/2010/main" val="1572070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91BD2-4C18-E994-BDF0-358B715D66AE}"/>
              </a:ext>
            </a:extLst>
          </p:cNvPr>
          <p:cNvSpPr>
            <a:spLocks noGrp="1"/>
          </p:cNvSpPr>
          <p:nvPr>
            <p:ph type="title"/>
          </p:nvPr>
        </p:nvSpPr>
        <p:spPr>
          <a:xfrm>
            <a:off x="838200" y="365125"/>
            <a:ext cx="10515600" cy="650875"/>
          </a:xfrm>
        </p:spPr>
        <p:txBody>
          <a:bodyPr>
            <a:normAutofit fontScale="90000"/>
          </a:bodyPr>
          <a:lstStyle/>
          <a:p>
            <a:r>
              <a:rPr lang="en-US" dirty="0"/>
              <a:t>31-05-2023</a:t>
            </a:r>
            <a:endParaRPr lang="en-IN" dirty="0"/>
          </a:p>
        </p:txBody>
      </p:sp>
    </p:spTree>
    <p:extLst>
      <p:ext uri="{BB962C8B-B14F-4D97-AF65-F5344CB8AC3E}">
        <p14:creationId xmlns:p14="http://schemas.microsoft.com/office/powerpoint/2010/main" val="3935782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55F02-DBDA-18E8-4595-6FF83975528C}"/>
              </a:ext>
            </a:extLst>
          </p:cNvPr>
          <p:cNvSpPr>
            <a:spLocks noGrp="1"/>
          </p:cNvSpPr>
          <p:nvPr>
            <p:ph type="title"/>
          </p:nvPr>
        </p:nvSpPr>
        <p:spPr>
          <a:xfrm>
            <a:off x="838200" y="365126"/>
            <a:ext cx="10515600" cy="687820"/>
          </a:xfrm>
        </p:spPr>
        <p:txBody>
          <a:bodyPr>
            <a:normAutofit fontScale="90000"/>
          </a:bodyPr>
          <a:lstStyle/>
          <a:p>
            <a:r>
              <a:rPr lang="en-US" dirty="0"/>
              <a:t>02-06-2023</a:t>
            </a:r>
            <a:endParaRPr lang="en-IN" dirty="0"/>
          </a:p>
        </p:txBody>
      </p:sp>
      <p:graphicFrame>
        <p:nvGraphicFramePr>
          <p:cNvPr id="4" name="Table 3">
            <a:extLst>
              <a:ext uri="{FF2B5EF4-FFF2-40B4-BE49-F238E27FC236}">
                <a16:creationId xmlns:a16="http://schemas.microsoft.com/office/drawing/2014/main" id="{6BA4C6C5-AF37-A149-E4BF-A5FAF35CF576}"/>
              </a:ext>
            </a:extLst>
          </p:cNvPr>
          <p:cNvGraphicFramePr>
            <a:graphicFrameLocks noGrp="1"/>
          </p:cNvGraphicFramePr>
          <p:nvPr>
            <p:extLst>
              <p:ext uri="{D42A27DB-BD31-4B8C-83A1-F6EECF244321}">
                <p14:modId xmlns:p14="http://schemas.microsoft.com/office/powerpoint/2010/main" val="547488033"/>
              </p:ext>
            </p:extLst>
          </p:nvPr>
        </p:nvGraphicFramePr>
        <p:xfrm>
          <a:off x="249381" y="1052946"/>
          <a:ext cx="11619343" cy="5726532"/>
        </p:xfrm>
        <a:graphic>
          <a:graphicData uri="http://schemas.openxmlformats.org/drawingml/2006/table">
            <a:tbl>
              <a:tblPr>
                <a:tableStyleId>{5C22544A-7EE6-4342-B048-85BDC9FD1C3A}</a:tableStyleId>
              </a:tblPr>
              <a:tblGrid>
                <a:gridCol w="1281699">
                  <a:extLst>
                    <a:ext uri="{9D8B030D-6E8A-4147-A177-3AD203B41FA5}">
                      <a16:colId xmlns:a16="http://schemas.microsoft.com/office/drawing/2014/main" val="3711532158"/>
                    </a:ext>
                  </a:extLst>
                </a:gridCol>
                <a:gridCol w="1281699">
                  <a:extLst>
                    <a:ext uri="{9D8B030D-6E8A-4147-A177-3AD203B41FA5}">
                      <a16:colId xmlns:a16="http://schemas.microsoft.com/office/drawing/2014/main" val="1282364035"/>
                    </a:ext>
                  </a:extLst>
                </a:gridCol>
                <a:gridCol w="1722941">
                  <a:extLst>
                    <a:ext uri="{9D8B030D-6E8A-4147-A177-3AD203B41FA5}">
                      <a16:colId xmlns:a16="http://schemas.microsoft.com/office/drawing/2014/main" val="1097473782"/>
                    </a:ext>
                  </a:extLst>
                </a:gridCol>
                <a:gridCol w="1260689">
                  <a:extLst>
                    <a:ext uri="{9D8B030D-6E8A-4147-A177-3AD203B41FA5}">
                      <a16:colId xmlns:a16="http://schemas.microsoft.com/office/drawing/2014/main" val="3521282603"/>
                    </a:ext>
                  </a:extLst>
                </a:gridCol>
                <a:gridCol w="1260689">
                  <a:extLst>
                    <a:ext uri="{9D8B030D-6E8A-4147-A177-3AD203B41FA5}">
                      <a16:colId xmlns:a16="http://schemas.microsoft.com/office/drawing/2014/main" val="1335940055"/>
                    </a:ext>
                  </a:extLst>
                </a:gridCol>
                <a:gridCol w="1344734">
                  <a:extLst>
                    <a:ext uri="{9D8B030D-6E8A-4147-A177-3AD203B41FA5}">
                      <a16:colId xmlns:a16="http://schemas.microsoft.com/office/drawing/2014/main" val="1352788369"/>
                    </a:ext>
                  </a:extLst>
                </a:gridCol>
                <a:gridCol w="2059124">
                  <a:extLst>
                    <a:ext uri="{9D8B030D-6E8A-4147-A177-3AD203B41FA5}">
                      <a16:colId xmlns:a16="http://schemas.microsoft.com/office/drawing/2014/main" val="2277923817"/>
                    </a:ext>
                  </a:extLst>
                </a:gridCol>
                <a:gridCol w="1407768">
                  <a:extLst>
                    <a:ext uri="{9D8B030D-6E8A-4147-A177-3AD203B41FA5}">
                      <a16:colId xmlns:a16="http://schemas.microsoft.com/office/drawing/2014/main" val="3671555871"/>
                    </a:ext>
                  </a:extLst>
                </a:gridCol>
              </a:tblGrid>
              <a:tr h="204519">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09:27:24 AM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09:27:24 AM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03:30:23 PM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03:30:23 PM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900539488"/>
                  </a:ext>
                </a:extLst>
              </a:tr>
              <a:tr h="204519">
                <a:tc>
                  <a:txBody>
                    <a:bodyPr/>
                    <a:lstStyle/>
                    <a:p>
                      <a:pPr algn="ctr" fontAlgn="t"/>
                      <a:r>
                        <a:rPr lang="en-IN" sz="900" u="none" strike="noStrike">
                          <a:effectLst/>
                        </a:rPr>
                        <a:t>strikePrice</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CE_OI</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CE_LTP</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CE_OI</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CE_LTP</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Change in OI</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Change in Premium</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Conclusion</a:t>
                      </a:r>
                      <a:endParaRPr lang="en-IN" sz="900" b="1" i="0" u="none" strike="noStrike">
                        <a:solidFill>
                          <a:srgbClr val="000000"/>
                        </a:solidFill>
                        <a:effectLst/>
                        <a:latin typeface="Calibri" panose="020F0502020204030204" pitchFamily="34" charset="0"/>
                      </a:endParaRPr>
                    </a:p>
                  </a:txBody>
                  <a:tcPr marL="7770" marR="7770" marT="7770" marB="0"/>
                </a:tc>
                <a:extLst>
                  <a:ext uri="{0D108BD9-81ED-4DB2-BD59-A6C34878D82A}">
                    <a16:rowId xmlns:a16="http://schemas.microsoft.com/office/drawing/2014/main" val="1862751655"/>
                  </a:ext>
                </a:extLst>
              </a:tr>
              <a:tr h="204519">
                <a:tc>
                  <a:txBody>
                    <a:bodyPr/>
                    <a:lstStyle/>
                    <a:p>
                      <a:pPr algn="r" fontAlgn="b"/>
                      <a:r>
                        <a:rPr lang="en-IN" sz="900" u="none" strike="noStrike">
                          <a:effectLst/>
                        </a:rPr>
                        <a:t>18300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12149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304.7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13564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281.85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1415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-22.85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709769628"/>
                  </a:ext>
                </a:extLst>
              </a:tr>
              <a:tr h="204519">
                <a:tc>
                  <a:txBody>
                    <a:bodyPr/>
                    <a:lstStyle/>
                    <a:p>
                      <a:pPr algn="r" fontAlgn="b"/>
                      <a:r>
                        <a:rPr lang="en-IN" sz="900" u="none" strike="noStrike">
                          <a:effectLst/>
                        </a:rPr>
                        <a:t>18350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2333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260.75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2329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237.7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-23.05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covering</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346517682"/>
                  </a:ext>
                </a:extLst>
              </a:tr>
              <a:tr h="204519">
                <a:tc>
                  <a:txBody>
                    <a:bodyPr/>
                    <a:lstStyle/>
                    <a:p>
                      <a:pPr algn="r" fontAlgn="b"/>
                      <a:r>
                        <a:rPr lang="en-IN" sz="900" u="none" strike="noStrike">
                          <a:effectLst/>
                        </a:rPr>
                        <a:t>18400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19951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219.3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22220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196.4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2269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-22.9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224832754"/>
                  </a:ext>
                </a:extLst>
              </a:tr>
              <a:tr h="204519">
                <a:tc>
                  <a:txBody>
                    <a:bodyPr/>
                    <a:lstStyle/>
                    <a:p>
                      <a:pPr algn="r" fontAlgn="b"/>
                      <a:r>
                        <a:rPr lang="en-IN" sz="900" u="none" strike="noStrike">
                          <a:effectLst/>
                        </a:rPr>
                        <a:t>18450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11822</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180.1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11410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158.2</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-412</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-21.9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covering</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3382491060"/>
                  </a:ext>
                </a:extLst>
              </a:tr>
              <a:tr h="204519">
                <a:tc>
                  <a:txBody>
                    <a:bodyPr/>
                    <a:lstStyle/>
                    <a:p>
                      <a:pPr algn="r" fontAlgn="b"/>
                      <a:r>
                        <a:rPr lang="en-IN" sz="900" u="none" strike="noStrike">
                          <a:effectLst/>
                        </a:rPr>
                        <a:t>18500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148475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144.8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159911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122.9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11436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-21.9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3180366144"/>
                  </a:ext>
                </a:extLst>
              </a:tr>
              <a:tr h="204519">
                <a:tc>
                  <a:txBody>
                    <a:bodyPr/>
                    <a:lstStyle/>
                    <a:p>
                      <a:pPr algn="r" fontAlgn="b"/>
                      <a:r>
                        <a:rPr lang="en-IN" sz="900" u="none" strike="noStrike">
                          <a:effectLst/>
                        </a:rPr>
                        <a:t>18550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66507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112.6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62788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92.75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-3719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-19.85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covering</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2181047513"/>
                  </a:ext>
                </a:extLst>
              </a:tr>
              <a:tr h="204519">
                <a:tc>
                  <a:txBody>
                    <a:bodyPr/>
                    <a:lstStyle/>
                    <a:p>
                      <a:pPr algn="r" fontAlgn="b"/>
                      <a:r>
                        <a:rPr lang="en-IN" sz="900" u="none" strike="noStrike">
                          <a:effectLst/>
                        </a:rPr>
                        <a:t>18600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171614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85.5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215349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66.95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43735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-18.55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dirty="0">
                          <a:effectLst/>
                        </a:rPr>
                        <a:t>Shot build up</a:t>
                      </a:r>
                      <a:endParaRPr lang="en-IN" sz="900" b="0" i="0" u="none" strike="noStrike" dirty="0">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935119397"/>
                  </a:ext>
                </a:extLst>
              </a:tr>
              <a:tr h="204519">
                <a:tc>
                  <a:txBody>
                    <a:bodyPr/>
                    <a:lstStyle/>
                    <a:p>
                      <a:pPr algn="r" fontAlgn="b"/>
                      <a:r>
                        <a:rPr lang="en-IN" sz="900" u="none" strike="noStrike">
                          <a:effectLst/>
                        </a:rPr>
                        <a:t>18650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72254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62.75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66497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46.5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-5757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-16.25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dirty="0">
                          <a:effectLst/>
                        </a:rPr>
                        <a:t>Long covering</a:t>
                      </a:r>
                      <a:endParaRPr lang="en-IN" sz="900" b="0" i="0" u="none" strike="noStrike" dirty="0">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977543359"/>
                  </a:ext>
                </a:extLst>
              </a:tr>
              <a:tr h="204519">
                <a:tc>
                  <a:txBody>
                    <a:bodyPr/>
                    <a:lstStyle/>
                    <a:p>
                      <a:pPr algn="r" fontAlgn="b"/>
                      <a:r>
                        <a:rPr lang="en-IN" sz="900" u="none" strike="noStrike">
                          <a:effectLst/>
                        </a:rPr>
                        <a:t>18700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101245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44.3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132076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30.8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30831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-13.5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037986819"/>
                  </a:ext>
                </a:extLst>
              </a:tr>
              <a:tr h="204519">
                <a:tc>
                  <a:txBody>
                    <a:bodyPr/>
                    <a:lstStyle/>
                    <a:p>
                      <a:pPr algn="r" fontAlgn="b"/>
                      <a:r>
                        <a:rPr lang="en-IN" sz="900" u="none" strike="noStrike">
                          <a:effectLst/>
                        </a:rPr>
                        <a:t>18750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36214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30.35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55531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19.7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19317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-10.65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743881980"/>
                  </a:ext>
                </a:extLst>
              </a:tr>
              <a:tr h="204519">
                <a:tc>
                  <a:txBody>
                    <a:bodyPr/>
                    <a:lstStyle/>
                    <a:p>
                      <a:pPr algn="r" fontAlgn="b"/>
                      <a:r>
                        <a:rPr lang="en-IN" sz="900" u="none" strike="noStrike">
                          <a:effectLst/>
                        </a:rPr>
                        <a:t>18800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87010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20.1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126849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11.9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39839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-8.2</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2403836707"/>
                  </a:ext>
                </a:extLst>
              </a:tr>
              <a:tr h="204519">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992638223"/>
                  </a:ext>
                </a:extLst>
              </a:tr>
              <a:tr h="204519">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943098653"/>
                  </a:ext>
                </a:extLst>
              </a:tr>
              <a:tr h="204519">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09:27:24 AM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09:27:24 AM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03:30:23 PM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03:30:23 PM</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676181427"/>
                  </a:ext>
                </a:extLst>
              </a:tr>
              <a:tr h="204519">
                <a:tc>
                  <a:txBody>
                    <a:bodyPr/>
                    <a:lstStyle/>
                    <a:p>
                      <a:pPr algn="ctr" fontAlgn="t"/>
                      <a:r>
                        <a:rPr lang="en-IN" sz="900" u="none" strike="noStrike">
                          <a:effectLst/>
                        </a:rPr>
                        <a:t>strikePrice</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PE_OI</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PE_LTP</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PE_OI</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PE_LTP</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Change in OI</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ctr" fontAlgn="t"/>
                      <a:r>
                        <a:rPr lang="en-IN" sz="900" u="none" strike="noStrike">
                          <a:effectLst/>
                        </a:rPr>
                        <a:t>Change in Premium</a:t>
                      </a:r>
                      <a:endParaRPr lang="en-IN" sz="900" b="1" i="0" u="none" strike="noStrike">
                        <a:solidFill>
                          <a:srgbClr val="000000"/>
                        </a:solidFill>
                        <a:effectLst/>
                        <a:latin typeface="Calibri" panose="020F0502020204030204" pitchFamily="34" charset="0"/>
                      </a:endParaRPr>
                    </a:p>
                  </a:txBody>
                  <a:tcPr marL="7770" marR="7770" marT="7770" marB="0"/>
                </a:tc>
                <a:tc>
                  <a:txBody>
                    <a:bodyPr/>
                    <a:lstStyle/>
                    <a:p>
                      <a:pPr algn="l" fontAlgn="b"/>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19213129"/>
                  </a:ext>
                </a:extLst>
              </a:tr>
              <a:tr h="204519">
                <a:tc>
                  <a:txBody>
                    <a:bodyPr/>
                    <a:lstStyle/>
                    <a:p>
                      <a:pPr algn="r" fontAlgn="b"/>
                      <a:r>
                        <a:rPr lang="en-IN" sz="900" u="none" strike="noStrike">
                          <a:effectLst/>
                        </a:rPr>
                        <a:t>18300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60027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16.7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80667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15.8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20640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-0.9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349863225"/>
                  </a:ext>
                </a:extLst>
              </a:tr>
              <a:tr h="204519">
                <a:tc>
                  <a:txBody>
                    <a:bodyPr/>
                    <a:lstStyle/>
                    <a:p>
                      <a:pPr algn="r" fontAlgn="b"/>
                      <a:r>
                        <a:rPr lang="en-IN" sz="900" u="none" strike="noStrike">
                          <a:effectLst/>
                        </a:rPr>
                        <a:t>18350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22399</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22.45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39037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21.8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16638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-0.65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445718018"/>
                  </a:ext>
                </a:extLst>
              </a:tr>
              <a:tr h="204519">
                <a:tc>
                  <a:txBody>
                    <a:bodyPr/>
                    <a:lstStyle/>
                    <a:p>
                      <a:pPr algn="r" fontAlgn="b"/>
                      <a:r>
                        <a:rPr lang="en-IN" sz="900" u="none" strike="noStrike">
                          <a:effectLst/>
                        </a:rPr>
                        <a:t>18400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77966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30.8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84463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30.4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6497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-0.4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555597851"/>
                  </a:ext>
                </a:extLst>
              </a:tr>
              <a:tr h="204519">
                <a:tc>
                  <a:txBody>
                    <a:bodyPr/>
                    <a:lstStyle/>
                    <a:p>
                      <a:pPr algn="r" fontAlgn="b"/>
                      <a:r>
                        <a:rPr lang="en-IN" sz="900" u="none" strike="noStrike">
                          <a:effectLst/>
                        </a:rPr>
                        <a:t>18450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41855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41.6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45000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42.1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3145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0.5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703081160"/>
                  </a:ext>
                </a:extLst>
              </a:tr>
              <a:tr h="204519">
                <a:tc>
                  <a:txBody>
                    <a:bodyPr/>
                    <a:lstStyle/>
                    <a:p>
                      <a:pPr algn="r" fontAlgn="b"/>
                      <a:r>
                        <a:rPr lang="en-IN" sz="900" u="none" strike="noStrike">
                          <a:effectLst/>
                        </a:rPr>
                        <a:t>18500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179463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56.2</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215000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58.25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35537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2.05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2447152060"/>
                  </a:ext>
                </a:extLst>
              </a:tr>
              <a:tr h="204519">
                <a:tc>
                  <a:txBody>
                    <a:bodyPr/>
                    <a:lstStyle/>
                    <a:p>
                      <a:pPr algn="r" fontAlgn="b"/>
                      <a:r>
                        <a:rPr lang="en-IN" sz="900" u="none" strike="noStrike">
                          <a:effectLst/>
                        </a:rPr>
                        <a:t>18550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61163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74.1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47202</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77.05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-13961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2.95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Shot covering</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564075042"/>
                  </a:ext>
                </a:extLst>
              </a:tr>
              <a:tr h="204519">
                <a:tc>
                  <a:txBody>
                    <a:bodyPr/>
                    <a:lstStyle/>
                    <a:p>
                      <a:pPr algn="r" fontAlgn="b"/>
                      <a:r>
                        <a:rPr lang="en-IN" sz="900" u="none" strike="noStrike">
                          <a:effectLst/>
                        </a:rPr>
                        <a:t>18600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90565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96.7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121418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101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30853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4.3</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3634162671"/>
                  </a:ext>
                </a:extLst>
              </a:tr>
              <a:tr h="204519">
                <a:tc>
                  <a:txBody>
                    <a:bodyPr/>
                    <a:lstStyle/>
                    <a:p>
                      <a:pPr algn="r" fontAlgn="b"/>
                      <a:r>
                        <a:rPr lang="en-IN" sz="900" u="none" strike="noStrike">
                          <a:effectLst/>
                        </a:rPr>
                        <a:t>18650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12764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124.45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12034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130.45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-730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dirty="0">
                          <a:effectLst/>
                        </a:rPr>
                        <a:t>Shot covering</a:t>
                      </a:r>
                      <a:endParaRPr lang="en-IN" sz="900" b="0" i="0" u="none" strike="noStrike" dirty="0">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788253617"/>
                  </a:ext>
                </a:extLst>
              </a:tr>
              <a:tr h="204519">
                <a:tc>
                  <a:txBody>
                    <a:bodyPr/>
                    <a:lstStyle/>
                    <a:p>
                      <a:pPr algn="r" fontAlgn="b"/>
                      <a:r>
                        <a:rPr lang="en-IN" sz="900" u="none" strike="noStrike">
                          <a:effectLst/>
                        </a:rPr>
                        <a:t>18700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18905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155.65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19735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164.6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830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8.95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4024572075"/>
                  </a:ext>
                </a:extLst>
              </a:tr>
              <a:tr h="204519">
                <a:tc>
                  <a:txBody>
                    <a:bodyPr/>
                    <a:lstStyle/>
                    <a:p>
                      <a:pPr algn="r" fontAlgn="b"/>
                      <a:r>
                        <a:rPr lang="en-IN" sz="900" u="none" strike="noStrike">
                          <a:effectLst/>
                        </a:rPr>
                        <a:t>18750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2338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190.95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2924</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203.6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586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12.65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a:effectLst/>
                        </a:rPr>
                        <a:t>Long build up</a:t>
                      </a:r>
                      <a:endParaRPr lang="en-IN" sz="900" b="0" i="0" u="none" strike="noStrike">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1564471245"/>
                  </a:ext>
                </a:extLst>
              </a:tr>
              <a:tr h="204519">
                <a:tc>
                  <a:txBody>
                    <a:bodyPr/>
                    <a:lstStyle/>
                    <a:p>
                      <a:pPr algn="r" fontAlgn="b"/>
                      <a:r>
                        <a:rPr lang="en-IN" sz="900" u="none" strike="noStrike">
                          <a:effectLst/>
                        </a:rPr>
                        <a:t>18800</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6827</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231.6</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8508</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245.05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1681</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r" fontAlgn="b"/>
                      <a:r>
                        <a:rPr lang="en-IN" sz="900" u="none" strike="noStrike">
                          <a:effectLst/>
                        </a:rPr>
                        <a:t>13.45</a:t>
                      </a:r>
                      <a:endParaRPr lang="en-IN" sz="900" b="0" i="0" u="none" strike="noStrike">
                        <a:solidFill>
                          <a:srgbClr val="000000"/>
                        </a:solidFill>
                        <a:effectLst/>
                        <a:latin typeface="Calibri" panose="020F0502020204030204" pitchFamily="34" charset="0"/>
                      </a:endParaRPr>
                    </a:p>
                  </a:txBody>
                  <a:tcPr marL="7770" marR="7770" marT="7770" marB="0" anchor="b"/>
                </a:tc>
                <a:tc>
                  <a:txBody>
                    <a:bodyPr/>
                    <a:lstStyle/>
                    <a:p>
                      <a:pPr algn="l" fontAlgn="b"/>
                      <a:r>
                        <a:rPr lang="en-IN" sz="900" u="none" strike="noStrike" dirty="0">
                          <a:effectLst/>
                        </a:rPr>
                        <a:t>Long build up</a:t>
                      </a:r>
                      <a:endParaRPr lang="en-IN" sz="900" b="0" i="0" u="none" strike="noStrike" dirty="0">
                        <a:solidFill>
                          <a:srgbClr val="000000"/>
                        </a:solidFill>
                        <a:effectLst/>
                        <a:latin typeface="Calibri" panose="020F0502020204030204" pitchFamily="34" charset="0"/>
                      </a:endParaRPr>
                    </a:p>
                  </a:txBody>
                  <a:tcPr marL="7770" marR="7770" marT="7770" marB="0" anchor="b"/>
                </a:tc>
                <a:extLst>
                  <a:ext uri="{0D108BD9-81ED-4DB2-BD59-A6C34878D82A}">
                    <a16:rowId xmlns:a16="http://schemas.microsoft.com/office/drawing/2014/main" val="4240229054"/>
                  </a:ext>
                </a:extLst>
              </a:tr>
            </a:tbl>
          </a:graphicData>
        </a:graphic>
      </p:graphicFrame>
    </p:spTree>
    <p:extLst>
      <p:ext uri="{BB962C8B-B14F-4D97-AF65-F5344CB8AC3E}">
        <p14:creationId xmlns:p14="http://schemas.microsoft.com/office/powerpoint/2010/main" val="42544632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55F02-DBDA-18E8-4595-6FF83975528C}"/>
              </a:ext>
            </a:extLst>
          </p:cNvPr>
          <p:cNvSpPr>
            <a:spLocks noGrp="1"/>
          </p:cNvSpPr>
          <p:nvPr>
            <p:ph type="title"/>
          </p:nvPr>
        </p:nvSpPr>
        <p:spPr>
          <a:xfrm>
            <a:off x="838200" y="365126"/>
            <a:ext cx="10515600" cy="687820"/>
          </a:xfrm>
        </p:spPr>
        <p:txBody>
          <a:bodyPr>
            <a:normAutofit fontScale="90000"/>
          </a:bodyPr>
          <a:lstStyle/>
          <a:p>
            <a:r>
              <a:rPr lang="en-US" dirty="0"/>
              <a:t>02-06-2023</a:t>
            </a:r>
            <a:endParaRPr lang="en-IN" dirty="0"/>
          </a:p>
        </p:txBody>
      </p:sp>
      <p:pic>
        <p:nvPicPr>
          <p:cNvPr id="4" name="Picture 3">
            <a:extLst>
              <a:ext uri="{FF2B5EF4-FFF2-40B4-BE49-F238E27FC236}">
                <a16:creationId xmlns:a16="http://schemas.microsoft.com/office/drawing/2014/main" id="{657BE8E5-E583-76E5-156A-CAFD299B016F}"/>
              </a:ext>
            </a:extLst>
          </p:cNvPr>
          <p:cNvPicPr>
            <a:picLocks noChangeAspect="1"/>
          </p:cNvPicPr>
          <p:nvPr/>
        </p:nvPicPr>
        <p:blipFill>
          <a:blip r:embed="rId3"/>
          <a:stretch>
            <a:fillRect/>
          </a:stretch>
        </p:blipFill>
        <p:spPr>
          <a:xfrm>
            <a:off x="203200" y="1052946"/>
            <a:ext cx="11850255" cy="5391892"/>
          </a:xfrm>
          <a:prstGeom prst="rect">
            <a:avLst/>
          </a:prstGeom>
        </p:spPr>
      </p:pic>
    </p:spTree>
    <p:extLst>
      <p:ext uri="{BB962C8B-B14F-4D97-AF65-F5344CB8AC3E}">
        <p14:creationId xmlns:p14="http://schemas.microsoft.com/office/powerpoint/2010/main" val="24908081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55F02-DBDA-18E8-4595-6FF83975528C}"/>
              </a:ext>
            </a:extLst>
          </p:cNvPr>
          <p:cNvSpPr>
            <a:spLocks noGrp="1"/>
          </p:cNvSpPr>
          <p:nvPr>
            <p:ph type="title"/>
          </p:nvPr>
        </p:nvSpPr>
        <p:spPr>
          <a:xfrm>
            <a:off x="838200" y="365126"/>
            <a:ext cx="10515600" cy="687820"/>
          </a:xfrm>
        </p:spPr>
        <p:txBody>
          <a:bodyPr>
            <a:normAutofit fontScale="90000"/>
          </a:bodyPr>
          <a:lstStyle/>
          <a:p>
            <a:r>
              <a:rPr lang="en-US" dirty="0"/>
              <a:t>02-06-2023</a:t>
            </a:r>
            <a:endParaRPr lang="en-IN" dirty="0"/>
          </a:p>
        </p:txBody>
      </p:sp>
      <p:pic>
        <p:nvPicPr>
          <p:cNvPr id="4" name="Picture 3">
            <a:extLst>
              <a:ext uri="{FF2B5EF4-FFF2-40B4-BE49-F238E27FC236}">
                <a16:creationId xmlns:a16="http://schemas.microsoft.com/office/drawing/2014/main" id="{DA5ED29F-9CF8-1868-FFF8-4A9B70597280}"/>
              </a:ext>
            </a:extLst>
          </p:cNvPr>
          <p:cNvPicPr>
            <a:picLocks noChangeAspect="1"/>
          </p:cNvPicPr>
          <p:nvPr/>
        </p:nvPicPr>
        <p:blipFill>
          <a:blip r:embed="rId3"/>
          <a:stretch>
            <a:fillRect/>
          </a:stretch>
        </p:blipFill>
        <p:spPr>
          <a:xfrm>
            <a:off x="0" y="949106"/>
            <a:ext cx="12192000" cy="5698697"/>
          </a:xfrm>
          <a:prstGeom prst="rect">
            <a:avLst/>
          </a:prstGeom>
        </p:spPr>
      </p:pic>
    </p:spTree>
    <p:extLst>
      <p:ext uri="{BB962C8B-B14F-4D97-AF65-F5344CB8AC3E}">
        <p14:creationId xmlns:p14="http://schemas.microsoft.com/office/powerpoint/2010/main" val="5681886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A8C34-31F1-FA65-53D7-3E44EBA3751D}"/>
              </a:ext>
            </a:extLst>
          </p:cNvPr>
          <p:cNvSpPr>
            <a:spLocks noGrp="1"/>
          </p:cNvSpPr>
          <p:nvPr>
            <p:ph type="title"/>
          </p:nvPr>
        </p:nvSpPr>
        <p:spPr/>
        <p:txBody>
          <a:bodyPr/>
          <a:lstStyle/>
          <a:p>
            <a:r>
              <a:rPr lang="en-US" dirty="0"/>
              <a:t>Conclusion</a:t>
            </a:r>
            <a:endParaRPr lang="en-IN" dirty="0"/>
          </a:p>
        </p:txBody>
      </p:sp>
      <p:sp>
        <p:nvSpPr>
          <p:cNvPr id="3" name="Content Placeholder 2">
            <a:extLst>
              <a:ext uri="{FF2B5EF4-FFF2-40B4-BE49-F238E27FC236}">
                <a16:creationId xmlns:a16="http://schemas.microsoft.com/office/drawing/2014/main" id="{30840B0B-C339-EA08-BD9A-74EC0889221B}"/>
              </a:ext>
            </a:extLst>
          </p:cNvPr>
          <p:cNvSpPr>
            <a:spLocks noGrp="1"/>
          </p:cNvSpPr>
          <p:nvPr>
            <p:ph idx="1"/>
          </p:nvPr>
        </p:nvSpPr>
        <p:spPr/>
        <p:txBody>
          <a:bodyPr/>
          <a:lstStyle/>
          <a:p>
            <a:pPr marL="0" indent="0">
              <a:buNone/>
            </a:pPr>
            <a:endParaRPr lang="en-IN" dirty="0"/>
          </a:p>
        </p:txBody>
      </p:sp>
    </p:spTree>
    <p:extLst>
      <p:ext uri="{BB962C8B-B14F-4D97-AF65-F5344CB8AC3E}">
        <p14:creationId xmlns:p14="http://schemas.microsoft.com/office/powerpoint/2010/main" val="1406646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05-06-2023</a:t>
            </a:r>
            <a:endParaRPr lang="en-IN" dirty="0"/>
          </a:p>
        </p:txBody>
      </p:sp>
    </p:spTree>
    <p:extLst>
      <p:ext uri="{BB962C8B-B14F-4D97-AF65-F5344CB8AC3E}">
        <p14:creationId xmlns:p14="http://schemas.microsoft.com/office/powerpoint/2010/main" val="23128060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05-06-2023</a:t>
            </a:r>
            <a:endParaRPr lang="en-IN" dirty="0"/>
          </a:p>
        </p:txBody>
      </p:sp>
    </p:spTree>
    <p:extLst>
      <p:ext uri="{BB962C8B-B14F-4D97-AF65-F5344CB8AC3E}">
        <p14:creationId xmlns:p14="http://schemas.microsoft.com/office/powerpoint/2010/main" val="36488774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05-06-2023</a:t>
            </a:r>
            <a:endParaRPr lang="en-IN" dirty="0"/>
          </a:p>
        </p:txBody>
      </p:sp>
    </p:spTree>
    <p:extLst>
      <p:ext uri="{BB962C8B-B14F-4D97-AF65-F5344CB8AC3E}">
        <p14:creationId xmlns:p14="http://schemas.microsoft.com/office/powerpoint/2010/main" val="779726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06-06-2023</a:t>
            </a:r>
            <a:endParaRPr lang="en-IN" dirty="0"/>
          </a:p>
        </p:txBody>
      </p:sp>
    </p:spTree>
    <p:extLst>
      <p:ext uri="{BB962C8B-B14F-4D97-AF65-F5344CB8AC3E}">
        <p14:creationId xmlns:p14="http://schemas.microsoft.com/office/powerpoint/2010/main" val="640884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06-06-2023</a:t>
            </a:r>
            <a:endParaRPr lang="en-IN" dirty="0"/>
          </a:p>
        </p:txBody>
      </p:sp>
    </p:spTree>
    <p:extLst>
      <p:ext uri="{BB962C8B-B14F-4D97-AF65-F5344CB8AC3E}">
        <p14:creationId xmlns:p14="http://schemas.microsoft.com/office/powerpoint/2010/main" val="756272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06-06-2023</a:t>
            </a:r>
            <a:endParaRPr lang="en-IN" dirty="0"/>
          </a:p>
        </p:txBody>
      </p:sp>
    </p:spTree>
    <p:extLst>
      <p:ext uri="{BB962C8B-B14F-4D97-AF65-F5344CB8AC3E}">
        <p14:creationId xmlns:p14="http://schemas.microsoft.com/office/powerpoint/2010/main" val="32782917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07-06-2023</a:t>
            </a:r>
            <a:endParaRPr lang="en-IN" dirty="0"/>
          </a:p>
        </p:txBody>
      </p:sp>
    </p:spTree>
    <p:extLst>
      <p:ext uri="{BB962C8B-B14F-4D97-AF65-F5344CB8AC3E}">
        <p14:creationId xmlns:p14="http://schemas.microsoft.com/office/powerpoint/2010/main" val="28108949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07-06-2023</a:t>
            </a:r>
            <a:endParaRPr lang="en-IN" dirty="0"/>
          </a:p>
        </p:txBody>
      </p:sp>
    </p:spTree>
    <p:extLst>
      <p:ext uri="{BB962C8B-B14F-4D97-AF65-F5344CB8AC3E}">
        <p14:creationId xmlns:p14="http://schemas.microsoft.com/office/powerpoint/2010/main" val="34429605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07-06-2023</a:t>
            </a:r>
            <a:endParaRPr lang="en-IN" dirty="0"/>
          </a:p>
        </p:txBody>
      </p:sp>
    </p:spTree>
    <p:extLst>
      <p:ext uri="{BB962C8B-B14F-4D97-AF65-F5344CB8AC3E}">
        <p14:creationId xmlns:p14="http://schemas.microsoft.com/office/powerpoint/2010/main" val="10430649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09-06-2023</a:t>
            </a:r>
            <a:endParaRPr lang="en-IN" dirty="0"/>
          </a:p>
        </p:txBody>
      </p:sp>
    </p:spTree>
    <p:extLst>
      <p:ext uri="{BB962C8B-B14F-4D97-AF65-F5344CB8AC3E}">
        <p14:creationId xmlns:p14="http://schemas.microsoft.com/office/powerpoint/2010/main" val="6089568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09-06-2023</a:t>
            </a:r>
            <a:endParaRPr lang="en-IN" dirty="0"/>
          </a:p>
        </p:txBody>
      </p:sp>
    </p:spTree>
    <p:extLst>
      <p:ext uri="{BB962C8B-B14F-4D97-AF65-F5344CB8AC3E}">
        <p14:creationId xmlns:p14="http://schemas.microsoft.com/office/powerpoint/2010/main" val="6046045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09-06-2023</a:t>
            </a:r>
            <a:endParaRPr lang="en-IN" dirty="0"/>
          </a:p>
        </p:txBody>
      </p:sp>
    </p:spTree>
    <p:extLst>
      <p:ext uri="{BB962C8B-B14F-4D97-AF65-F5344CB8AC3E}">
        <p14:creationId xmlns:p14="http://schemas.microsoft.com/office/powerpoint/2010/main" val="32743777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12-06-2023</a:t>
            </a:r>
            <a:endParaRPr lang="en-IN" dirty="0"/>
          </a:p>
        </p:txBody>
      </p:sp>
    </p:spTree>
    <p:extLst>
      <p:ext uri="{BB962C8B-B14F-4D97-AF65-F5344CB8AC3E}">
        <p14:creationId xmlns:p14="http://schemas.microsoft.com/office/powerpoint/2010/main" val="11316429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12-06-2023</a:t>
            </a:r>
            <a:endParaRPr lang="en-IN" dirty="0"/>
          </a:p>
        </p:txBody>
      </p:sp>
    </p:spTree>
    <p:extLst>
      <p:ext uri="{BB962C8B-B14F-4D97-AF65-F5344CB8AC3E}">
        <p14:creationId xmlns:p14="http://schemas.microsoft.com/office/powerpoint/2010/main" val="11970354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12-06-2023</a:t>
            </a:r>
            <a:endParaRPr lang="en-IN" dirty="0"/>
          </a:p>
        </p:txBody>
      </p:sp>
    </p:spTree>
    <p:extLst>
      <p:ext uri="{BB962C8B-B14F-4D97-AF65-F5344CB8AC3E}">
        <p14:creationId xmlns:p14="http://schemas.microsoft.com/office/powerpoint/2010/main" val="879027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13-06-2023</a:t>
            </a:r>
            <a:endParaRPr lang="en-IN" dirty="0"/>
          </a:p>
        </p:txBody>
      </p:sp>
      <p:graphicFrame>
        <p:nvGraphicFramePr>
          <p:cNvPr id="3" name="Table 2">
            <a:extLst>
              <a:ext uri="{FF2B5EF4-FFF2-40B4-BE49-F238E27FC236}">
                <a16:creationId xmlns:a16="http://schemas.microsoft.com/office/drawing/2014/main" id="{75A88801-16BF-7264-12CF-CF82C0FC0F13}"/>
              </a:ext>
            </a:extLst>
          </p:cNvPr>
          <p:cNvGraphicFramePr>
            <a:graphicFrameLocks noGrp="1"/>
          </p:cNvGraphicFramePr>
          <p:nvPr>
            <p:extLst>
              <p:ext uri="{D42A27DB-BD31-4B8C-83A1-F6EECF244321}">
                <p14:modId xmlns:p14="http://schemas.microsoft.com/office/powerpoint/2010/main" val="1515843491"/>
              </p:ext>
            </p:extLst>
          </p:nvPr>
        </p:nvGraphicFramePr>
        <p:xfrm>
          <a:off x="1348509" y="997527"/>
          <a:ext cx="9670474" cy="5634157"/>
        </p:xfrm>
        <a:graphic>
          <a:graphicData uri="http://schemas.openxmlformats.org/drawingml/2006/table">
            <a:tbl>
              <a:tblPr>
                <a:tableStyleId>{5C22544A-7EE6-4342-B048-85BDC9FD1C3A}</a:tableStyleId>
              </a:tblPr>
              <a:tblGrid>
                <a:gridCol w="996031">
                  <a:extLst>
                    <a:ext uri="{9D8B030D-6E8A-4147-A177-3AD203B41FA5}">
                      <a16:colId xmlns:a16="http://schemas.microsoft.com/office/drawing/2014/main" val="1659823773"/>
                    </a:ext>
                  </a:extLst>
                </a:gridCol>
                <a:gridCol w="996031">
                  <a:extLst>
                    <a:ext uri="{9D8B030D-6E8A-4147-A177-3AD203B41FA5}">
                      <a16:colId xmlns:a16="http://schemas.microsoft.com/office/drawing/2014/main" val="2162414619"/>
                    </a:ext>
                  </a:extLst>
                </a:gridCol>
                <a:gridCol w="1338926">
                  <a:extLst>
                    <a:ext uri="{9D8B030D-6E8A-4147-A177-3AD203B41FA5}">
                      <a16:colId xmlns:a16="http://schemas.microsoft.com/office/drawing/2014/main" val="3259140936"/>
                    </a:ext>
                  </a:extLst>
                </a:gridCol>
                <a:gridCol w="963373">
                  <a:extLst>
                    <a:ext uri="{9D8B030D-6E8A-4147-A177-3AD203B41FA5}">
                      <a16:colId xmlns:a16="http://schemas.microsoft.com/office/drawing/2014/main" val="1141573381"/>
                    </a:ext>
                  </a:extLst>
                </a:gridCol>
                <a:gridCol w="979702">
                  <a:extLst>
                    <a:ext uri="{9D8B030D-6E8A-4147-A177-3AD203B41FA5}">
                      <a16:colId xmlns:a16="http://schemas.microsoft.com/office/drawing/2014/main" val="2884126060"/>
                    </a:ext>
                  </a:extLst>
                </a:gridCol>
                <a:gridCol w="1016441">
                  <a:extLst>
                    <a:ext uri="{9D8B030D-6E8A-4147-A177-3AD203B41FA5}">
                      <a16:colId xmlns:a16="http://schemas.microsoft.com/office/drawing/2014/main" val="997148099"/>
                    </a:ext>
                  </a:extLst>
                </a:gridCol>
                <a:gridCol w="1110328">
                  <a:extLst>
                    <a:ext uri="{9D8B030D-6E8A-4147-A177-3AD203B41FA5}">
                      <a16:colId xmlns:a16="http://schemas.microsoft.com/office/drawing/2014/main" val="1158039410"/>
                    </a:ext>
                  </a:extLst>
                </a:gridCol>
                <a:gridCol w="1126657">
                  <a:extLst>
                    <a:ext uri="{9D8B030D-6E8A-4147-A177-3AD203B41FA5}">
                      <a16:colId xmlns:a16="http://schemas.microsoft.com/office/drawing/2014/main" val="2306331375"/>
                    </a:ext>
                  </a:extLst>
                </a:gridCol>
                <a:gridCol w="1142985">
                  <a:extLst>
                    <a:ext uri="{9D8B030D-6E8A-4147-A177-3AD203B41FA5}">
                      <a16:colId xmlns:a16="http://schemas.microsoft.com/office/drawing/2014/main" val="910545814"/>
                    </a:ext>
                  </a:extLst>
                </a:gridCol>
              </a:tblGrid>
              <a:tr h="181747">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09:25:45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09:25:45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03:33:49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03:33:49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266531478"/>
                  </a:ext>
                </a:extLst>
              </a:tr>
              <a:tr h="181747">
                <a:tc>
                  <a:txBody>
                    <a:bodyPr/>
                    <a:lstStyle/>
                    <a:p>
                      <a:pPr algn="ctr" fontAlgn="t"/>
                      <a:r>
                        <a:rPr lang="en-IN" sz="800" u="none" strike="noStrike">
                          <a:effectLst/>
                        </a:rPr>
                        <a:t>strikePrice</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Conclusion</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4066863489"/>
                  </a:ext>
                </a:extLst>
              </a:tr>
              <a:tr h="181747">
                <a:tc>
                  <a:txBody>
                    <a:bodyPr/>
                    <a:lstStyle/>
                    <a:p>
                      <a:pPr algn="r" fontAlgn="b"/>
                      <a:r>
                        <a:rPr lang="en-IN" sz="800" u="none" strike="noStrike">
                          <a:effectLst/>
                        </a:rPr>
                        <a:t>18400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10118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304.6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7568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330.35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49122491"/>
                  </a:ext>
                </a:extLst>
              </a:tr>
              <a:tr h="181747">
                <a:tc>
                  <a:txBody>
                    <a:bodyPr/>
                    <a:lstStyle/>
                    <a:p>
                      <a:pPr algn="r" fontAlgn="b"/>
                      <a:r>
                        <a:rPr lang="en-IN" sz="800" u="none" strike="noStrike">
                          <a:effectLst/>
                        </a:rPr>
                        <a:t>18450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7725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4525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280.95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-3200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24.95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756483072"/>
                  </a:ext>
                </a:extLst>
              </a:tr>
              <a:tr h="181747">
                <a:tc>
                  <a:txBody>
                    <a:bodyPr/>
                    <a:lstStyle/>
                    <a:p>
                      <a:pPr algn="r" fontAlgn="b"/>
                      <a:r>
                        <a:rPr lang="en-IN" sz="800" u="none" strike="noStrike">
                          <a:effectLst/>
                        </a:rPr>
                        <a:t>18500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32412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209.4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22607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233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-9805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23.6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908934676"/>
                  </a:ext>
                </a:extLst>
              </a:tr>
              <a:tr h="181747">
                <a:tc>
                  <a:txBody>
                    <a:bodyPr/>
                    <a:lstStyle/>
                    <a:p>
                      <a:pPr algn="r" fontAlgn="b"/>
                      <a:r>
                        <a:rPr lang="en-IN" sz="800" u="none" strike="noStrike">
                          <a:effectLst/>
                        </a:rPr>
                        <a:t>18550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20378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166.75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12415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186.9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-7963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20.15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574236782"/>
                  </a:ext>
                </a:extLst>
              </a:tr>
              <a:tr h="181747">
                <a:tc>
                  <a:txBody>
                    <a:bodyPr/>
                    <a:lstStyle/>
                    <a:p>
                      <a:pPr algn="r" fontAlgn="b"/>
                      <a:r>
                        <a:rPr lang="en-IN" sz="800" u="none" strike="noStrike">
                          <a:effectLst/>
                        </a:rPr>
                        <a:t>18600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164264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126.45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89311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143.3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-74953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16.85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917382945"/>
                  </a:ext>
                </a:extLst>
              </a:tr>
              <a:tr h="181747">
                <a:tc>
                  <a:txBody>
                    <a:bodyPr/>
                    <a:lstStyle/>
                    <a:p>
                      <a:pPr algn="r" fontAlgn="b"/>
                      <a:r>
                        <a:rPr lang="en-IN" sz="800" u="none" strike="noStrike">
                          <a:effectLst/>
                        </a:rPr>
                        <a:t>18650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107986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89.75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53203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104.05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-54783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259129235"/>
                  </a:ext>
                </a:extLst>
              </a:tr>
              <a:tr h="181747">
                <a:tc>
                  <a:txBody>
                    <a:bodyPr/>
                    <a:lstStyle/>
                    <a:p>
                      <a:pPr algn="r" fontAlgn="b"/>
                      <a:r>
                        <a:rPr lang="en-IN" sz="800" u="none" strike="noStrike">
                          <a:effectLst/>
                        </a:rPr>
                        <a:t>18700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292512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60.45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199258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-93254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366079075"/>
                  </a:ext>
                </a:extLst>
              </a:tr>
              <a:tr h="181747">
                <a:tc>
                  <a:txBody>
                    <a:bodyPr/>
                    <a:lstStyle/>
                    <a:p>
                      <a:pPr algn="r" fontAlgn="b"/>
                      <a:r>
                        <a:rPr lang="en-IN" sz="800" u="none" strike="noStrike">
                          <a:effectLst/>
                        </a:rPr>
                        <a:t>18750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103474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37.15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117741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14267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199016999"/>
                  </a:ext>
                </a:extLst>
              </a:tr>
              <a:tr h="181747">
                <a:tc>
                  <a:txBody>
                    <a:bodyPr/>
                    <a:lstStyle/>
                    <a:p>
                      <a:pPr algn="r" fontAlgn="b"/>
                      <a:r>
                        <a:rPr lang="en-IN" sz="800" u="none" strike="noStrike">
                          <a:effectLst/>
                        </a:rPr>
                        <a:t>18800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176675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21.1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177337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24.3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662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026463330"/>
                  </a:ext>
                </a:extLst>
              </a:tr>
              <a:tr h="181747">
                <a:tc>
                  <a:txBody>
                    <a:bodyPr/>
                    <a:lstStyle/>
                    <a:p>
                      <a:pPr algn="r" fontAlgn="b"/>
                      <a:r>
                        <a:rPr lang="en-IN" sz="800" u="none" strike="noStrike">
                          <a:effectLst/>
                        </a:rPr>
                        <a:t>18850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107167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110518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11.7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3351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0.7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744519887"/>
                  </a:ext>
                </a:extLst>
              </a:tr>
              <a:tr h="181747">
                <a:tc>
                  <a:txBody>
                    <a:bodyPr/>
                    <a:lstStyle/>
                    <a:p>
                      <a:pPr algn="r" fontAlgn="b"/>
                      <a:r>
                        <a:rPr lang="en-IN" sz="800" u="none" strike="noStrike">
                          <a:effectLst/>
                        </a:rPr>
                        <a:t>18900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153271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204975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51704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664866410"/>
                  </a:ext>
                </a:extLst>
              </a:tr>
              <a:tr h="181747">
                <a:tc>
                  <a:txBody>
                    <a:bodyPr/>
                    <a:lstStyle/>
                    <a:p>
                      <a:pPr algn="r" fontAlgn="b"/>
                      <a:r>
                        <a:rPr lang="en-IN" sz="800" u="none" strike="noStrike">
                          <a:effectLst/>
                        </a:rPr>
                        <a:t>18950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73017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87285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14268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-0.95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211886100"/>
                  </a:ext>
                </a:extLst>
              </a:tr>
              <a:tr h="181747">
                <a:tc>
                  <a:txBody>
                    <a:bodyPr/>
                    <a:lstStyle/>
                    <a:p>
                      <a:pPr algn="r" fontAlgn="b"/>
                      <a:r>
                        <a:rPr lang="en-IN" sz="800" u="none" strike="noStrike">
                          <a:effectLst/>
                        </a:rPr>
                        <a:t>19000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123581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157784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34203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-0.7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build up</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264332934"/>
                  </a:ext>
                </a:extLst>
              </a:tr>
              <a:tr h="181747">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Bullish</a:t>
                      </a:r>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840722781"/>
                  </a:ext>
                </a:extLst>
              </a:tr>
              <a:tr h="181747">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09:25:45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09:25:45 AM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03:33:49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03:33:49 PM</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11784993"/>
                  </a:ext>
                </a:extLst>
              </a:tr>
              <a:tr h="181747">
                <a:tc>
                  <a:txBody>
                    <a:bodyPr/>
                    <a:lstStyle/>
                    <a:p>
                      <a:pPr algn="ctr" fontAlgn="t"/>
                      <a:r>
                        <a:rPr lang="en-IN" sz="800" u="none" strike="noStrike">
                          <a:effectLst/>
                        </a:rPr>
                        <a:t>strikePrice</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PE_LTP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OI</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change in LTP</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ctr" fontAlgn="t"/>
                      <a:r>
                        <a:rPr lang="en-IN" sz="800" u="none" strike="noStrike">
                          <a:effectLst/>
                        </a:rPr>
                        <a:t>Conclusion</a:t>
                      </a:r>
                      <a:endParaRPr lang="en-IN" sz="800" b="1" i="0" u="none" strike="noStrike">
                        <a:solidFill>
                          <a:srgbClr val="000000"/>
                        </a:solidFill>
                        <a:effectLst/>
                        <a:latin typeface="Calibri" panose="020F0502020204030204" pitchFamily="34" charset="0"/>
                      </a:endParaRPr>
                    </a:p>
                  </a:txBody>
                  <a:tcPr marL="7018" marR="7018" marT="7018" marB="0"/>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827726420"/>
                  </a:ext>
                </a:extLst>
              </a:tr>
              <a:tr h="181747">
                <a:tc>
                  <a:txBody>
                    <a:bodyPr/>
                    <a:lstStyle/>
                    <a:p>
                      <a:pPr algn="r" fontAlgn="b"/>
                      <a:r>
                        <a:rPr lang="en-IN" sz="800" u="none" strike="noStrike">
                          <a:effectLst/>
                        </a:rPr>
                        <a:t>18400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102208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85061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3.75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-17147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463863308"/>
                  </a:ext>
                </a:extLst>
              </a:tr>
              <a:tr h="181747">
                <a:tc>
                  <a:txBody>
                    <a:bodyPr/>
                    <a:lstStyle/>
                    <a:p>
                      <a:pPr algn="r" fontAlgn="b"/>
                      <a:r>
                        <a:rPr lang="en-IN" sz="800" u="none" strike="noStrike">
                          <a:effectLst/>
                        </a:rPr>
                        <a:t>18450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52736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82876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30140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089584734"/>
                  </a:ext>
                </a:extLst>
              </a:tr>
              <a:tr h="181747">
                <a:tc>
                  <a:txBody>
                    <a:bodyPr/>
                    <a:lstStyle/>
                    <a:p>
                      <a:pPr algn="r" fontAlgn="b"/>
                      <a:r>
                        <a:rPr lang="en-IN" sz="800" u="none" strike="noStrike">
                          <a:effectLst/>
                        </a:rPr>
                        <a:t>18500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133458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173246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39788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727499596"/>
                  </a:ext>
                </a:extLst>
              </a:tr>
              <a:tr h="181747">
                <a:tc>
                  <a:txBody>
                    <a:bodyPr/>
                    <a:lstStyle/>
                    <a:p>
                      <a:pPr algn="r" fontAlgn="b"/>
                      <a:r>
                        <a:rPr lang="en-IN" sz="800" u="none" strike="noStrike">
                          <a:effectLst/>
                        </a:rPr>
                        <a:t>18550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81949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96084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14135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-7.95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Shot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32642893"/>
                  </a:ext>
                </a:extLst>
              </a:tr>
              <a:tr h="181747">
                <a:tc>
                  <a:txBody>
                    <a:bodyPr/>
                    <a:lstStyle/>
                    <a:p>
                      <a:pPr algn="r" fontAlgn="b"/>
                      <a:r>
                        <a:rPr lang="en-IN" sz="800" u="none" strike="noStrike">
                          <a:effectLst/>
                        </a:rPr>
                        <a:t>18600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229981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217536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-12445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-10.3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a:effectLst/>
                        </a:rPr>
                        <a:t>Long covering</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1536869118"/>
                  </a:ext>
                </a:extLst>
              </a:tr>
              <a:tr h="181747">
                <a:tc>
                  <a:txBody>
                    <a:bodyPr/>
                    <a:lstStyle/>
                    <a:p>
                      <a:pPr algn="r" fontAlgn="b"/>
                      <a:r>
                        <a:rPr lang="en-IN" sz="800" u="none" strike="noStrike">
                          <a:effectLst/>
                        </a:rPr>
                        <a:t>18650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81670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42.4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127891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46221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-13.7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798818419"/>
                  </a:ext>
                </a:extLst>
              </a:tr>
              <a:tr h="181747">
                <a:tc>
                  <a:txBody>
                    <a:bodyPr/>
                    <a:lstStyle/>
                    <a:p>
                      <a:pPr algn="r" fontAlgn="b"/>
                      <a:r>
                        <a:rPr lang="en-IN" sz="800" u="none" strike="noStrike">
                          <a:effectLst/>
                        </a:rPr>
                        <a:t>18700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164293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62.9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220252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44.6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55959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263291663"/>
                  </a:ext>
                </a:extLst>
              </a:tr>
              <a:tr h="181747">
                <a:tc>
                  <a:txBody>
                    <a:bodyPr/>
                    <a:lstStyle/>
                    <a:p>
                      <a:pPr algn="r" fontAlgn="b"/>
                      <a:r>
                        <a:rPr lang="en-IN" sz="800" u="none" strike="noStrike">
                          <a:effectLst/>
                        </a:rPr>
                        <a:t>18750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22729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89.15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40812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67.6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18083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-21.55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804152922"/>
                  </a:ext>
                </a:extLst>
              </a:tr>
              <a:tr h="181747">
                <a:tc>
                  <a:txBody>
                    <a:bodyPr/>
                    <a:lstStyle/>
                    <a:p>
                      <a:pPr algn="r" fontAlgn="b"/>
                      <a:r>
                        <a:rPr lang="en-IN" sz="800" u="none" strike="noStrike">
                          <a:effectLst/>
                        </a:rPr>
                        <a:t>18800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32479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123.6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49564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17085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506681809"/>
                  </a:ext>
                </a:extLst>
              </a:tr>
              <a:tr h="181747">
                <a:tc>
                  <a:txBody>
                    <a:bodyPr/>
                    <a:lstStyle/>
                    <a:p>
                      <a:pPr algn="r" fontAlgn="b"/>
                      <a:r>
                        <a:rPr lang="en-IN" sz="800" u="none" strike="noStrike">
                          <a:effectLst/>
                        </a:rPr>
                        <a:t>18850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3068</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164.2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6565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136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3497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3525425522"/>
                  </a:ext>
                </a:extLst>
              </a:tr>
              <a:tr h="181747">
                <a:tc>
                  <a:txBody>
                    <a:bodyPr/>
                    <a:lstStyle/>
                    <a:p>
                      <a:pPr algn="r" fontAlgn="b"/>
                      <a:r>
                        <a:rPr lang="en-IN" sz="800" u="none" strike="noStrike">
                          <a:effectLst/>
                        </a:rPr>
                        <a:t>18900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7047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208.55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13102</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179.85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6055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524455231"/>
                  </a:ext>
                </a:extLst>
              </a:tr>
              <a:tr h="181747">
                <a:tc>
                  <a:txBody>
                    <a:bodyPr/>
                    <a:lstStyle/>
                    <a:p>
                      <a:pPr algn="r" fontAlgn="b"/>
                      <a:r>
                        <a:rPr lang="en-IN" sz="800" u="none" strike="noStrike">
                          <a:effectLst/>
                        </a:rPr>
                        <a:t>18950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969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255.4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1765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226.5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796</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-28.9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444550158"/>
                  </a:ext>
                </a:extLst>
              </a:tr>
              <a:tr h="181747">
                <a:tc>
                  <a:txBody>
                    <a:bodyPr/>
                    <a:lstStyle/>
                    <a:p>
                      <a:pPr algn="r" fontAlgn="b"/>
                      <a:r>
                        <a:rPr lang="en-IN" sz="800" u="none" strike="noStrike">
                          <a:effectLst/>
                        </a:rPr>
                        <a:t>19000</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3133</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305</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3997</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275.9</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864</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r" fontAlgn="b"/>
                      <a:r>
                        <a:rPr lang="en-IN" sz="800" u="none" strike="noStrike">
                          <a:effectLst/>
                        </a:rPr>
                        <a:t>-29.1</a:t>
                      </a:r>
                      <a:endParaRPr lang="en-IN" sz="800" b="0" i="0" u="none" strike="noStrike">
                        <a:solidFill>
                          <a:srgbClr val="000000"/>
                        </a:solidFill>
                        <a:effectLst/>
                        <a:latin typeface="Calibri" panose="020F0502020204030204" pitchFamily="34" charset="0"/>
                      </a:endParaRPr>
                    </a:p>
                  </a:txBody>
                  <a:tcPr marL="7018" marR="7018" marT="7018" marB="0" anchor="b"/>
                </a:tc>
                <a:tc>
                  <a:txBody>
                    <a:bodyPr/>
                    <a:lstStyle/>
                    <a:p>
                      <a:pPr algn="l" fontAlgn="b"/>
                      <a:r>
                        <a:rPr lang="en-IN" sz="800" u="none" strike="noStrike" dirty="0">
                          <a:effectLst/>
                        </a:rPr>
                        <a:t>Shot build up</a:t>
                      </a:r>
                      <a:endParaRPr lang="en-IN" sz="800" b="0" i="0" u="none" strike="noStrike" dirty="0">
                        <a:solidFill>
                          <a:srgbClr val="000000"/>
                        </a:solidFill>
                        <a:effectLst/>
                        <a:latin typeface="Calibri" panose="020F0502020204030204" pitchFamily="34" charset="0"/>
                      </a:endParaRPr>
                    </a:p>
                  </a:txBody>
                  <a:tcPr marL="7018" marR="7018" marT="7018" marB="0" anchor="b"/>
                </a:tc>
                <a:tc>
                  <a:txBody>
                    <a:bodyPr/>
                    <a:lstStyle/>
                    <a:p>
                      <a:pPr algn="l" fontAlgn="b"/>
                      <a:endParaRPr lang="en-IN" sz="800" b="0" i="0" u="none" strike="noStrike" dirty="0">
                        <a:solidFill>
                          <a:srgbClr val="000000"/>
                        </a:solidFill>
                        <a:effectLst/>
                        <a:latin typeface="Calibri" panose="020F0502020204030204" pitchFamily="34" charset="0"/>
                      </a:endParaRPr>
                    </a:p>
                  </a:txBody>
                  <a:tcPr marL="7018" marR="7018" marT="7018" marB="0" anchor="b"/>
                </a:tc>
                <a:extLst>
                  <a:ext uri="{0D108BD9-81ED-4DB2-BD59-A6C34878D82A}">
                    <a16:rowId xmlns:a16="http://schemas.microsoft.com/office/drawing/2014/main" val="2785839108"/>
                  </a:ext>
                </a:extLst>
              </a:tr>
            </a:tbl>
          </a:graphicData>
        </a:graphic>
      </p:graphicFrame>
    </p:spTree>
    <p:extLst>
      <p:ext uri="{BB962C8B-B14F-4D97-AF65-F5344CB8AC3E}">
        <p14:creationId xmlns:p14="http://schemas.microsoft.com/office/powerpoint/2010/main" val="14818760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13-06-2023</a:t>
            </a:r>
            <a:endParaRPr lang="en-IN" dirty="0"/>
          </a:p>
        </p:txBody>
      </p:sp>
      <p:pic>
        <p:nvPicPr>
          <p:cNvPr id="4" name="Picture 3">
            <a:extLst>
              <a:ext uri="{FF2B5EF4-FFF2-40B4-BE49-F238E27FC236}">
                <a16:creationId xmlns:a16="http://schemas.microsoft.com/office/drawing/2014/main" id="{41144833-BB4A-EFB8-D955-3328D5437FD4}"/>
              </a:ext>
            </a:extLst>
          </p:cNvPr>
          <p:cNvPicPr>
            <a:picLocks noChangeAspect="1"/>
          </p:cNvPicPr>
          <p:nvPr/>
        </p:nvPicPr>
        <p:blipFill>
          <a:blip r:embed="rId3"/>
          <a:stretch>
            <a:fillRect/>
          </a:stretch>
        </p:blipFill>
        <p:spPr>
          <a:xfrm>
            <a:off x="152400" y="1025158"/>
            <a:ext cx="11887200" cy="5158666"/>
          </a:xfrm>
          <a:prstGeom prst="rect">
            <a:avLst/>
          </a:prstGeom>
        </p:spPr>
      </p:pic>
    </p:spTree>
    <p:extLst>
      <p:ext uri="{BB962C8B-B14F-4D97-AF65-F5344CB8AC3E}">
        <p14:creationId xmlns:p14="http://schemas.microsoft.com/office/powerpoint/2010/main" val="4874033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C389-034D-CD69-4DE6-A346B91250E4}"/>
              </a:ext>
            </a:extLst>
          </p:cNvPr>
          <p:cNvSpPr>
            <a:spLocks noGrp="1"/>
          </p:cNvSpPr>
          <p:nvPr>
            <p:ph type="title"/>
          </p:nvPr>
        </p:nvSpPr>
        <p:spPr>
          <a:xfrm>
            <a:off x="838200" y="365125"/>
            <a:ext cx="10515600" cy="743239"/>
          </a:xfrm>
        </p:spPr>
        <p:txBody>
          <a:bodyPr/>
          <a:lstStyle/>
          <a:p>
            <a:r>
              <a:rPr lang="en-US" dirty="0"/>
              <a:t>13-06-2023</a:t>
            </a:r>
            <a:endParaRPr lang="en-IN" dirty="0"/>
          </a:p>
        </p:txBody>
      </p:sp>
      <p:pic>
        <p:nvPicPr>
          <p:cNvPr id="4" name="Picture 3">
            <a:extLst>
              <a:ext uri="{FF2B5EF4-FFF2-40B4-BE49-F238E27FC236}">
                <a16:creationId xmlns:a16="http://schemas.microsoft.com/office/drawing/2014/main" id="{EB707B9E-292F-2E67-1CB8-58D0ACBE4751}"/>
              </a:ext>
            </a:extLst>
          </p:cNvPr>
          <p:cNvPicPr>
            <a:picLocks noChangeAspect="1"/>
          </p:cNvPicPr>
          <p:nvPr/>
        </p:nvPicPr>
        <p:blipFill>
          <a:blip r:embed="rId3"/>
          <a:stretch>
            <a:fillRect/>
          </a:stretch>
        </p:blipFill>
        <p:spPr>
          <a:xfrm>
            <a:off x="378690" y="976610"/>
            <a:ext cx="11674764" cy="5325444"/>
          </a:xfrm>
          <a:prstGeom prst="rect">
            <a:avLst/>
          </a:prstGeom>
        </p:spPr>
      </p:pic>
    </p:spTree>
    <p:extLst>
      <p:ext uri="{BB962C8B-B14F-4D97-AF65-F5344CB8AC3E}">
        <p14:creationId xmlns:p14="http://schemas.microsoft.com/office/powerpoint/2010/main" val="5757817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A8C34-31F1-FA65-53D7-3E44EBA3751D}"/>
              </a:ext>
            </a:extLst>
          </p:cNvPr>
          <p:cNvSpPr>
            <a:spLocks noGrp="1"/>
          </p:cNvSpPr>
          <p:nvPr>
            <p:ph type="title"/>
          </p:nvPr>
        </p:nvSpPr>
        <p:spPr/>
        <p:txBody>
          <a:bodyPr/>
          <a:lstStyle/>
          <a:p>
            <a:r>
              <a:rPr lang="en-US" dirty="0"/>
              <a:t>Conclusion</a:t>
            </a:r>
            <a:endParaRPr lang="en-IN" dirty="0"/>
          </a:p>
        </p:txBody>
      </p:sp>
      <p:sp>
        <p:nvSpPr>
          <p:cNvPr id="3" name="Content Placeholder 2">
            <a:extLst>
              <a:ext uri="{FF2B5EF4-FFF2-40B4-BE49-F238E27FC236}">
                <a16:creationId xmlns:a16="http://schemas.microsoft.com/office/drawing/2014/main" id="{30840B0B-C339-EA08-BD9A-74EC0889221B}"/>
              </a:ext>
            </a:extLst>
          </p:cNvPr>
          <p:cNvSpPr>
            <a:spLocks noGrp="1"/>
          </p:cNvSpPr>
          <p:nvPr>
            <p:ph idx="1"/>
          </p:nvPr>
        </p:nvSpPr>
        <p:spPr/>
        <p:txBody>
          <a:bodyPr/>
          <a:lstStyle/>
          <a:p>
            <a:pPr marL="0" indent="0">
              <a:buNone/>
            </a:pPr>
            <a:r>
              <a:rPr lang="en-US" dirty="0"/>
              <a:t>Market will open gap up next day</a:t>
            </a:r>
            <a:endParaRPr lang="en-IN" dirty="0"/>
          </a:p>
        </p:txBody>
      </p:sp>
    </p:spTree>
    <p:extLst>
      <p:ext uri="{BB962C8B-B14F-4D97-AF65-F5344CB8AC3E}">
        <p14:creationId xmlns:p14="http://schemas.microsoft.com/office/powerpoint/2010/main" val="30308818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1324</TotalTime>
  <Words>1358</Words>
  <Application>Microsoft Office PowerPoint</Application>
  <PresentationFormat>Widescreen</PresentationFormat>
  <Paragraphs>894</Paragraphs>
  <Slides>40</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Calibri Light</vt:lpstr>
      <vt:lpstr>Office Theme</vt:lpstr>
      <vt:lpstr>PowerPoint Presentation</vt:lpstr>
      <vt:lpstr>23-05-2023</vt:lpstr>
      <vt:lpstr>23-05-2023</vt:lpstr>
      <vt:lpstr>23-05-2023</vt:lpstr>
      <vt:lpstr>Conclusion</vt:lpstr>
      <vt:lpstr>PowerPoint Presentation</vt:lpstr>
      <vt:lpstr>24-05-2023</vt:lpstr>
      <vt:lpstr>24-05-2023</vt:lpstr>
      <vt:lpstr>29-05-2023</vt:lpstr>
      <vt:lpstr>29-05-2023</vt:lpstr>
      <vt:lpstr>29-05-2023</vt:lpstr>
      <vt:lpstr>30-05-2023</vt:lpstr>
      <vt:lpstr>30-05-2023</vt:lpstr>
      <vt:lpstr>30-05-2023</vt:lpstr>
      <vt:lpstr>31-05-2023</vt:lpstr>
      <vt:lpstr>31-05-2023</vt:lpstr>
      <vt:lpstr>31-05-2023</vt:lpstr>
      <vt:lpstr>02-06-2023</vt:lpstr>
      <vt:lpstr>02-06-2023</vt:lpstr>
      <vt:lpstr>02-06-2023</vt:lpstr>
      <vt:lpstr>Conclusion</vt:lpstr>
      <vt:lpstr>05-06-2023</vt:lpstr>
      <vt:lpstr>05-06-2023</vt:lpstr>
      <vt:lpstr>05-06-2023</vt:lpstr>
      <vt:lpstr>06-06-2023</vt:lpstr>
      <vt:lpstr>06-06-2023</vt:lpstr>
      <vt:lpstr>06-06-2023</vt:lpstr>
      <vt:lpstr>07-06-2023</vt:lpstr>
      <vt:lpstr>07-06-2023</vt:lpstr>
      <vt:lpstr>07-06-2023</vt:lpstr>
      <vt:lpstr>09-06-2023</vt:lpstr>
      <vt:lpstr>09-06-2023</vt:lpstr>
      <vt:lpstr>09-06-2023</vt:lpstr>
      <vt:lpstr>12-06-2023</vt:lpstr>
      <vt:lpstr>12-06-2023</vt:lpstr>
      <vt:lpstr>12-06-2023</vt:lpstr>
      <vt:lpstr>13-06-2023</vt:lpstr>
      <vt:lpstr>13-06-2023</vt:lpstr>
      <vt:lpstr>13-06-2023</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Ashutosh Dubey</dc:creator>
  <cp:lastModifiedBy>Ashutosh Dubey</cp:lastModifiedBy>
  <cp:revision>10</cp:revision>
  <dcterms:created xsi:type="dcterms:W3CDTF">2023-06-13T16:58:46Z</dcterms:created>
  <dcterms:modified xsi:type="dcterms:W3CDTF">2023-06-14T15:03:02Z</dcterms:modified>
</cp:coreProperties>
</file>