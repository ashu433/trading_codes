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Daily market Report of different participants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12-05-2023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FII Daily market Report</a:t>
            </a:r>
          </a:p>
          <a:p>
            <a:r>
              <a:t>Participants wise daily market report in Futures</a:t>
            </a:r>
          </a:p>
          <a:p>
            <a:r>
              <a:t>Participants wise daily market report in Options</a:t>
            </a:r>
          </a:p>
          <a:p>
            <a:r>
              <a:t>Over all market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Fii Stats Report in Futures and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FII F&amp;O stats in the index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52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BUY_No. of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SELL_No. of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 INTEREST AT THE END OF THE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Total_Contracts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INDEX FUTURES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186061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53156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FINNIFTY FUTURES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BANKNIFTY FUTURES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19637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MIDCPNIFTY FUTURES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NIFTY FUTURES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144317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33463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INDEX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9091551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9104440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2785689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18195991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NIFTY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2922162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2964196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1445403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5886358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FINNIFTY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753295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774961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380072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1528256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MIDCPNIFTY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BANKNIFTY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5416094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5365283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960214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10781377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Fii Index share in F&amp;O and Macro and Micro view</a:t>
            </a:r>
          </a:p>
        </p:txBody>
      </p:sp>
      <p:pic>
        <p:nvPicPr>
          <p:cNvPr id="3" name="Picture 2" descr="Micro and Macro sentiment of the F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632960" cy="3474720"/>
          </a:xfrm>
          <a:prstGeom prst="rect">
            <a:avLst/>
          </a:prstGeom>
        </p:spPr>
      </p:pic>
      <p:pic>
        <p:nvPicPr>
          <p:cNvPr id="4" name="Picture 3" descr="FII Index share in each instr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Participants report in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 wise Open Interest in Equity Derivatives as on 12-05-2023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Future Index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Future Index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Total_Future_OI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percentage_long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percentage_short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total_long_absolute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Long_vs_Short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193452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394827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7923.0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6522.0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186061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-14439.0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 OI of the different participants in Futures</a:t>
            </a:r>
          </a:p>
        </p:txBody>
      </p:sp>
      <p:pic>
        <p:nvPicPr>
          <p:cNvPr id="3" name="Picture 2" descr="Total_Open_Interest_of_the_different_participants_Fu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6339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Long pogitions of different clients in Futures</a:t>
            </a:r>
          </a:p>
        </p:txBody>
      </p:sp>
      <p:pic>
        <p:nvPicPr>
          <p:cNvPr id="3" name="Picture 2" descr="Total_Long_Pogition_in_Fu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632960" cy="3474720"/>
          </a:xfrm>
          <a:prstGeom prst="rect">
            <a:avLst/>
          </a:prstGeom>
        </p:spPr>
      </p:pic>
      <p:pic>
        <p:nvPicPr>
          <p:cNvPr id="4" name="Picture 3" descr="Total_Long_Pogition_of_big_clients_Fu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Shot pogitions of different clients in Futures</a:t>
            </a:r>
          </a:p>
        </p:txBody>
      </p:sp>
      <p:pic>
        <p:nvPicPr>
          <p:cNvPr id="3" name="Picture 2" descr="Total_Short_Pogition_in_Fu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632960" cy="3474720"/>
          </a:xfrm>
          <a:prstGeom prst="rect">
            <a:avLst/>
          </a:prstGeom>
        </p:spPr>
      </p:pic>
      <p:pic>
        <p:nvPicPr>
          <p:cNvPr id="4" name="Picture 3" descr="Total_Shot_Pogition_of_big_clients_Fu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Participants report in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 wise Open Interest in Equity Derivatives as on 12-05-2023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27432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 Index Call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 Index Call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 Index Put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Option Index Put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Total_Option_OI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total_long_Option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total_short_Option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percentage_long_option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percentage_short_option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net_long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Long_vs_Short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2818941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3119035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3616417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3754875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13309268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6573816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6735452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-161636.0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73084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73485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73084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-72683.0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766830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480564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897414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640882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2785690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1407712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1377978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29734.0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1005397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1209691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1400850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4607908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2406247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2201661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204586.0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 OI of the different participants in Options</a:t>
            </a:r>
          </a:p>
        </p:txBody>
      </p:sp>
      <p:pic>
        <p:nvPicPr>
          <p:cNvPr id="3" name="Picture 2" descr="Total_Open_Interest_of_the_different_participants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6339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Long pogitions of different clients in Options</a:t>
            </a:r>
          </a:p>
        </p:txBody>
      </p:sp>
      <p:pic>
        <p:nvPicPr>
          <p:cNvPr id="3" name="Picture 2" descr="Total_Long_pogition_of_different_participants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632960" cy="3474720"/>
          </a:xfrm>
          <a:prstGeom prst="rect">
            <a:avLst/>
          </a:prstGeom>
        </p:spPr>
      </p:pic>
      <p:pic>
        <p:nvPicPr>
          <p:cNvPr id="4" name="Picture 3" descr="Total_Long_Pogition_of_big_clients_O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Shot pogitions of different clients in Options</a:t>
            </a:r>
          </a:p>
        </p:txBody>
      </p:sp>
      <p:pic>
        <p:nvPicPr>
          <p:cNvPr id="3" name="Picture 2" descr="Total_Short_Pogition_in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632960" cy="3474720"/>
          </a:xfrm>
          <a:prstGeom prst="rect">
            <a:avLst/>
          </a:prstGeom>
        </p:spPr>
      </p:pic>
      <p:pic>
        <p:nvPicPr>
          <p:cNvPr id="4" name="Picture 3" descr="Total_Shot_Pogition_of_big_clients_O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 all % Long and the Short pogition of the different client in F&amp;O</a:t>
            </a:r>
          </a:p>
        </p:txBody>
      </p:sp>
      <p:pic>
        <p:nvPicPr>
          <p:cNvPr id="3" name="Picture 2" descr="%_long_and_short_of_the_each_Participants_OI_in_Fu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572000" cy="4572000"/>
          </a:xfrm>
          <a:prstGeom prst="rect">
            <a:avLst/>
          </a:prstGeom>
        </p:spPr>
      </p:pic>
      <p:pic>
        <p:nvPicPr>
          <p:cNvPr id="4" name="Picture 3" descr="%_long_and_short_of_the_each_Participants_OI_in_O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OI change in the futures for Nifty 50</a:t>
            </a:r>
          </a:p>
        </p:txBody>
      </p:sp>
      <p:pic>
        <p:nvPicPr>
          <p:cNvPr id="3" name="Picture 2" descr="Over_all_Change_in_Futures_OI_and_Nifty_50_Closing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6634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in OI for the different participants and Net OI Build up in Futures</a:t>
            </a:r>
          </a:p>
        </p:txBody>
      </p:sp>
      <p:pic>
        <p:nvPicPr>
          <p:cNvPr id="3" name="Picture 2" descr="Change_in_Futures_OI_and_Nifty_50_Closing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572000" cy="4572000"/>
          </a:xfrm>
          <a:prstGeom prst="rect">
            <a:avLst/>
          </a:prstGeom>
        </p:spPr>
      </p:pic>
      <p:pic>
        <p:nvPicPr>
          <p:cNvPr id="4" name="Picture 3" descr="Net_OI_build_up_of_the_different_participants_in_Fu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OI change in the Options for Nifty 50</a:t>
            </a:r>
          </a:p>
        </p:txBody>
      </p:sp>
      <p:pic>
        <p:nvPicPr>
          <p:cNvPr id="3" name="Picture 2" descr="Over_all_Change_in_Options_OI_and_Nifty_50_Closing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6634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in OI for the different participants and Net OI Build up in Options</a:t>
            </a:r>
          </a:p>
        </p:txBody>
      </p:sp>
      <p:pic>
        <p:nvPicPr>
          <p:cNvPr id="3" name="Picture 2" descr="Change_in_Options_OI_and_Nifty_50_Closing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572000" cy="4572000"/>
          </a:xfrm>
          <a:prstGeom prst="rect">
            <a:avLst/>
          </a:prstGeom>
        </p:spPr>
      </p:pic>
      <p:pic>
        <p:nvPicPr>
          <p:cNvPr id="4" name="Picture 3" descr="Change_in_Options_OI_and_Nifty_50_Closing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